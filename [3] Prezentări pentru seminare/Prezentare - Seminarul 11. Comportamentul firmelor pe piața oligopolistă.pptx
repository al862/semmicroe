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45 de secunde.</a:t>
            </a:r>
          </a:p>
          <a:p>
            <a:r>
              <a:rPr sz="1400" b="0" lang="ro-RO">
                <a:solidFill>
                  <a:srgbClr val="24313D"/>
                </a:solidFill>
                <a:latin typeface="Arial"/>
              </a:rPr>
              <a:t>Când pe piață sunt puține firme fiecare urmărește și alegerea rivalei. Comparăm deciziile simultane cu alegerea unui lider. Verificăm ce rezultat este stabil față de o schimbare unilaterală.</a:t>
            </a:r>
          </a:p>
          <a:p>
            <a:r>
              <a:rPr sz="1400" b="0" lang="ro-RO">
                <a:solidFill>
                  <a:srgbClr val="24313D"/>
                </a:solidFill>
                <a:latin typeface="Arial"/>
              </a:rPr>
              <a:t>Întrebarea care ne conduce este aceasta: Cum alegi când rezultatul depinde și de rival?</a:t>
            </a:r>
          </a:p>
          <a:p>
            <a:r>
              <a:rPr sz="1400" b="0" lang="ro-RO">
                <a:solidFill>
                  <a:srgbClr val="24313D"/>
                </a:solidFill>
                <a:latin typeface="Arial"/>
              </a:rPr>
              <a:t>Nu urmărim să refacem întreaga lecție. Alegem mecanismul central al temei și îl folosim într-un singur exemplu. La final trecem la problemele seminarului. Invităm studenții să observe cine alege și ce restricție întâlnește.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Două firme împart aceeași piață.</a:t>
            </a:r>
          </a:p>
          <a:p>
            <a:r>
              <a:rPr sz="1400" b="0" lang="ro-RO">
                <a:solidFill>
                  <a:srgbClr val="24313D"/>
                </a:solidFill>
                <a:latin typeface="Arial"/>
              </a:rPr>
              <a:t>Două firme oferă un serviciu. Dacă una își dublează oferta cealaltă poate pierde clienți sau poate reacționa prin preț. Rezultatul propriu depinde de răspunsul posibil al rivalei. Aceasta este interdependența strategică.</a:t>
            </a:r>
          </a:p>
          <a:p>
            <a:r>
              <a:rPr sz="1400" b="0" lang="ro-RO">
                <a:solidFill>
                  <a:srgbClr val="24313D"/>
                </a:solidFill>
                <a:latin typeface="Arial"/>
              </a:rPr>
              <a:t>Oligopolul are puțini ofertanți relevanți și bariere la intrare. Bunurile pot fi omogene sau diferențiate. Economiile de scară pot permite numai câtorva firme să opereze eficient. Informația incompletă poate adăuga incertitudine fără a fi obligatorie în fiecare model.</a:t>
            </a:r>
          </a:p>
          <a:p>
            <a:r>
              <a:rPr sz="1400" b="0" lang="ro-RO">
                <a:solidFill>
                  <a:srgbClr val="24313D"/>
                </a:solidFill>
                <a:latin typeface="Arial"/>
              </a:rPr>
              <a:t>Pe schemă urmărim următoarea legătură: Firma 1. Alege propria cantitate. Firma 2. Alege propria cantitate. Piață. Prețul depinde de total.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Stabilitatea cere două verificări.</a:t>
            </a:r>
          </a:p>
          <a:p>
            <a:r>
              <a:rPr sz="1400" b="0" lang="ro-RO">
                <a:solidFill>
                  <a:srgbClr val="24313D"/>
                </a:solidFill>
                <a:latin typeface="Arial"/>
              </a:rPr>
              <a:t>Funcția de reacție asociază fiecărei alegeri presupuse a rivalului cea mai bună alegere proprie. Într-un model simultan „reacție” nu înseamnă că firma așteaptă cronologic. Este o comparație de strategii.</a:t>
            </a:r>
          </a:p>
          <a:p>
            <a:r>
              <a:rPr sz="1400" b="0" lang="ro-RO">
                <a:solidFill>
                  <a:srgbClr val="24313D"/>
                </a:solidFill>
                <a:latin typeface="Arial"/>
              </a:rPr>
              <a:t>La echilibrul Nash nicio firmă nu câștigă prin schimbare unilaterală dacă celelalte păstrează alegerile. Profitul comun nu trebuie să fie maxim. Un acord semnat nu este necesar.</a:t>
            </a:r>
          </a:p>
          <a:p>
            <a:r>
              <a:rPr sz="1400" b="0" lang="ro-RO">
                <a:solidFill>
                  <a:srgbClr val="24313D"/>
                </a:solidFill>
                <a:latin typeface="Arial"/>
              </a:rPr>
              <a:t>Pe schemă urmărim următoarea legătură: Strategie. Ce alege fiecare firmă. Reacție optimă. Ce este mai bine la alegerea rivalei. Nash. Nimeni nu câștigă prin abatere unilaterală.</a:t>
            </a:r>
          </a:p>
          <a:p>
            <a:r>
              <a:rPr sz="1400" b="0" lang="ro-RO">
                <a:solidFill>
                  <a:srgbClr val="24313D"/>
                </a:solidFill>
                <a:latin typeface="Arial"/>
              </a:rPr>
              <a:t>Facem o pauză scurtă și cerem reformularea ideii în cuvinte proprii. Dacă răspunsul amestecă două noțiuni revenim la diferența dintre ele înaintea formulei.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Cournot înseamnă cantități alese simultan.</a:t>
            </a:r>
          </a:p>
          <a:p>
            <a:r>
              <a:rPr sz="1400" b="0" lang="ro-RO">
                <a:solidFill>
                  <a:srgbClr val="24313D"/>
                </a:solidFill>
                <a:latin typeface="Arial"/>
              </a:rPr>
              <a:t>Intersecția reacțiilor dă echilibrul Cournot. Cu costuri identice cantitățile sunt egale. Totalul este mai mare decât cantitatea cartelului și mai mic decât reperul concurențial în modelul standard. Concluzia depinde de ipotezele lui.</a:t>
            </a:r>
          </a:p>
          <a:p>
            <a:r>
              <a:rPr sz="1400" b="0" lang="ro-RO">
                <a:solidFill>
                  <a:srgbClr val="24313D"/>
                </a:solidFill>
                <a:latin typeface="Arial"/>
              </a:rPr>
              <a:t>Citim mecanismul în această ordine: Presupunem. Cantitatea celeilalte firme. Optimizăm. Propriul rezultat. Verificăm. Ambele alegeri sunt răspunsuri optime.</a:t>
            </a:r>
          </a:p>
          <a:p>
            <a:r>
              <a:rPr sz="1400" b="0" lang="ro-RO">
                <a:solidFill>
                  <a:srgbClr val="24313D"/>
                </a:solidFill>
                <a:latin typeface="Arial"/>
              </a:rPr>
              <a:t>Facem o pauză scurtă și cerem reformularea ideii în cuvinte proprii. Dacă răspunsul amestecă două noțiuni revenim la diferența dintre ele înaintea formulei.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75 de secunde.</a:t>
            </a:r>
          </a:p>
          <a:p>
            <a:r>
              <a:rPr sz="1400" b="0" lang="ro-RO">
                <a:solidFill>
                  <a:srgbClr val="24313D"/>
                </a:solidFill>
                <a:latin typeface="Arial"/>
              </a:rPr>
              <a:t>Ideea acestui moment este: Două reacții pe aceeași piață.</a:t>
            </a:r>
          </a:p>
          <a:p>
            <a:r>
              <a:rPr sz="1400" b="0" lang="ro-RO">
                <a:solidFill>
                  <a:srgbClr val="24313D"/>
                </a:solidFill>
                <a:latin typeface="Arial"/>
              </a:rPr>
              <a:t>Citim formula înainte de a introduce numerele. Precizăm ce măsoară fiecare simbol și folosim aceeași perioadă pentru toate mărimile. Separăm datele problemei de rezultatul pe care vrem să îl obținem.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75 de secunde.</a:t>
            </a:r>
          </a:p>
          <a:p>
            <a:r>
              <a:rPr sz="1400" b="0" lang="ro-RO">
                <a:solidFill>
                  <a:srgbClr val="24313D"/>
                </a:solidFill>
                <a:latin typeface="Arial"/>
              </a:rPr>
              <a:t>Ideea acestui moment este: Intersecția reacțiilor este un echilibru.</a:t>
            </a:r>
          </a:p>
          <a:p>
            <a:r>
              <a:rPr sz="1400" b="0" lang="ro-RO">
                <a:solidFill>
                  <a:srgbClr val="24313D"/>
                </a:solidFill>
                <a:latin typeface="Arial"/>
              </a:rPr>
              <a:t>Intersecția reacțiilor dă echilibrul Cournot. Cu costuri identice cantitățile sunt egale. Totalul este mai mare decât cantitatea cartelului și mai mic decât reperul concurențial în modelul standard. Concluzia depinde de ipotezele lui.</a:t>
            </a:r>
          </a:p>
          <a:p>
            <a:r>
              <a:rPr sz="1400" b="0" lang="ro-RO">
                <a:solidFill>
                  <a:srgbClr val="24313D"/>
                </a:solidFill>
                <a:latin typeface="Arial"/>
              </a:rPr>
              <a:t>Ambele firme au cost marginal 30 și cost fix zero. La cantitatea 20 a rivalei cel mai bun răspuns este tot 20. Graficul arată o alegere simultană și nu o succesiune cronologică. Un echilibru Cournot este un echilibru Nash în acest model de cantități. Modelul nu spune că aceleași două firme ar avea obligatoriu același rezultat dacă ar alege prețuri sau dacă una s-ar angaja prima.</a:t>
            </a:r>
          </a:p>
          <a:p>
            <a:r>
              <a:rPr sz="1400" b="0" lang="ro-RO">
                <a:solidFill>
                  <a:srgbClr val="24313D"/>
                </a:solidFill>
                <a:latin typeface="Arial"/>
              </a:rPr>
              <a:t>Începem cu axele și unitățile. Urmărim apoi liniile și punctul marcat. Graficul nu este o a doua problemă. El explică aceeași situație numerică pe care o vom calcula. O singură reacție optimă nu este suficientă.</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Echilibru nu înseamnă cel mai mare profit comun.</a:t>
            </a:r>
          </a:p>
          <a:p>
            <a:r>
              <a:rPr sz="1400" b="0" lang="ro-RO">
                <a:solidFill>
                  <a:srgbClr val="24313D"/>
                </a:solidFill>
                <a:latin typeface="Arial"/>
              </a:rPr>
              <a:t>Un cartel coordonează cantitatea și prețul pentru profitul comun. Din exterior seamănă cu un monopolist. Cantitatea este apoi împărțită între membri. Pentru minimizarea costului comun poate fi necesară egalitatea costurilor marginale între firmele active.</a:t>
            </a:r>
          </a:p>
          <a:p>
            <a:r>
              <a:rPr sz="1400" b="0" lang="ro-RO">
                <a:solidFill>
                  <a:srgbClr val="24313D"/>
                </a:solidFill>
                <a:latin typeface="Arial"/>
              </a:rPr>
              <a:t>Dacă ceilalți păstrează cantități mici o firmă poate câștiga prin vânzări suplimentare. Avantajul grupului nu este obligatoriu cea mai bună alegere individuală la acțiunile date ale rivalilor. Detectarea abaterilor și repetarea interacțiunii pot schimba stimulentele.</a:t>
            </a:r>
          </a:p>
          <a:p>
            <a:r>
              <a:rPr sz="1400" b="0" lang="ro-RO">
                <a:solidFill>
                  <a:srgbClr val="24313D"/>
                </a:solidFill>
                <a:latin typeface="Arial"/>
              </a:rPr>
              <a:t>Pe schemă urmărim următoarea legătură: Nash. Nu merită o schimbare proprie unilaterală. Cooperare. Firmele urmăresc un obiectiv comun.</a:t>
            </a:r>
          </a:p>
          <a:p>
            <a:r>
              <a:rPr sz="1400" b="0" lang="ro-RO">
                <a:solidFill>
                  <a:srgbClr val="24313D"/>
                </a:solidFill>
                <a:latin typeface="Arial"/>
              </a:rPr>
              <a:t>Verificare orală: Este suficient să verificăm numai alegerea firmei 1? Răspuns așteptat: Nu. Ambele alegeri trebuie să fie răspunsuri optime.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90 de secunde.</a:t>
            </a:r>
          </a:p>
          <a:p>
            <a:r>
              <a:rPr sz="1400" b="0" lang="ro-RO">
                <a:solidFill>
                  <a:srgbClr val="24313D"/>
                </a:solidFill>
                <a:latin typeface="Arial"/>
              </a:rPr>
              <a:t>P = 90 − Q</a:t>
            </a:r>
            <a:r>
              <a:rPr sz="1008" b="0" baseline="-25000" lang="ro-RO">
                <a:solidFill>
                  <a:srgbClr val="24313D"/>
                </a:solidFill>
                <a:latin typeface="Arial"/>
              </a:rPr>
              <a:t>1</a:t>
            </a:r>
            <a:r>
              <a:rPr sz="1400" b="0" lang="ro-RO">
                <a:solidFill>
                  <a:srgbClr val="24313D"/>
                </a:solidFill>
                <a:latin typeface="Arial"/>
              </a:rPr>
              <a:t> − Q</a:t>
            </a:r>
            <a:r>
              <a:rPr sz="1008" b="0" baseline="-25000" lang="ro-RO">
                <a:solidFill>
                  <a:srgbClr val="24313D"/>
                </a:solidFill>
                <a:latin typeface="Arial"/>
              </a:rPr>
              <a:t>2</a:t>
            </a:r>
            <a:r>
              <a:rPr sz="1400" b="0" lang="ro-RO">
                <a:solidFill>
                  <a:srgbClr val="24313D"/>
                </a:solidFill>
                <a:latin typeface="Arial"/>
              </a:rPr>
              <a:t>. MC = 30 și costurile fixe sunt zero. Firmele aleg simultan cantitățile. Propunem Q</a:t>
            </a:r>
            <a:r>
              <a:rPr sz="1008" b="0" baseline="-25000" lang="ro-RO">
                <a:solidFill>
                  <a:srgbClr val="24313D"/>
                </a:solidFill>
                <a:latin typeface="Arial"/>
              </a:rPr>
              <a:t>1</a:t>
            </a:r>
            <a:r>
              <a:rPr sz="1400" b="0" lang="ro-RO">
                <a:solidFill>
                  <a:srgbClr val="24313D"/>
                </a:solidFill>
                <a:latin typeface="Arial"/>
              </a:rPr>
              <a:t> = 20 și Q</a:t>
            </a:r>
            <a:r>
              <a:rPr sz="1008" b="0" baseline="-25000" lang="ro-RO">
                <a:solidFill>
                  <a:srgbClr val="24313D"/>
                </a:solidFill>
                <a:latin typeface="Arial"/>
              </a:rPr>
              <a:t>2</a:t>
            </a:r>
            <a:r>
              <a:rPr sz="1400" b="0" lang="ro-RO">
                <a:solidFill>
                  <a:srgbClr val="24313D"/>
                </a:solidFill>
                <a:latin typeface="Arial"/>
              </a:rPr>
              <a:t> = 20.</a:t>
            </a:r>
          </a:p>
          <a:p>
            <a:r>
              <a:rPr sz="1400" b="0" lang="ro-RO">
                <a:solidFill>
                  <a:srgbClr val="24313D"/>
                </a:solidFill>
                <a:latin typeface="Arial"/>
              </a:rPr>
              <a:t>Cerințele sunt: Verificați fiecare funcție de reacție. Calculați prețul și profitul fiecărei firme.</a:t>
            </a:r>
          </a:p>
          <a:p>
            <a:r>
              <a:rPr sz="1400" b="0" lang="ro-RO">
                <a:solidFill>
                  <a:srgbClr val="24313D"/>
                </a:solidFill>
                <a:latin typeface="Arial"/>
              </a:rPr>
              <a:t>Le oferim studenților timp să scrie relația necesară și să identifice datele. Nu afișăm încă soluția. Îi rugăm să explice ce caută și de ce formula aleasă răspunde cerinței. Păstrăm aceeași perioadă și aceeași unitate pe parcursul calculului. Corectăm întâi alegerea relației și abia apoi operațiile aritmetice.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90 de secunde.</a:t>
            </a:r>
          </a:p>
          <a:p>
            <a:r>
              <a:rPr sz="1400" b="0" lang="ro-RO">
                <a:solidFill>
                  <a:srgbClr val="24313D"/>
                </a:solidFill>
                <a:latin typeface="Arial"/>
              </a:rPr>
              <a:t>Parcurgem soluția în ordinea cerințelor.</a:t>
            </a:r>
          </a:p>
          <a:p>
            <a:r>
              <a:rPr sz="1400" b="0" lang="ro-RO">
                <a:solidFill>
                  <a:srgbClr val="24313D"/>
                </a:solidFill>
                <a:latin typeface="Arial"/>
              </a:rPr>
              <a:t>Reacțiile. 30 − 20/2 = 20 pentru fiecare firmă.</a:t>
            </a:r>
          </a:p>
          <a:p>
            <a:r>
              <a:rPr sz="1400" b="0" lang="ro-RO">
                <a:solidFill>
                  <a:srgbClr val="24313D"/>
                </a:solidFill>
                <a:latin typeface="Arial"/>
              </a:rPr>
              <a:t>Prețul. P = 90 − 20 − 20 = 50.</a:t>
            </a:r>
          </a:p>
          <a:p>
            <a:r>
              <a:rPr sz="1400" b="0" lang="ro-RO">
                <a:solidFill>
                  <a:srgbClr val="24313D"/>
                </a:solidFill>
                <a:latin typeface="Arial"/>
              </a:rPr>
              <a:t>Profiturile. (50 − 30) × 20 = 400 de lei fiecare.</a:t>
            </a:r>
          </a:p>
          <a:p>
            <a:r>
              <a:rPr sz="1400" b="0" lang="ro-RO">
                <a:solidFill>
                  <a:srgbClr val="24313D"/>
                </a:solidFill>
                <a:latin typeface="Arial"/>
              </a:rPr>
              <a:t>Fiecare firmă alege optim față de rivala sa. Profitul comun nu trebuie să fie maxim.</a:t>
            </a:r>
          </a:p>
          <a:p>
            <a:r>
              <a:rPr sz="1400" b="0" lang="ro-RO">
                <a:solidFill>
                  <a:srgbClr val="24313D"/>
                </a:solidFill>
                <a:latin typeface="Arial"/>
              </a:rPr>
              <a:t>Verificăm prin înlocuire în relațiile inițiale și explicăm semnul rezultatului. O valoare negativă nu este automat o eroare de calcul. Ea poate exprima o pierdere sau o reducere a indicatorului. Cerem unui student să spună rezultatul împreună cu unitatea și sensul economic.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45 de secunde.</a:t>
            </a:r>
          </a:p>
          <a:p>
            <a:r>
              <a:rPr sz="1400" b="0" lang="ro-RO">
                <a:solidFill>
                  <a:srgbClr val="24313D"/>
                </a:solidFill>
                <a:latin typeface="Arial"/>
              </a:rPr>
              <a:t>Reținem trei idei. Strategia rivalei contează. Verificăm toate cele mai bune răspunsuri. Ordinea alegerilor poate schimba rezultatul.</a:t>
            </a:r>
          </a:p>
          <a:p>
            <a:r>
              <a:rPr sz="1400" b="0" lang="ro-RO">
                <a:solidFill>
                  <a:srgbClr val="24313D"/>
                </a:solidFill>
                <a:latin typeface="Arial"/>
              </a:rPr>
              <a:t>Întrebarea de verificare este: Este suficient să verificăm numai alegerea firmei 1?</a:t>
            </a:r>
          </a:p>
          <a:p>
            <a:r>
              <a:rPr sz="1400" b="0" lang="ro-RO">
                <a:solidFill>
                  <a:srgbClr val="24313D"/>
                </a:solidFill>
                <a:latin typeface="Arial"/>
              </a:rPr>
              <a:t>Răspuns: Nu. Ambele alegeri trebuie să fie răspunsuri optime.</a:t>
            </a:r>
          </a:p>
          <a:p>
            <a:r>
              <a:rPr sz="1400" b="0" lang="ro-RO">
                <a:solidFill>
                  <a:srgbClr val="24313D"/>
                </a:solidFill>
                <a:latin typeface="Arial"/>
              </a:rPr>
              <a:t>În continuare deschidem exercițiile seminarului. Folosim aceeași succesiune: identificăm datele și restricția. Alegem relația potrivită. Calculăm și verificăm. Încheiem cu o explicație economică în cuvinte proprii.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mportamentul firmelor pe piața oligopolistă. Cum alegi când rezultatul depinde și de rival?. Înțelegem reacția optimă și verificăm un echilibru Courno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ouă firme împart aceeași piață. Cantitatea uneia poate schimba rezultatul celeilalte. Firma 1. Alege propria cantitate. Firma 2. Alege propria cantitate. Piață. Prețul depinde de total."/>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tabilitatea cere două verificări. Strategie. Ce alege fiecare firmă. Reacție optimă. Ce este mai bine la alegerea rivalei. Nash. Nimeni nu câștigă prin abatere unilaterală."/>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urnot înseamnă cantități alese simultan. Presupunem. Cantitatea celeilalte firme. Optimizăm. Propriul rezultat. Verificăm. Ambele alegeri sunt răspunsuri optim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ouă reacții pe aceeași piață. Q1 = 30 − Q2/2; Q2 = 30 − Q1/2. Folosim P = 90 − Q1 − Q2 și MC = 30. Costurile fixe sunt zero pentru ambele firm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secția reacțiilor este un echilibru. La Q1 = 20 și Q2 = 20 ambele răspunsuri sunt optime. O singură reacție optimă nu este suficientă."/>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chilibru nu înseamnă cel mai mare profit comun. Nash. Nu merită o schimbare proprie unilaterală. Cooperare. Firmele urmăresc un obiectiv comu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Rectangle 1"/>
          <p:cNvSpPr/>
          <p:nvPr/>
        </p:nvSpPr>
        <p:spPr>
          <a:xfrm>
            <a:off x="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3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1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8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0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1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7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81999"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3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9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9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0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1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7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68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93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219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25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50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76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101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127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152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177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203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228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254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279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304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330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355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381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406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31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457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482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508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533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558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584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609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635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60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0" y="685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8000" y="412750"/>
            <a:ext cx="11176000" cy="285750"/>
          </a:xfrm>
          <a:prstGeom prst="rect">
            <a:avLst/>
          </a:prstGeom>
          <a:noFill/>
        </p:spPr>
        <p:txBody>
          <a:bodyPr wrap="square" anchor="ctr" lIns="0" rIns="0" tIns="0" bIns="0">
            <a:spAutoFit/>
          </a:bodyPr>
          <a:lstStyle/>
          <a:p>
            <a:pPr>
              <a:lnSpc>
                <a:spcPct val="125000"/>
              </a:lnSpc>
              <a:spcAft>
                <a:spcPts val="0"/>
              </a:spcAft>
            </a:pPr>
            <a:r>
              <a:rPr sz="1300" b="0" lang="ro-RO">
                <a:solidFill>
                  <a:srgbClr val="556374"/>
                </a:solidFill>
                <a:latin typeface="Arial"/>
              </a:rPr>
              <a:t>Microeconomie · ASEM · Seminarul 11</a:t>
            </a:r>
          </a:p>
        </p:txBody>
      </p:sp>
      <p:sp>
        <p:nvSpPr>
          <p:cNvPr id="80" name="TextBox 79"/>
          <p:cNvSpPr txBox="1"/>
          <p:nvPr/>
        </p:nvSpPr>
        <p:spPr>
          <a:xfrm>
            <a:off x="508000" y="749300"/>
            <a:ext cx="11176000" cy="762000"/>
          </a:xfrm>
          <a:prstGeom prst="rect">
            <a:avLst/>
          </a:prstGeom>
          <a:noFill/>
        </p:spPr>
        <p:txBody>
          <a:bodyPr wrap="square" anchor="ctr" lIns="0" rIns="0" tIns="0" bIns="0">
            <a:spAutoFit/>
          </a:bodyPr>
          <a:lstStyle/>
          <a:p>
            <a:pPr>
              <a:lnSpc>
                <a:spcPct val="125000"/>
              </a:lnSpc>
              <a:spcAft>
                <a:spcPts val="0"/>
              </a:spcAft>
            </a:pPr>
            <a:r>
              <a:rPr sz="3400" b="1" lang="ro-RO">
                <a:solidFill>
                  <a:srgbClr val="123B5D"/>
                </a:solidFill>
                <a:latin typeface="Arial"/>
              </a:rPr>
              <a:t>Verificăm rezultatul celor două firme</a:t>
            </a:r>
          </a:p>
        </p:txBody>
      </p:sp>
      <p:sp>
        <p:nvSpPr>
          <p:cNvPr id="81" name="TextBox 80"/>
          <p:cNvSpPr txBox="1"/>
          <p:nvPr/>
        </p:nvSpPr>
        <p:spPr>
          <a:xfrm>
            <a:off x="508000" y="6381750"/>
            <a:ext cx="9906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Seminar · Idei esențiale și aplicație</a:t>
            </a:r>
          </a:p>
        </p:txBody>
      </p:sp>
      <p:sp>
        <p:nvSpPr>
          <p:cNvPr id="82" name="TextBox 81"/>
          <p:cNvSpPr txBox="1"/>
          <p:nvPr/>
        </p:nvSpPr>
        <p:spPr>
          <a:xfrm>
            <a:off x="10763250" y="6381750"/>
            <a:ext cx="889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08 / 10</a:t>
            </a:r>
          </a:p>
        </p:txBody>
      </p:sp>
      <p:sp>
        <p:nvSpPr>
          <p:cNvPr id="83" name="Rounded Rectangle 82"/>
          <p:cNvSpPr/>
          <p:nvPr/>
        </p:nvSpPr>
        <p:spPr>
          <a:xfrm>
            <a:off x="508000" y="1714500"/>
            <a:ext cx="11176000" cy="2095499"/>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lnSpc>
                <a:spcPct val="125000"/>
              </a:lnSpc>
              <a:spcAft>
                <a:spcPts val="0"/>
              </a:spcAft>
            </a:pPr>
            <a:r>
              <a:rPr sz="2700" b="0" lang="ro-RO">
                <a:solidFill>
                  <a:srgbClr val="24313D"/>
                </a:solidFill>
                <a:latin typeface="Arial"/>
              </a:rPr>
              <a:t>P = 90 − Q</a:t>
            </a:r>
            <a:r>
              <a:rPr sz="1943" b="0" baseline="-25000" lang="ro-RO">
                <a:solidFill>
                  <a:srgbClr val="24313D"/>
                </a:solidFill>
                <a:latin typeface="Arial"/>
              </a:rPr>
              <a:t>1</a:t>
            </a:r>
            <a:r>
              <a:rPr sz="2700" b="0" lang="ro-RO">
                <a:solidFill>
                  <a:srgbClr val="24313D"/>
                </a:solidFill>
                <a:latin typeface="Arial"/>
              </a:rPr>
              <a:t> − Q</a:t>
            </a:r>
            <a:r>
              <a:rPr sz="1943" b="0" baseline="-25000" lang="ro-RO">
                <a:solidFill>
                  <a:srgbClr val="24313D"/>
                </a:solidFill>
                <a:latin typeface="Arial"/>
              </a:rPr>
              <a:t>2</a:t>
            </a:r>
            <a:r>
              <a:rPr sz="2700" b="0" lang="ro-RO">
                <a:solidFill>
                  <a:srgbClr val="24313D"/>
                </a:solidFill>
                <a:latin typeface="Arial"/>
              </a:rPr>
              <a:t>. MC = 30 și costurile fixe sunt zero. Firmele aleg simultan cantitățile. Propunem Q</a:t>
            </a:r>
            <a:r>
              <a:rPr sz="1943" b="0" baseline="-25000" lang="ro-RO">
                <a:solidFill>
                  <a:srgbClr val="24313D"/>
                </a:solidFill>
                <a:latin typeface="Arial"/>
              </a:rPr>
              <a:t>1</a:t>
            </a:r>
            <a:r>
              <a:rPr sz="2700" b="0" lang="ro-RO">
                <a:solidFill>
                  <a:srgbClr val="24313D"/>
                </a:solidFill>
                <a:latin typeface="Arial"/>
              </a:rPr>
              <a:t> = 20 și Q</a:t>
            </a:r>
            <a:r>
              <a:rPr sz="1943" b="0" baseline="-25000" lang="ro-RO">
                <a:solidFill>
                  <a:srgbClr val="24313D"/>
                </a:solidFill>
                <a:latin typeface="Arial"/>
              </a:rPr>
              <a:t>2</a:t>
            </a:r>
            <a:r>
              <a:rPr sz="2700" b="0" lang="ro-RO">
                <a:solidFill>
                  <a:srgbClr val="24313D"/>
                </a:solidFill>
                <a:latin typeface="Arial"/>
              </a:rPr>
              <a:t> = 20.</a:t>
            </a:r>
          </a:p>
        </p:txBody>
      </p:sp>
      <p:sp>
        <p:nvSpPr>
          <p:cNvPr id="84" name="TextBox 83"/>
          <p:cNvSpPr txBox="1"/>
          <p:nvPr/>
        </p:nvSpPr>
        <p:spPr>
          <a:xfrm>
            <a:off x="508000" y="3905249"/>
            <a:ext cx="11176000" cy="444500"/>
          </a:xfrm>
          <a:prstGeom prst="rect">
            <a:avLst/>
          </a:prstGeom>
          <a:noFill/>
        </p:spPr>
        <p:txBody>
          <a:bodyPr wrap="square" anchor="ctr" lIns="0" rIns="0" tIns="0" bIns="0">
            <a:spAutoFit/>
          </a:bodyPr>
          <a:lstStyle/>
          <a:p>
            <a:pPr>
              <a:lnSpc>
                <a:spcPct val="125000"/>
              </a:lnSpc>
              <a:spcAft>
                <a:spcPts val="0"/>
              </a:spcAft>
            </a:pPr>
            <a:r>
              <a:rPr sz="2200" b="1" lang="ro-RO">
                <a:solidFill>
                  <a:srgbClr val="123B5D"/>
                </a:solidFill>
                <a:latin typeface="Arial"/>
              </a:rPr>
              <a:t>Cerințe</a:t>
            </a:r>
          </a:p>
        </p:txBody>
      </p:sp>
      <p:sp>
        <p:nvSpPr>
          <p:cNvPr id="85" name="TextBox 84"/>
          <p:cNvSpPr txBox="1"/>
          <p:nvPr/>
        </p:nvSpPr>
        <p:spPr>
          <a:xfrm>
            <a:off x="698500" y="4476750"/>
            <a:ext cx="10795000" cy="571500"/>
          </a:xfrm>
          <a:prstGeom prst="rect">
            <a:avLst/>
          </a:prstGeom>
          <a:noFill/>
        </p:spPr>
        <p:txBody>
          <a:bodyPr wrap="square" anchor="ctr" lIns="0" rIns="0" tIns="0" bIns="0">
            <a:spAutoFit/>
          </a:bodyPr>
          <a:lstStyle/>
          <a:p>
            <a:pPr>
              <a:lnSpc>
                <a:spcPct val="125000"/>
              </a:lnSpc>
              <a:spcAft>
                <a:spcPts val="0"/>
              </a:spcAft>
            </a:pPr>
            <a:r>
              <a:rPr sz="2600" b="0" lang="ro-RO">
                <a:solidFill>
                  <a:srgbClr val="24313D"/>
                </a:solidFill>
                <a:latin typeface="Arial"/>
              </a:rPr>
              <a:t>1. Verificați fiecare funcție de reacție.</a:t>
            </a:r>
          </a:p>
        </p:txBody>
      </p:sp>
      <p:sp>
        <p:nvSpPr>
          <p:cNvPr id="86" name="TextBox 85"/>
          <p:cNvSpPr txBox="1"/>
          <p:nvPr/>
        </p:nvSpPr>
        <p:spPr>
          <a:xfrm>
            <a:off x="698500" y="5175250"/>
            <a:ext cx="10795000" cy="571500"/>
          </a:xfrm>
          <a:prstGeom prst="rect">
            <a:avLst/>
          </a:prstGeom>
          <a:noFill/>
        </p:spPr>
        <p:txBody>
          <a:bodyPr wrap="square" anchor="ctr" lIns="0" rIns="0" tIns="0" bIns="0">
            <a:spAutoFit/>
          </a:bodyPr>
          <a:lstStyle/>
          <a:p>
            <a:pPr>
              <a:lnSpc>
                <a:spcPct val="125000"/>
              </a:lnSpc>
              <a:spcAft>
                <a:spcPts val="0"/>
              </a:spcAft>
            </a:pPr>
            <a:r>
              <a:rPr sz="2600" b="0" lang="ro-RO">
                <a:solidFill>
                  <a:srgbClr val="24313D"/>
                </a:solidFill>
                <a:latin typeface="Arial"/>
              </a:rPr>
              <a:t>2. Calculați prețul și profitul fiecărei firme.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Rectangle 1"/>
          <p:cNvSpPr/>
          <p:nvPr/>
        </p:nvSpPr>
        <p:spPr>
          <a:xfrm>
            <a:off x="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3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1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8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0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1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7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81999"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3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9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9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0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1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7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68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93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219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25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50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76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101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127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152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177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203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228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254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279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304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330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355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381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406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31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457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482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508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533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558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584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609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635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60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0" y="685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8000" y="412750"/>
            <a:ext cx="11176000" cy="285750"/>
          </a:xfrm>
          <a:prstGeom prst="rect">
            <a:avLst/>
          </a:prstGeom>
          <a:noFill/>
        </p:spPr>
        <p:txBody>
          <a:bodyPr wrap="square" anchor="ctr" lIns="0" rIns="0" tIns="0" bIns="0">
            <a:spAutoFit/>
          </a:bodyPr>
          <a:lstStyle/>
          <a:p>
            <a:pPr>
              <a:lnSpc>
                <a:spcPct val="125000"/>
              </a:lnSpc>
              <a:spcAft>
                <a:spcPts val="0"/>
              </a:spcAft>
            </a:pPr>
            <a:r>
              <a:rPr sz="1300" b="0" lang="ro-RO">
                <a:solidFill>
                  <a:srgbClr val="556374"/>
                </a:solidFill>
                <a:latin typeface="Arial"/>
              </a:rPr>
              <a:t>Microeconomie · ASEM · Seminarul 11</a:t>
            </a:r>
          </a:p>
        </p:txBody>
      </p:sp>
      <p:sp>
        <p:nvSpPr>
          <p:cNvPr id="80" name="TextBox 79"/>
          <p:cNvSpPr txBox="1"/>
          <p:nvPr/>
        </p:nvSpPr>
        <p:spPr>
          <a:xfrm>
            <a:off x="508000" y="749300"/>
            <a:ext cx="11176000" cy="762000"/>
          </a:xfrm>
          <a:prstGeom prst="rect">
            <a:avLst/>
          </a:prstGeom>
          <a:noFill/>
        </p:spPr>
        <p:txBody>
          <a:bodyPr wrap="square" anchor="ctr" lIns="0" rIns="0" tIns="0" bIns="0">
            <a:spAutoFit/>
          </a:bodyPr>
          <a:lstStyle/>
          <a:p>
            <a:pPr>
              <a:lnSpc>
                <a:spcPct val="125000"/>
              </a:lnSpc>
              <a:spcAft>
                <a:spcPts val="0"/>
              </a:spcAft>
            </a:pPr>
            <a:r>
              <a:rPr sz="3400" b="1" lang="ro-RO">
                <a:solidFill>
                  <a:srgbClr val="123B5D"/>
                </a:solidFill>
                <a:latin typeface="Arial"/>
              </a:rPr>
              <a:t>Fiecare alegere trebuie confirmată</a:t>
            </a:r>
          </a:p>
        </p:txBody>
      </p:sp>
      <p:sp>
        <p:nvSpPr>
          <p:cNvPr id="81" name="TextBox 80"/>
          <p:cNvSpPr txBox="1"/>
          <p:nvPr/>
        </p:nvSpPr>
        <p:spPr>
          <a:xfrm>
            <a:off x="508000" y="6381750"/>
            <a:ext cx="9906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Seminar · Idei esențiale și aplicație</a:t>
            </a:r>
          </a:p>
        </p:txBody>
      </p:sp>
      <p:sp>
        <p:nvSpPr>
          <p:cNvPr id="82" name="TextBox 81"/>
          <p:cNvSpPr txBox="1"/>
          <p:nvPr/>
        </p:nvSpPr>
        <p:spPr>
          <a:xfrm>
            <a:off x="10763250" y="6381750"/>
            <a:ext cx="889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09 / 10</a:t>
            </a:r>
          </a:p>
        </p:txBody>
      </p:sp>
      <p:sp>
        <p:nvSpPr>
          <p:cNvPr id="83" name="Rounded Rectangle 82"/>
          <p:cNvSpPr/>
          <p:nvPr/>
        </p:nvSpPr>
        <p:spPr>
          <a:xfrm>
            <a:off x="508000" y="1714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84" name="TextBox 83"/>
          <p:cNvSpPr txBox="1"/>
          <p:nvPr/>
        </p:nvSpPr>
        <p:spPr>
          <a:xfrm>
            <a:off x="711200" y="1828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Reacțiile</a:t>
            </a:r>
          </a:p>
        </p:txBody>
      </p:sp>
      <p:sp>
        <p:nvSpPr>
          <p:cNvPr id="85" name="TextBox 84"/>
          <p:cNvSpPr txBox="1"/>
          <p:nvPr/>
        </p:nvSpPr>
        <p:spPr>
          <a:xfrm>
            <a:off x="711200" y="2171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30 − 20/2 = 20 pentru fiecare firmă</a:t>
            </a:r>
          </a:p>
        </p:txBody>
      </p:sp>
      <p:sp>
        <p:nvSpPr>
          <p:cNvPr id="86" name="Rounded Rectangle 85"/>
          <p:cNvSpPr/>
          <p:nvPr/>
        </p:nvSpPr>
        <p:spPr>
          <a:xfrm>
            <a:off x="508000" y="2857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87" name="TextBox 86"/>
          <p:cNvSpPr txBox="1"/>
          <p:nvPr/>
        </p:nvSpPr>
        <p:spPr>
          <a:xfrm>
            <a:off x="711200" y="2971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Prețul</a:t>
            </a:r>
          </a:p>
        </p:txBody>
      </p:sp>
      <p:sp>
        <p:nvSpPr>
          <p:cNvPr id="88" name="TextBox 87"/>
          <p:cNvSpPr txBox="1"/>
          <p:nvPr/>
        </p:nvSpPr>
        <p:spPr>
          <a:xfrm>
            <a:off x="711200" y="3314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P = 90 − 20 − 20 = 50</a:t>
            </a:r>
          </a:p>
        </p:txBody>
      </p:sp>
      <p:sp>
        <p:nvSpPr>
          <p:cNvPr id="89" name="Rounded Rectangle 88"/>
          <p:cNvSpPr/>
          <p:nvPr/>
        </p:nvSpPr>
        <p:spPr>
          <a:xfrm>
            <a:off x="508000" y="4000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90" name="TextBox 89"/>
          <p:cNvSpPr txBox="1"/>
          <p:nvPr/>
        </p:nvSpPr>
        <p:spPr>
          <a:xfrm>
            <a:off x="711200" y="4114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Profiturile</a:t>
            </a:r>
          </a:p>
        </p:txBody>
      </p:sp>
      <p:sp>
        <p:nvSpPr>
          <p:cNvPr id="91" name="TextBox 90"/>
          <p:cNvSpPr txBox="1"/>
          <p:nvPr/>
        </p:nvSpPr>
        <p:spPr>
          <a:xfrm>
            <a:off x="711200" y="4457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(50 − 30) × 20 = 400 de lei fiecare</a:t>
            </a:r>
          </a:p>
        </p:txBody>
      </p:sp>
      <p:sp>
        <p:nvSpPr>
          <p:cNvPr id="92" name="Rounded Rectangle 91"/>
          <p:cNvSpPr/>
          <p:nvPr/>
        </p:nvSpPr>
        <p:spPr>
          <a:xfrm>
            <a:off x="508000" y="5334000"/>
            <a:ext cx="11176000" cy="952500"/>
          </a:xfrm>
          <a:prstGeom prst="roundRect">
            <a:avLst>
              <a:gd name="adj" fmla="val 12000"/>
            </a:avLst>
          </a:prstGeom>
          <a:solidFill>
            <a:srgbClr val="F0F8EC"/>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lnSpc>
                <a:spcPct val="125000"/>
              </a:lnSpc>
              <a:spcAft>
                <a:spcPts val="0"/>
              </a:spcAft>
            </a:pPr>
            <a:r>
              <a:rPr sz="2100" b="0" lang="ro-RO">
                <a:solidFill>
                  <a:srgbClr val="123B5D"/>
                </a:solidFill>
                <a:latin typeface="Arial"/>
              </a:rPr>
              <a:t>Fiecare firmă alege optim față de rivala sa. Profitul comun nu trebuie să fie maxim.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 aici încep exercițiile seminarului. Este suficient să verificăm numai alegerea firmei 1?. Strategia rivalei contează. Verificăm toate cele mai bune răspunsuri. Ordinea alegerilor poate schimba rezultatul."/>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Seminarul 11. Comportamentul firmelor pe piața oligopolistă</dc:title>
  <dc:subject>Introducere pentru seminar și o aplicație</dc:subject>
  <dc:creator>ASEM</dc:creator>
  <cp:keywords/>
  <dc:description>generated using python-pptx</dc:description>
  <cp:lastModifiedBy>ASEM</cp:lastModifiedBy>
  <cp:revision>1</cp:revision>
  <dcterms:created xsi:type="dcterms:W3CDTF">2013-01-27T09:14:16Z</dcterms:created>
  <dcterms:modified xsi:type="dcterms:W3CDTF">2013-01-27T09:15:58Z</dcterms:modified>
  <cp:category/>
  <dc:language>ro-RO</dc:language>
</cp:coreProperties>
</file>