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Urmărim deciziile cumpărătorilor și vânzătorilor. Calculăm prețul la care cantitățile se potrivesc. Explicăm apoi deficitul și excesul de ofertă și efectele intervențiilor pe piață.</a:t>
            </a:r>
          </a:p>
          <a:p>
            <a:r>
              <a:rPr sz="1400" b="0" lang="ro-RO">
                <a:solidFill>
                  <a:srgbClr val="24313D"/>
                </a:solidFill>
                <a:latin typeface="Arial"/>
              </a:rPr>
              <a:t>Întrebarea care ne conduce este aceasta: Cum se potrivesc planurile cumpărătorilor și vânzătorilor?</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Două planuri pentru aceeași piață.</a:t>
            </a:r>
          </a:p>
          <a:p>
            <a:r>
              <a:rPr sz="1400" b="0" lang="ro-RO">
                <a:solidFill>
                  <a:srgbClr val="24313D"/>
                </a:solidFill>
                <a:latin typeface="Arial"/>
              </a:rPr>
              <a:t>Cantitatea cerută este o valoare pentru un anumit preț. Curba cererii arată întreaga relație. Când se schimbă numai prețul apei ne deplasăm pe aceeași curbă. Când se schimbă venitul sau numărul cumpărătorilor comparăm curbe diferite.</a:t>
            </a:r>
          </a:p>
          <a:p>
            <a:r>
              <a:rPr sz="1400" b="0" lang="ro-RO">
                <a:solidFill>
                  <a:srgbClr val="24313D"/>
                </a:solidFill>
                <a:latin typeface="Arial"/>
              </a:rPr>
              <a:t>Legea cererii descrie o relație inversă cu ceilalți factori neschimbați. Un preț mai mic face bunul relativ mai atractiv față de alternative. El permite și cumpărarea unui coș mai mare cu același venit. Aceste mecanisme sunt efectul de substituție și efectul de venit. Ele vor fi analizate mai detaliat la alegerea consumatorului.</a:t>
            </a:r>
          </a:p>
          <a:p>
            <a:r>
              <a:rPr sz="1400" b="0" lang="ro-RO">
                <a:solidFill>
                  <a:srgbClr val="24313D"/>
                </a:solidFill>
                <a:latin typeface="Arial"/>
              </a:rPr>
              <a:t>Pe schemă urmărim următoarea legătură: Cumpărători. Doresc și pot să cumpere. Preț. Face posibilă comparația. Vânzători. Doresc și pot să vândă.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Cererea și oferta sunt relații.</a:t>
            </a:r>
          </a:p>
          <a:p>
            <a:r>
              <a:rPr sz="1400" b="0" lang="ro-RO">
                <a:solidFill>
                  <a:srgbClr val="24313D"/>
                </a:solidFill>
                <a:latin typeface="Arial"/>
              </a:rPr>
              <a:t>Un atelier poate accepta mai multe comenzi dacă prețul serviciului îi acoperă costul suplimentar. Oferta arată cantitățile pe care vânzătorii pot și doresc să le ofere la fiecare preț într-o perioadă. Legea ofertei descrie de regulă o relație directă la ceilalți factori neschimbați.</a:t>
            </a:r>
          </a:p>
          <a:p>
            <a:r>
              <a:rPr sz="1400" b="0" lang="ro-RO">
                <a:solidFill>
                  <a:srgbClr val="24313D"/>
                </a:solidFill>
                <a:latin typeface="Arial"/>
              </a:rPr>
              <a:t>Prețul produsului schimbă cantitatea oferită pe aceeași curbă. Prețurile resurselor și tehnologia schimbă oferta. O metodă care economisește energie permite mai multă producție la același preț. O scumpire a materiilor prime are efectul opus în comparația obișnuită.</a:t>
            </a:r>
          </a:p>
          <a:p>
            <a:r>
              <a:rPr sz="1400" b="0" lang="ro-RO">
                <a:solidFill>
                  <a:srgbClr val="24313D"/>
                </a:solidFill>
                <a:latin typeface="Arial"/>
              </a:rPr>
              <a:t>Pe schemă urmărim următoarea legătură: Cerere. Cantități dorite la prețuri diferite. Ofertă. Cantități oferite la prețuri diferite. Cantitate. Un punct pentru un preț concret.</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De ce se ajustează prețul?.</a:t>
            </a:r>
          </a:p>
          <a:p>
            <a:r>
              <a:rPr sz="1400" b="0" lang="ro-RO">
                <a:solidFill>
                  <a:srgbClr val="24313D"/>
                </a:solidFill>
                <a:latin typeface="Arial"/>
              </a:rPr>
              <a:t>Echilibrul apare la prețul pentru care cantitatea cerută este egală cu cea oferită. Într-o piață cu cerere descrescătoare și ofertă crescătoare un preț prea mic produce deficit. Un preț prea mare produce exces de ofertă. Deficitul poate pune presiune de creștere asupra prețului. Surplusul poate împinge prețul în jos.</a:t>
            </a:r>
          </a:p>
          <a:p>
            <a:r>
              <a:rPr sz="1400" b="0" lang="ro-RO">
                <a:solidFill>
                  <a:srgbClr val="24313D"/>
                </a:solidFill>
                <a:latin typeface="Arial"/>
              </a:rPr>
              <a:t>Gândim schimbarea în trei pași. Identificăm dacă evenimentul schimbă cererea sau oferta. Stabilim direcția deplasării. Comparăm echilibrul nou cu cel vechi. Cererea mai mare ridică prețul și cantitatea în comparația standard. Oferta mai mare reduce prețul și mărește cantitatea. Dacă ambele curbe se schimbă unele efecte pot rămâne nedeterminate fără mărimea deplasărilor.</a:t>
            </a:r>
          </a:p>
          <a:p>
            <a:r>
              <a:rPr sz="1400" b="0" lang="ro-RO">
                <a:solidFill>
                  <a:srgbClr val="24313D"/>
                </a:solidFill>
                <a:latin typeface="Arial"/>
              </a:rPr>
              <a:t>Citim mecanismul în această ordine: Preț prea mic. Cererea depășește oferta. Ajustare. Apare presiune asupra prețului. Potrivire. Cantitatea cerută egalează oferta.</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Echilibrul cere aceeași cantitate.</a:t>
            </a:r>
          </a:p>
          <a:p>
            <a:r>
              <a:rPr sz="1400" b="0" lang="ro-RO">
                <a:solidFill>
                  <a:srgbClr val="24313D"/>
                </a:solidFill>
                <a:latin typeface="Arial"/>
              </a:rPr>
              <a:t>Ajustarea de tip Walras pune accent pe reacția prețului la excesul de cerere. Ajustarea de tip Marshall urmărește schimbarea cantității după diferența dintre prețul cererii și prețul ofertei. Sunt reguli de adaptare care trebuie precizate. Nu orice intersecție este automat stabilă pentru orice mecanism.</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Intersecția are un sens economic.</a:t>
            </a:r>
          </a:p>
          <a:p>
            <a:r>
              <a:rPr sz="1400" b="0" lang="ro-RO">
                <a:solidFill>
                  <a:srgbClr val="24313D"/>
                </a:solidFill>
                <a:latin typeface="Arial"/>
              </a:rPr>
              <a:t>Echilibrul apare la prețul pentru care cantitatea cerută este egală cu cea oferită. Într-o piață cu cerere descrescătoare și ofertă crescătoare un preț prea mic produce deficit. Un preț prea mare produce exces de ofertă. Deficitul poate pune presiune de creștere asupra prețului. Surplusul poate împinge prețul în jos.</a:t>
            </a:r>
          </a:p>
          <a:p>
            <a:r>
              <a:rPr sz="1400" b="0" lang="ro-RO">
                <a:solidFill>
                  <a:srgbClr val="24313D"/>
                </a:solidFill>
                <a:latin typeface="Arial"/>
              </a:rPr>
              <a:t>Pentru funcțiile acestui seminar comparăm cererea Q</a:t>
            </a:r>
            <a:r>
              <a:rPr sz="1008" b="0" baseline="-25000" lang="ro-RO">
                <a:solidFill>
                  <a:srgbClr val="24313D"/>
                </a:solidFill>
                <a:latin typeface="Arial"/>
              </a:rPr>
              <a:t>d</a:t>
            </a:r>
            <a:r>
              <a:rPr sz="1400" b="0" lang="ro-RO">
                <a:solidFill>
                  <a:srgbClr val="24313D"/>
                </a:solidFill>
                <a:latin typeface="Arial"/>
              </a:rPr>
              <a:t> = 100 − P cu oferta Q</a:t>
            </a:r>
            <a:r>
              <a:rPr sz="1008" b="0" baseline="-25000" lang="ro-RO">
                <a:solidFill>
                  <a:srgbClr val="24313D"/>
                </a:solidFill>
                <a:latin typeface="Arial"/>
              </a:rPr>
              <a:t>s</a:t>
            </a:r>
            <a:r>
              <a:rPr sz="1400" b="0" lang="ro-RO">
                <a:solidFill>
                  <a:srgbClr val="24313D"/>
                </a:solidFill>
                <a:latin typeface="Arial"/>
              </a:rPr>
              <a:t> = −20 + 2P. În desen oferta pozitivă începe de la prețul 10. Intersecția este la Q = 60 și P = 40. Numerele sunt aceleași în exercițiu. Nu calculăm aici impozite sau subvenții. Acestea sunt aplicații ulterioare ale modelului și nu schimbă sensul egalității de echilibru.</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La P = 40 ambele părți aleg Q = 60.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O mișcare nu este o deplasare.</a:t>
            </a:r>
          </a:p>
          <a:p>
            <a:r>
              <a:rPr sz="1400" b="0" lang="ro-RO">
                <a:solidFill>
                  <a:srgbClr val="24313D"/>
                </a:solidFill>
                <a:latin typeface="Arial"/>
              </a:rPr>
              <a:t>Pentru un bun normal venitul mai mare sporește cererea în intervalul analizat. Pentru un bun inferior o reduce. Această clasificare descrie reacția și nu valoarea morală sau calitatea fizică a produsului. Același bun poate avea reacții diferite pentru gospodării și niveluri de venit diferite.</a:t>
            </a:r>
          </a:p>
          <a:p>
            <a:r>
              <a:rPr sz="1400" b="0" lang="ro-RO">
                <a:solidFill>
                  <a:srgbClr val="24313D"/>
                </a:solidFill>
                <a:latin typeface="Arial"/>
              </a:rPr>
              <a:t>Dacă prețul cafelei crește o parte dintre cumpărători pot alege ceai. Cererea de ceai se deplasează spre dreapta chiar dacă prețul ceaiului nu s-a schimbat. Pentru bunuri complementare relația este opusă. Scumpirea unui aparat poate reduce cererea pentru accesoriul folosit împreună cu el.</a:t>
            </a:r>
          </a:p>
          <a:p>
            <a:r>
              <a:rPr sz="1400" b="0" lang="ro-RO">
                <a:solidFill>
                  <a:srgbClr val="24313D"/>
                </a:solidFill>
                <a:latin typeface="Arial"/>
              </a:rPr>
              <a:t>Pe schemă urmărim următoarea legătură: Prețul bunului se schimbă. Ne mișcăm pe aceeași curbă. Alt factor se schimbă. Cererea sau oferta se poate deplasa.</a:t>
            </a:r>
          </a:p>
          <a:p>
            <a:r>
              <a:rPr sz="1400" b="0" lang="ro-RO">
                <a:solidFill>
                  <a:srgbClr val="24313D"/>
                </a:solidFill>
                <a:latin typeface="Arial"/>
              </a:rPr>
              <a:t>Verificare orală: Care mărime se referă la un preț și nu la întreaga relație? Răspuns așteptat: Cantitatea cerută sau oferită la acel preț.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Cererea este Q</a:t>
            </a:r>
            <a:r>
              <a:rPr sz="1008" b="0" baseline="-25000" lang="ro-RO">
                <a:solidFill>
                  <a:srgbClr val="24313D"/>
                </a:solidFill>
                <a:latin typeface="Arial"/>
              </a:rPr>
              <a:t>d</a:t>
            </a:r>
            <a:r>
              <a:rPr sz="1400" b="0" lang="ro-RO">
                <a:solidFill>
                  <a:srgbClr val="24313D"/>
                </a:solidFill>
                <a:latin typeface="Arial"/>
              </a:rPr>
              <a:t> = 100 − P. Oferta este Q</a:t>
            </a:r>
            <a:r>
              <a:rPr sz="1008" b="0" baseline="-25000" lang="ro-RO">
                <a:solidFill>
                  <a:srgbClr val="24313D"/>
                </a:solidFill>
                <a:latin typeface="Arial"/>
              </a:rPr>
              <a:t>s</a:t>
            </a:r>
            <a:r>
              <a:rPr sz="1400" b="0" lang="ro-RO">
                <a:solidFill>
                  <a:srgbClr val="24313D"/>
                </a:solidFill>
                <a:latin typeface="Arial"/>
              </a:rPr>
              <a:t> = −20 + 2P. P este în u.m. pe produs iar Q în produse pe zi.</a:t>
            </a:r>
          </a:p>
          <a:p>
            <a:r>
              <a:rPr sz="1400" b="0" lang="ro-RO">
                <a:solidFill>
                  <a:srgbClr val="24313D"/>
                </a:solidFill>
                <a:latin typeface="Arial"/>
              </a:rPr>
              <a:t>Cerințele sunt: Calculați prețul de echilibru. Calculați și verificați cantitatea de echilibru.</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Egalăm cantitățile. 100 − P = −20 + 2P.</a:t>
            </a:r>
          </a:p>
          <a:p>
            <a:r>
              <a:rPr sz="1400" b="0" lang="ro-RO">
                <a:solidFill>
                  <a:srgbClr val="24313D"/>
                </a:solidFill>
                <a:latin typeface="Arial"/>
              </a:rPr>
              <a:t>Aflăm prețul. 120 = 3P → P = 40.</a:t>
            </a:r>
          </a:p>
          <a:p>
            <a:r>
              <a:rPr sz="1400" b="0" lang="ro-RO">
                <a:solidFill>
                  <a:srgbClr val="24313D"/>
                </a:solidFill>
                <a:latin typeface="Arial"/>
              </a:rPr>
              <a:t>Verificăm volumul. Q</a:t>
            </a:r>
            <a:r>
              <a:rPr sz="1008" b="0" baseline="-25000" lang="ro-RO">
                <a:solidFill>
                  <a:srgbClr val="24313D"/>
                </a:solidFill>
                <a:latin typeface="Arial"/>
              </a:rPr>
              <a:t>d</a:t>
            </a:r>
            <a:r>
              <a:rPr sz="1400" b="0" lang="ro-RO">
                <a:solidFill>
                  <a:srgbClr val="24313D"/>
                </a:solidFill>
                <a:latin typeface="Arial"/>
              </a:rPr>
              <a:t> = 60 și Q</a:t>
            </a:r>
            <a:r>
              <a:rPr sz="1008" b="0" baseline="-25000" lang="ro-RO">
                <a:solidFill>
                  <a:srgbClr val="24313D"/>
                </a:solidFill>
                <a:latin typeface="Arial"/>
              </a:rPr>
              <a:t>s</a:t>
            </a:r>
            <a:r>
              <a:rPr sz="1400" b="0" lang="ro-RO">
                <a:solidFill>
                  <a:srgbClr val="24313D"/>
                </a:solidFill>
                <a:latin typeface="Arial"/>
              </a:rPr>
              <a:t> = 60.</a:t>
            </a:r>
          </a:p>
          <a:p>
            <a:r>
              <a:rPr sz="1400" b="0" lang="ro-RO">
                <a:solidFill>
                  <a:srgbClr val="24313D"/>
                </a:solidFill>
                <a:latin typeface="Arial"/>
              </a:rPr>
              <a:t>Planurile se potrivesc la 40 u.m. pe produs și 60 de produse pe zi.</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Echilibrul potrivește două planuri. Deficitul și excesul creează presiuni de ajustare. Un eveniment nou poate schimba echilibrul.</a:t>
            </a:r>
          </a:p>
          <a:p>
            <a:r>
              <a:rPr sz="1400" b="0" lang="ro-RO">
                <a:solidFill>
                  <a:srgbClr val="24313D"/>
                </a:solidFill>
                <a:latin typeface="Arial"/>
              </a:rPr>
              <a:t>Întrebarea de verificare este: Care mărime se referă la un preț și nu la întreaga relație?</a:t>
            </a:r>
          </a:p>
          <a:p>
            <a:r>
              <a:rPr sz="1400" b="0" lang="ro-RO">
                <a:solidFill>
                  <a:srgbClr val="24313D"/>
                </a:solidFill>
                <a:latin typeface="Arial"/>
              </a:rPr>
              <a:t>Răspuns: Cantitatea cerută sau oferită la acel preț.</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ererea și oferta. Echilibrul și dezechilibrul pieței. Cum se potrivesc planurile cumpărătorilor și vânzătorilor?. Găsim prețul și cantitatea de echilibr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ouă planuri pentru aceeași piață. Cumpărătorii și vânzătorii reacționează la același preț. Cumpărători. Doresc și pot să cumpere. Preț. Face posibilă comparația. Vânzători. Doresc și pot să vând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ererea și oferta sunt relații. Cerere. Cantități dorite la prețuri diferite. Ofertă. Cantități oferite la prețuri diferite. Cantitate. Un punct pentru un preț concre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ce se ajustează prețul?. Preț prea mic. Cererea depășește oferta. Ajustare. Apare presiune asupra prețului. Potrivire. Cantitatea cerută egalează ofert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hilibrul cere aceeași cantitate. Qd = Qs. Introducem același P în ambele funcții. Folosim aceeași unitate și aceeași perioad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ntersecția are un sens economic. D reprezintă cererea. S reprezintă oferta. La P = 40 ambele părți aleg Q = 6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 mișcare nu este o deplasare. Prețul bunului se schimbă. Ne mișcăm pe aceeași curbă. Alt factor se schimbă. Cererea sau oferta se poate deplas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2</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Calculăm echilibrul unei piețe</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Cererea este Q</a:t>
            </a:r>
            <a:r>
              <a:rPr sz="1943" b="0" baseline="-25000" lang="ro-RO">
                <a:solidFill>
                  <a:srgbClr val="24313D"/>
                </a:solidFill>
                <a:latin typeface="Arial"/>
              </a:rPr>
              <a:t>d</a:t>
            </a:r>
            <a:r>
              <a:rPr sz="2700" b="0" lang="ro-RO">
                <a:solidFill>
                  <a:srgbClr val="24313D"/>
                </a:solidFill>
                <a:latin typeface="Arial"/>
              </a:rPr>
              <a:t> = 100 − P. Oferta este Q</a:t>
            </a:r>
            <a:r>
              <a:rPr sz="1943" b="0" baseline="-25000" lang="ro-RO">
                <a:solidFill>
                  <a:srgbClr val="24313D"/>
                </a:solidFill>
                <a:latin typeface="Arial"/>
              </a:rPr>
              <a:t>s</a:t>
            </a:r>
            <a:r>
              <a:rPr sz="2700" b="0" lang="ro-RO">
                <a:solidFill>
                  <a:srgbClr val="24313D"/>
                </a:solidFill>
                <a:latin typeface="Arial"/>
              </a:rPr>
              <a:t> = −20 + 2P. P este în u.m. pe produs iar Q în produse pe zi.</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Calculați prețul de echilibru.</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și verificați cantitatea de echilibru.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2</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Două funcții și un singur preț</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Egalăm cantitățile</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100 − P = −20 + 2P</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Aflăm prețul</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120 = 3P → P = 40</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Verificăm volumul</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Q</a:t>
            </a:r>
            <a:r>
              <a:rPr sz="1872" b="1" baseline="-25000" lang="ro-RO">
                <a:solidFill>
                  <a:srgbClr val="123B5D"/>
                </a:solidFill>
                <a:latin typeface="Arial"/>
              </a:rPr>
              <a:t>d</a:t>
            </a:r>
            <a:r>
              <a:rPr sz="2600" b="1" lang="ro-RO">
                <a:solidFill>
                  <a:srgbClr val="123B5D"/>
                </a:solidFill>
                <a:latin typeface="Arial"/>
              </a:rPr>
              <a:t> = 60 și Q</a:t>
            </a:r>
            <a:r>
              <a:rPr sz="1872" b="1" baseline="-25000" lang="ro-RO">
                <a:solidFill>
                  <a:srgbClr val="123B5D"/>
                </a:solidFill>
                <a:latin typeface="Arial"/>
              </a:rPr>
              <a:t>s</a:t>
            </a:r>
            <a:r>
              <a:rPr sz="2600" b="1" lang="ro-RO">
                <a:solidFill>
                  <a:srgbClr val="123B5D"/>
                </a:solidFill>
                <a:latin typeface="Arial"/>
              </a:rPr>
              <a:t> = 60</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Planurile se potrivesc la 40 u.m. pe produs și 60 de produse pe zi.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Care mărime se referă la un preț și nu la întreaga relație?. Echilibrul potrivește două planuri. Deficitul și excesul creează presiuni de ajustare. Un eveniment nou poate schimba echilibru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2. Cererea și oferta. Echilibrul și dezechilibrul pieței</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