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Măsurăm reacția cantității cerute sau oferite la schimbarea unui factor. Interpretăm procentele și semnele coeficienților. Legăm rezultatele de încasări și de adaptarea firmelor.</a:t>
            </a:r>
          </a:p>
          <a:p>
            <a:r>
              <a:rPr sz="1400" b="0" lang="ro-RO">
                <a:solidFill>
                  <a:srgbClr val="24313D"/>
                </a:solidFill>
                <a:latin typeface="Arial"/>
              </a:rPr>
              <a:t>Întrebarea care ne conduce este aceasta: Cât de puternic reacționează cumpărătorii?</a:t>
            </a:r>
          </a:p>
          <a:p>
            <a:r>
              <a:rPr sz="1400" b="0" lang="ro-RO">
                <a:solidFill>
                  <a:srgbClr val="24313D"/>
                </a:solidFill>
                <a:latin typeface="Arial"/>
              </a:rPr>
              <a:t>Nu urmărim să refacem întreaga lecție. Alegem mecanismul central al temei și îl folosim într-un singur exemplu. La final trecem la problemele seminarului. Invităm studenții să observe cine alege și ce restricție întâlnește.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Aceeași scumpire poate avea efecte diferite.</a:t>
            </a:r>
          </a:p>
          <a:p>
            <a:r>
              <a:rPr sz="1400" b="0" lang="ro-RO">
                <a:solidFill>
                  <a:srgbClr val="24313D"/>
                </a:solidFill>
                <a:latin typeface="Arial"/>
              </a:rPr>
              <a:t>Panta măsoară o modificare în unități fizice pe unitate monetară. Elasticitatea compară procente și nu are unitate de măsură. Schimbarea kilogramelor în grame modifică panta numerică. Ea nu schimbă elasticitatea aceleiași relații.</a:t>
            </a:r>
          </a:p>
          <a:p>
            <a:r>
              <a:rPr sz="1400" b="0" lang="ro-RO">
                <a:solidFill>
                  <a:srgbClr val="24313D"/>
                </a:solidFill>
                <a:latin typeface="Arial"/>
              </a:rPr>
              <a:t>Pe schemă urmărim următoarea legătură: Alternative. Substituenți apropiați. Buget. Importanța cumpărării. Timp. Posibilitatea de adaptare.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Trei intensități ale reacției.</a:t>
            </a:r>
          </a:p>
          <a:p>
            <a:r>
              <a:rPr sz="1400" b="0" lang="ro-RO">
                <a:solidFill>
                  <a:srgbClr val="24313D"/>
                </a:solidFill>
                <a:latin typeface="Arial"/>
              </a:rPr>
              <a:t>Pe schemă urmărim următoarea legătură: Elastică. Valoarea absolută a lui E</a:t>
            </a:r>
            <a:r>
              <a:rPr sz="1008" b="0" baseline="-25000" lang="ro-RO">
                <a:solidFill>
                  <a:srgbClr val="24313D"/>
                </a:solidFill>
                <a:latin typeface="Arial"/>
              </a:rPr>
              <a:t>d</a:t>
            </a:r>
            <a:r>
              <a:rPr sz="1400" b="0" lang="ro-RO">
                <a:solidFill>
                  <a:srgbClr val="24313D"/>
                </a:solidFill>
                <a:latin typeface="Arial"/>
              </a:rPr>
              <a:t> este peste 1. Unitară. Valoarea absolută este 1. Inelastică. Valoarea absolută este sub 1.</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Nu comparăm doar diferențe absolute.</a:t>
            </a:r>
          </a:p>
          <a:p>
            <a:r>
              <a:rPr sz="1400" b="0" lang="ro-RO">
                <a:solidFill>
                  <a:srgbClr val="24313D"/>
                </a:solidFill>
                <a:latin typeface="Arial"/>
              </a:rPr>
              <a:t>Alternativele apropiate fac înlocuirea mai ușoară. Un produs definit foarte îngust poate avea mai mulți substituenți decât o categorie largă. Cererea pentru o anumită marcă poate fi mai sensibilă decât cererea pentru întreaga categorie. Comparația trebuie să folosească aceeași perioadă și aceeași piață.</a:t>
            </a:r>
          </a:p>
          <a:p>
            <a:r>
              <a:rPr sz="1400" b="0" lang="ro-RO">
                <a:solidFill>
                  <a:srgbClr val="24313D"/>
                </a:solidFill>
                <a:latin typeface="Arial"/>
              </a:rPr>
              <a:t>Ponderea în buget și posibilitatea amânării și timpul pentru adaptare pot conta. Pentru un consum indispensabil reacția poate fi mică pe termen scurt. Pe termen lung oamenii pot schimba echipamente sau obiceiuri. Acestea sunt tendințe și nu un clasament universal al bunurilor.</a:t>
            </a:r>
          </a:p>
          <a:p>
            <a:r>
              <a:rPr sz="1400" b="0" lang="ro-RO">
                <a:solidFill>
                  <a:srgbClr val="24313D"/>
                </a:solidFill>
                <a:latin typeface="Arial"/>
              </a:rPr>
              <a:t>Citim mecanismul în această ordine: Preț. Schimbare procentuală. Cantitate. Reacție procentuală. Elasticitate. Raport fără unitate de măsură.</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Pe cererea liniară calculul este direct.</a:t>
            </a:r>
          </a:p>
          <a:p>
            <a:r>
              <a:rPr sz="1400" b="0" lang="ro-RO">
                <a:solidFill>
                  <a:srgbClr val="24313D"/>
                </a:solidFill>
                <a:latin typeface="Arial"/>
              </a:rPr>
              <a:t>Un elev poate observa că linia are aceeași înclinare și poate presupune elasticitate constantă. Calculul arată de ce presupunerea este greșită. Elasticitatea folosește și poziția punctului.</a:t>
            </a:r>
          </a:p>
          <a:p>
            <a:r>
              <a:rPr sz="1400" b="0" lang="ro-RO">
                <a:solidFill>
                  <a:srgbClr val="24313D"/>
                </a:solidFill>
                <a:latin typeface="Arial"/>
              </a:rPr>
              <a:t>Citim formula înainte de a introduce numerele. Precizăm ce măsoară fiecare simbol și folosim aceeași perioadă pentru toate mărimile. Separăm datele problemei de rezultatul pe care vrem să îl obținem.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O dreaptă poate avea elasticități diferite.</a:t>
            </a:r>
          </a:p>
          <a:p>
            <a:r>
              <a:rPr sz="1400" b="0" lang="ro-RO">
                <a:solidFill>
                  <a:srgbClr val="24313D"/>
                </a:solidFill>
                <a:latin typeface="Arial"/>
              </a:rPr>
              <a:t>Această explicație privește TR. Pentru profit trebuie cunoscute costurile. Dacă producerea unei unități suplimentare este costisitoare cantitatea de profit maxim poate fi mai mică decât cea de încasare maximă. Nu recomandăm ieftinirea numai pe baza creșterii vânzărilor.</a:t>
            </a:r>
          </a:p>
          <a:p>
            <a:r>
              <a:rPr sz="1400" b="0" lang="ro-RO">
                <a:solidFill>
                  <a:srgbClr val="24313D"/>
                </a:solidFill>
                <a:latin typeface="Arial"/>
              </a:rPr>
              <a:t>În acest desen panta funcției Q</a:t>
            </a:r>
            <a:r>
              <a:rPr sz="1008" b="0" baseline="-25000" lang="ro-RO">
                <a:solidFill>
                  <a:srgbClr val="24313D"/>
                </a:solidFill>
                <a:latin typeface="Arial"/>
              </a:rPr>
              <a:t>d</a:t>
            </a:r>
            <a:r>
              <a:rPr sz="1400" b="0" lang="ro-RO">
                <a:solidFill>
                  <a:srgbClr val="24313D"/>
                </a:solidFill>
                <a:latin typeface="Arial"/>
              </a:rPr>
              <a:t> = 40 − 2P este −2. La P = 10 cantitatea este 20. Raportul dintre preț și cantitate este 1/2. În alte puncte se schimbă acel raport chiar dacă dreapta are aceeași pantă. Reamintim că elasticitatea punctuală descrie o reacție locală. Pentru o schimbare mare a prețului am verifica separat noile încasări.</a:t>
            </a:r>
          </a:p>
          <a:p>
            <a:r>
              <a:rPr sz="1400" b="0" lang="ro-RO">
                <a:solidFill>
                  <a:srgbClr val="24313D"/>
                </a:solidFill>
                <a:latin typeface="Arial"/>
              </a:rPr>
              <a:t>Începem cu axele și unitățile. Urmărim apoi liniile și punctul marcat. Graficul nu este o a doua problemă. El explică aceeași situație numerică pe care o vom calcula. În punctul P = 10 și Q = 20 elasticitatea este −1.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Panta și elasticitatea nu sunt identice.</a:t>
            </a:r>
          </a:p>
          <a:p>
            <a:r>
              <a:rPr sz="1400" b="0" lang="ro-RO">
                <a:solidFill>
                  <a:srgbClr val="24313D"/>
                </a:solidFill>
                <a:latin typeface="Arial"/>
              </a:rPr>
              <a:t>Încasările totale sunt TR = P × Q. O reducere a prețului aduce mai puțini bani pentru fiecare unitate și poate aduce mai multe unități vândute. Rezultatul depinde de intensitatea celui de-al doilea efect.</a:t>
            </a:r>
          </a:p>
          <a:p>
            <a:r>
              <a:rPr sz="1400" b="0" lang="ro-RO">
                <a:solidFill>
                  <a:srgbClr val="24313D"/>
                </a:solidFill>
                <a:latin typeface="Arial"/>
              </a:rPr>
              <a:t>În zona elastică a unei cereri neschimbate o reducere mică de preț mărește TR. În zona inelastică aceeași direcție reduce TR. La elasticitate unitară efectele se compensează local. Pentru o cerere liniară încasările sunt maxime la mijlocul segmentului.</a:t>
            </a:r>
          </a:p>
          <a:p>
            <a:r>
              <a:rPr sz="1400" b="0" lang="ro-RO">
                <a:solidFill>
                  <a:srgbClr val="24313D"/>
                </a:solidFill>
                <a:latin typeface="Arial"/>
              </a:rPr>
              <a:t>Pe schemă urmărim următoarea legătură: Panta. Compară modificări absolute. Elasticitatea. Compară modificări procentuale.</a:t>
            </a:r>
          </a:p>
          <a:p>
            <a:r>
              <a:rPr sz="1400" b="0" lang="ro-RO">
                <a:solidFill>
                  <a:srgbClr val="24313D"/>
                </a:solidFill>
                <a:latin typeface="Arial"/>
              </a:rPr>
              <a:t>Verificare orală: De ce nu comparăm doar semnul coeficientului? Răspuns așteptat: Semnul arată direcția. Valoarea absolută arată intensitatea.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Cererea este Q</a:t>
            </a:r>
            <a:r>
              <a:rPr sz="1008" b="0" baseline="-25000" lang="ro-RO">
                <a:solidFill>
                  <a:srgbClr val="24313D"/>
                </a:solidFill>
                <a:latin typeface="Arial"/>
              </a:rPr>
              <a:t>d</a:t>
            </a:r>
            <a:r>
              <a:rPr sz="1400" b="0" lang="ro-RO">
                <a:solidFill>
                  <a:srgbClr val="24313D"/>
                </a:solidFill>
                <a:latin typeface="Arial"/>
              </a:rPr>
              <a:t> = 40 − 2P. Prețul analizat este 10 u.m. pe produs. Q este numărul de produse pe perioadă.</a:t>
            </a:r>
          </a:p>
          <a:p>
            <a:r>
              <a:rPr sz="1400" b="0" lang="ro-RO">
                <a:solidFill>
                  <a:srgbClr val="24313D"/>
                </a:solidFill>
                <a:latin typeface="Arial"/>
              </a:rPr>
              <a:t>Cerințele sunt: Calculați cantitatea cerută. Calculați și interpretați elasticitatea punctuală.</a:t>
            </a:r>
          </a:p>
          <a:p>
            <a:r>
              <a:rPr sz="1400" b="0" lang="ro-RO">
                <a:solidFill>
                  <a:srgbClr val="24313D"/>
                </a:solidFill>
                <a:latin typeface="Arial"/>
              </a:rPr>
              <a:t>Le oferim studenților timp să scrie relația necesară și să identifice datele. Nu afișăm încă soluția. Îi rugăm să explice ce caută și de ce formula aleasă răspunde cerinței. Păstrăm aceeași perioadă și aceeași unitate pe parcursul calculului. Corectăm întâi alegerea relației și abia apoi operațiile aritmetice.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Parcurgem soluția în ordinea cerințelor.</a:t>
            </a:r>
          </a:p>
          <a:p>
            <a:r>
              <a:rPr sz="1400" b="0" lang="ro-RO">
                <a:solidFill>
                  <a:srgbClr val="24313D"/>
                </a:solidFill>
                <a:latin typeface="Arial"/>
              </a:rPr>
              <a:t>Cantitatea. Q = 40 − 2 × 10 = 20.</a:t>
            </a:r>
          </a:p>
          <a:p>
            <a:r>
              <a:rPr sz="1400" b="0" lang="ro-RO">
                <a:solidFill>
                  <a:srgbClr val="24313D"/>
                </a:solidFill>
                <a:latin typeface="Arial"/>
              </a:rPr>
              <a:t>Coeficientul. E</a:t>
            </a:r>
            <a:r>
              <a:rPr sz="1008" b="0" baseline="-25000" lang="ro-RO">
                <a:solidFill>
                  <a:srgbClr val="24313D"/>
                </a:solidFill>
                <a:latin typeface="Arial"/>
              </a:rPr>
              <a:t>d</a:t>
            </a:r>
            <a:r>
              <a:rPr sz="1400" b="0" lang="ro-RO">
                <a:solidFill>
                  <a:srgbClr val="24313D"/>
                </a:solidFill>
                <a:latin typeface="Arial"/>
              </a:rPr>
              <a:t> = −2 × 10/20 = −1.</a:t>
            </a:r>
          </a:p>
          <a:p>
            <a:r>
              <a:rPr sz="1400" b="0" lang="ro-RO">
                <a:solidFill>
                  <a:srgbClr val="24313D"/>
                </a:solidFill>
                <a:latin typeface="Arial"/>
              </a:rPr>
              <a:t>Interpretarea. Cererea este unitară în acest punct.</a:t>
            </a:r>
          </a:p>
          <a:p>
            <a:r>
              <a:rPr sz="1400" b="0" lang="ro-RO">
                <a:solidFill>
                  <a:srgbClr val="24313D"/>
                </a:solidFill>
                <a:latin typeface="Arial"/>
              </a:rPr>
              <a:t>Reacția procentuală locală are aceeași mărime ca schimbarea prețului și sens opus.</a:t>
            </a:r>
          </a:p>
          <a:p>
            <a:r>
              <a:rPr sz="1400" b="0" lang="ro-RO">
                <a:solidFill>
                  <a:srgbClr val="24313D"/>
                </a:solidFill>
                <a:latin typeface="Arial"/>
              </a:rPr>
              <a:t>Verificăm prin înlocuire în relațiile inițiale și explicăm semnul rezultatului. O valoare negativă nu este automat o eroare de calcul. Ea poate exprima o pierdere sau o reducere a indicatorului. Cerem unui student să spună rezultatul împreună cu unitatea și sensul economic.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Reținem trei idei. Elasticitatea nu are unitate de măsură. Semnul arată direcția reacției. Mărimea ajută la interpretarea încasărilor.</a:t>
            </a:r>
          </a:p>
          <a:p>
            <a:r>
              <a:rPr sz="1400" b="0" lang="ro-RO">
                <a:solidFill>
                  <a:srgbClr val="24313D"/>
                </a:solidFill>
                <a:latin typeface="Arial"/>
              </a:rPr>
              <a:t>Întrebarea de verificare este: De ce nu comparăm doar semnul coeficientului?</a:t>
            </a:r>
          </a:p>
          <a:p>
            <a:r>
              <a:rPr sz="1400" b="0" lang="ro-RO">
                <a:solidFill>
                  <a:srgbClr val="24313D"/>
                </a:solidFill>
                <a:latin typeface="Arial"/>
              </a:rPr>
              <a:t>Răspuns: Semnul arată direcția. Valoarea absolută arată intensitatea.</a:t>
            </a:r>
          </a:p>
          <a:p>
            <a:r>
              <a:rPr sz="1400" b="0" lang="ro-RO">
                <a:solidFill>
                  <a:srgbClr val="24313D"/>
                </a:solidFill>
                <a:latin typeface="Arial"/>
              </a:rPr>
              <a:t>În continuare deschidem exercițiile seminarului. Folosim aceeași succesiune: identificăm datele și restricția. Alegem relația potrivită. Calculăm și verificăm. Încheiem cu o explicație economică în cuvinte proprii.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lasticitatea cererii și ofertei. Cât de puternic reacționează cumpărătorii?. Interpretăm elasticitatea punctuală și legătura cu încasăril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ceeași scumpire poate avea efecte diferite. Clienții reacționează diferit în funcție de alternativele lor. Alternative. Substituenți apropiați. Buget. Importanța cumpărării. Timp. Posibilitatea de adaptar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rei intensități ale reacției. Elastică. Valoarea absolută a lui Ed este peste 1. Unitară. Valoarea absolută este 1. Inelastică. Valoarea absolută este sub 1."/>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u comparăm doar diferențe absolute. Preț. Schimbare procentuală. Cantitate. Reacție procentuală. Elasticitate. Raport fără unitate de măsură."/>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e cererea liniară calculul este direct. Ed = panta cererii × P/Q. Pentru Qd = 40 − 2P panta este −2. La fiecare punct se schimbă raportul P/Q."/>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 dreaptă poate avea elasticități diferite. Cererea este Qd = 40 − 2P. În punctul P = 10 și Q = 20 elasticitatea este −1."/>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nta și elasticitatea nu sunt identice. Panta. Compară modificări absolute. Elasticitatea. Compară modificări procentual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3</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Calcul punctual pe cererea liniară</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08 / 10</a:t>
            </a:r>
          </a:p>
        </p:txBody>
      </p:sp>
      <p:sp>
        <p:nvSpPr>
          <p:cNvPr id="83" name="Rounded Rectangle 82"/>
          <p:cNvSpPr/>
          <p:nvPr/>
        </p:nvSpPr>
        <p:spPr>
          <a:xfrm>
            <a:off x="508000" y="1714500"/>
            <a:ext cx="11176000" cy="2095499"/>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700" b="0" lang="ro-RO">
                <a:solidFill>
                  <a:srgbClr val="24313D"/>
                </a:solidFill>
                <a:latin typeface="Arial"/>
              </a:rPr>
              <a:t>Cererea este Q</a:t>
            </a:r>
            <a:r>
              <a:rPr sz="1943" b="0" baseline="-25000" lang="ro-RO">
                <a:solidFill>
                  <a:srgbClr val="24313D"/>
                </a:solidFill>
                <a:latin typeface="Arial"/>
              </a:rPr>
              <a:t>d</a:t>
            </a:r>
            <a:r>
              <a:rPr sz="2700" b="0" lang="ro-RO">
                <a:solidFill>
                  <a:srgbClr val="24313D"/>
                </a:solidFill>
                <a:latin typeface="Arial"/>
              </a:rPr>
              <a:t> = 40 − 2P. Prețul analizat este 10 u.m. pe produs. Q este numărul de produse pe perioadă.</a:t>
            </a:r>
          </a:p>
        </p:txBody>
      </p:sp>
      <p:sp>
        <p:nvSpPr>
          <p:cNvPr id="84" name="TextBox 83"/>
          <p:cNvSpPr txBox="1"/>
          <p:nvPr/>
        </p:nvSpPr>
        <p:spPr>
          <a:xfrm>
            <a:off x="508000" y="3905249"/>
            <a:ext cx="11176000" cy="444500"/>
          </a:xfrm>
          <a:prstGeom prst="rect">
            <a:avLst/>
          </a:prstGeom>
          <a:noFill/>
        </p:spPr>
        <p:txBody>
          <a:bodyPr wrap="square" anchor="ctr" lIns="0" rIns="0" tIns="0" bIns="0">
            <a:spAutoFit/>
          </a:bodyPr>
          <a:lstStyle/>
          <a:p>
            <a:pPr>
              <a:lnSpc>
                <a:spcPct val="125000"/>
              </a:lnSpc>
              <a:spcAft>
                <a:spcPts val="0"/>
              </a:spcAft>
            </a:pPr>
            <a:r>
              <a:rPr sz="2200" b="1" lang="ro-RO">
                <a:solidFill>
                  <a:srgbClr val="123B5D"/>
                </a:solidFill>
                <a:latin typeface="Arial"/>
              </a:rPr>
              <a:t>Cerințe</a:t>
            </a:r>
          </a:p>
        </p:txBody>
      </p:sp>
      <p:sp>
        <p:nvSpPr>
          <p:cNvPr id="85" name="TextBox 84"/>
          <p:cNvSpPr txBox="1"/>
          <p:nvPr/>
        </p:nvSpPr>
        <p:spPr>
          <a:xfrm>
            <a:off x="698500" y="44767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1. Calculați cantitatea cerută.</a:t>
            </a:r>
          </a:p>
        </p:txBody>
      </p:sp>
      <p:sp>
        <p:nvSpPr>
          <p:cNvPr id="86" name="TextBox 85"/>
          <p:cNvSpPr txBox="1"/>
          <p:nvPr/>
        </p:nvSpPr>
        <p:spPr>
          <a:xfrm>
            <a:off x="698500" y="51752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2. Calculați și interpretați elasticitatea punctuală.</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3</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Semnul și mărimea spun lucruri diferite</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09 / 10</a:t>
            </a:r>
          </a:p>
        </p:txBody>
      </p:sp>
      <p:sp>
        <p:nvSpPr>
          <p:cNvPr id="83" name="Rounded Rectangle 82"/>
          <p:cNvSpPr/>
          <p:nvPr/>
        </p:nvSpPr>
        <p:spPr>
          <a:xfrm>
            <a:off x="508000" y="1714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4" name="TextBox 83"/>
          <p:cNvSpPr txBox="1"/>
          <p:nvPr/>
        </p:nvSpPr>
        <p:spPr>
          <a:xfrm>
            <a:off x="711200" y="1828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Cantitatea</a:t>
            </a:r>
          </a:p>
        </p:txBody>
      </p:sp>
      <p:sp>
        <p:nvSpPr>
          <p:cNvPr id="85" name="TextBox 84"/>
          <p:cNvSpPr txBox="1"/>
          <p:nvPr/>
        </p:nvSpPr>
        <p:spPr>
          <a:xfrm>
            <a:off x="711200" y="2171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Q = 40 − 2 × 10 = 20</a:t>
            </a:r>
          </a:p>
        </p:txBody>
      </p:sp>
      <p:sp>
        <p:nvSpPr>
          <p:cNvPr id="86" name="Rounded Rectangle 85"/>
          <p:cNvSpPr/>
          <p:nvPr/>
        </p:nvSpPr>
        <p:spPr>
          <a:xfrm>
            <a:off x="508000" y="2857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7" name="TextBox 86"/>
          <p:cNvSpPr txBox="1"/>
          <p:nvPr/>
        </p:nvSpPr>
        <p:spPr>
          <a:xfrm>
            <a:off x="711200" y="2971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Coeficientul</a:t>
            </a:r>
          </a:p>
        </p:txBody>
      </p:sp>
      <p:sp>
        <p:nvSpPr>
          <p:cNvPr id="88" name="TextBox 87"/>
          <p:cNvSpPr txBox="1"/>
          <p:nvPr/>
        </p:nvSpPr>
        <p:spPr>
          <a:xfrm>
            <a:off x="711200" y="3314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E</a:t>
            </a:r>
            <a:r>
              <a:rPr sz="1872" b="1" baseline="-25000" lang="ro-RO">
                <a:solidFill>
                  <a:srgbClr val="123B5D"/>
                </a:solidFill>
                <a:latin typeface="Arial"/>
              </a:rPr>
              <a:t>d</a:t>
            </a:r>
            <a:r>
              <a:rPr sz="2600" b="1" lang="ro-RO">
                <a:solidFill>
                  <a:srgbClr val="123B5D"/>
                </a:solidFill>
                <a:latin typeface="Arial"/>
              </a:rPr>
              <a:t> = −2 × 10/20 = −1</a:t>
            </a:r>
          </a:p>
        </p:txBody>
      </p:sp>
      <p:sp>
        <p:nvSpPr>
          <p:cNvPr id="89" name="Rounded Rectangle 88"/>
          <p:cNvSpPr/>
          <p:nvPr/>
        </p:nvSpPr>
        <p:spPr>
          <a:xfrm>
            <a:off x="508000" y="4000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90" name="TextBox 89"/>
          <p:cNvSpPr txBox="1"/>
          <p:nvPr/>
        </p:nvSpPr>
        <p:spPr>
          <a:xfrm>
            <a:off x="711200" y="4114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Interpretarea</a:t>
            </a:r>
          </a:p>
        </p:txBody>
      </p:sp>
      <p:sp>
        <p:nvSpPr>
          <p:cNvPr id="91" name="TextBox 90"/>
          <p:cNvSpPr txBox="1"/>
          <p:nvPr/>
        </p:nvSpPr>
        <p:spPr>
          <a:xfrm>
            <a:off x="711200" y="4457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Cererea este unitară în acest punct.</a:t>
            </a:r>
          </a:p>
        </p:txBody>
      </p:sp>
      <p:sp>
        <p:nvSpPr>
          <p:cNvPr id="92" name="Rounded Rectangle 91"/>
          <p:cNvSpPr/>
          <p:nvPr/>
        </p:nvSpPr>
        <p:spPr>
          <a:xfrm>
            <a:off x="508000" y="5334000"/>
            <a:ext cx="11176000" cy="952500"/>
          </a:xfrm>
          <a:prstGeom prst="roundRect">
            <a:avLst>
              <a:gd name="adj" fmla="val 12000"/>
            </a:avLst>
          </a:prstGeom>
          <a:solidFill>
            <a:srgbClr val="F0F8EC"/>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100" b="0" lang="ro-RO">
                <a:solidFill>
                  <a:srgbClr val="123B5D"/>
                </a:solidFill>
                <a:latin typeface="Arial"/>
              </a:rPr>
              <a:t>Reacția procentuală locală are aceeași mărime ca schimbarea prețului și sens opus.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 aici încep exercițiile seminarului. De ce nu comparăm doar semnul coeficientului?. Elasticitatea nu are unitate de măsură. Semnul arată direcția reacției. Mărimea ajută la interpretarea încasărilo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Seminarul 3. Elasticitatea cererii și ofertei</dc:title>
  <dc:subject>Introducere pentru seminar și o aplicație</dc:subject>
  <dc:creator>ASEM</dc:creator>
  <cp:keywords/>
  <dc:description>generated using python-pptx</dc:description>
  <cp:lastModifiedBy>ASEM</cp:lastModifiedBy>
  <cp:revision>1</cp:revision>
  <dcterms:created xsi:type="dcterms:W3CDTF">2013-01-27T09:14:16Z</dcterms:created>
  <dcterms:modified xsi:type="dcterms:W3CDTF">2013-01-27T09:15:58Z</dcterms:modified>
  <cp:category/>
  <dc:language>ro-RO</dc:language>
</cp:coreProperties>
</file>