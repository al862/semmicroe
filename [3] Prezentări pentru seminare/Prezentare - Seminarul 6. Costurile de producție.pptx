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Aceeași producție poate fi obținută prin combinații diferite de resurse. Calculăm costul total și costurile pe produs. Comparăm apoi costul unei unități suplimentare cu media și explicăm alegerea factorilor.</a:t>
            </a:r>
          </a:p>
          <a:p>
            <a:r>
              <a:rPr sz="1400" b="0" lang="ro-RO">
                <a:solidFill>
                  <a:srgbClr val="24313D"/>
                </a:solidFill>
                <a:latin typeface="Arial"/>
              </a:rPr>
              <a:t>Întrebarea care ne conduce este aceasta: Cât costă producția și cât costă încă un produs?</a:t>
            </a:r>
          </a:p>
          <a:p>
            <a:r>
              <a:rPr sz="1400" b="0" lang="ro-RO">
                <a:solidFill>
                  <a:srgbClr val="24313D"/>
                </a:solidFill>
                <a:latin typeface="Arial"/>
              </a:rPr>
              <a:t>Nu urmărim să refacem întreaga lecție. Alegem mecanismul central al temei și îl folosim într-un singur exemplu. La final trecem la problemele seminarului. Invităm studenții să observe cine alege și ce restricție întâlnește.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Un atelier plătește chiar înainte să producă.</a:t>
            </a:r>
          </a:p>
          <a:p>
            <a:r>
              <a:rPr sz="1400" b="0" lang="ro-RO">
                <a:solidFill>
                  <a:srgbClr val="24313D"/>
                </a:solidFill>
                <a:latin typeface="Arial"/>
              </a:rPr>
              <a:t>Proprietarul unui atelier poate folosi propriul spațiu sau îl poate închiria altcuiva. Dacă îl folosește în afacere nu plătește chirie unei alte persoane. Totuși renunță la un venit posibil. Costul economic include această oportunitate și nu doar plățile observate.</a:t>
            </a:r>
          </a:p>
          <a:p>
            <a:r>
              <a:rPr sz="1400" b="0" lang="ro-RO">
                <a:solidFill>
                  <a:srgbClr val="24313D"/>
                </a:solidFill>
                <a:latin typeface="Arial"/>
              </a:rPr>
              <a:t>Costurile explicite apar pentru resurse cumpărate de la alții. Costurile implicite reflectă utilizarea resurselor proprii și cea mai bună alternativă abandonată. Profitul contabil și profitul economic diferă deoarece al doilea include costurile implicite. Nu adăugăm de două ori aceeași alternativă.</a:t>
            </a:r>
          </a:p>
          <a:p>
            <a:r>
              <a:rPr sz="1400" b="0" lang="ro-RO">
                <a:solidFill>
                  <a:srgbClr val="24313D"/>
                </a:solidFill>
                <a:latin typeface="Arial"/>
              </a:rPr>
              <a:t>Pe schemă urmărim următoarea legătură: Cost fix. Capacitatea disponibilă. Cost variabil. Resursele consumate de lot. Cost total. Ambele componente.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Trei moduri de a privi costul.</a:t>
            </a:r>
          </a:p>
          <a:p>
            <a:r>
              <a:rPr sz="1400" b="0" lang="ro-RO">
                <a:solidFill>
                  <a:srgbClr val="24313D"/>
                </a:solidFill>
                <a:latin typeface="Arial"/>
              </a:rPr>
              <a:t>Costul fix FC nu depinde de Q în perioada și intervalul analizat. Costul variabil VC se schimbă cu producția. Costul total este TC = FC + VC. „Fix” nu înseamnă neschimbat pentru totdeauna și nici identic între firme.</a:t>
            </a:r>
          </a:p>
          <a:p>
            <a:r>
              <a:rPr sz="1400" b="0" lang="ro-RO">
                <a:solidFill>
                  <a:srgbClr val="24313D"/>
                </a:solidFill>
                <a:latin typeface="Arial"/>
              </a:rPr>
              <a:t>VC poate crește proporțional cu Q sau mai repede sau mai încet. În cazul proporțional AVC este constant. Productivitatea și prețurile resurselor determină forma costului variabil. De aceea nu presupunem că orice cost variabil are aceeași curbă.</a:t>
            </a:r>
          </a:p>
          <a:p>
            <a:r>
              <a:rPr sz="1400" b="0" lang="ro-RO">
                <a:solidFill>
                  <a:srgbClr val="24313D"/>
                </a:solidFill>
                <a:latin typeface="Arial"/>
              </a:rPr>
              <a:t>Pe schemă urmărim următoarea legătură: TC. Costul întregii producții. ATC. Costul pe produs în medie. MC. Costul unei modificări suplimentare.</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Același cost fix se repartizează.</a:t>
            </a:r>
          </a:p>
          <a:p>
            <a:r>
              <a:rPr sz="1400" b="0" lang="ro-RO">
                <a:solidFill>
                  <a:srgbClr val="24313D"/>
                </a:solidFill>
                <a:latin typeface="Arial"/>
              </a:rPr>
              <a:t>ATC = TC/Q arată costul repartizat pe unitate. AFC = FC/Q și AVC = VC/Q sunt componentele sale. Costul marginal MC arată schimbarea TC când Q crește. Pentru un tabel folosim ΔTC/ΔQ. Pentru o funcție netedă putem calcula valoarea punctuală prin derivată.</a:t>
            </a:r>
          </a:p>
          <a:p>
            <a:r>
              <a:rPr sz="1400" b="0" lang="ro-RO">
                <a:solidFill>
                  <a:srgbClr val="24313D"/>
                </a:solidFill>
                <a:latin typeface="Arial"/>
              </a:rPr>
              <a:t>Dacă noul lot costă pe unitate mai puțin decât media existentă media scade. Dacă îl costă mai mult media crește. În modelul continuu uzual MC intersectează ATC și AVC la minimele lor interioare. Un minim la marginea domeniului nu trebuie forțat în aceeași regulă de egalitate.</a:t>
            </a:r>
          </a:p>
          <a:p>
            <a:r>
              <a:rPr sz="1400" b="0" lang="ro-RO">
                <a:solidFill>
                  <a:srgbClr val="24313D"/>
                </a:solidFill>
                <a:latin typeface="Arial"/>
              </a:rPr>
              <a:t>Citim mecanismul în această ordine: Mai mult Q. Crește numărul produselor. Același FC. Capacitatea nu se modifică. AFC mai mic. Costul fix revine la mai multe produse.</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Întrebarea stabilește formula.</a:t>
            </a:r>
          </a:p>
          <a:p>
            <a:r>
              <a:rPr sz="1400" b="0" lang="ro-RO">
                <a:solidFill>
                  <a:srgbClr val="24313D"/>
                </a:solidFill>
                <a:latin typeface="Arial"/>
              </a:rPr>
              <a:t>Schimbarea aditivă a FC mută TC și ATC dar nu schimbă MC sau AVC. În schimb scumpirea resursei variabile poate schimba MC. Trebuie verificat ce componentă a costului este afectată de eveniment.</a:t>
            </a:r>
          </a:p>
          <a:p>
            <a:r>
              <a:rPr sz="1400" b="0" lang="ro-RO">
                <a:solidFill>
                  <a:srgbClr val="24313D"/>
                </a:solidFill>
                <a:latin typeface="Arial"/>
              </a:rPr>
              <a:t>Citim formula înainte de a introduce numerele. Precizăm ce măsoară fiecare simbol și folosim aceeași perioadă pentru toate mărimile. Separăm datele problemei de rezultatul pe care vrem să îl obținem.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Costul total poate crește iar media poate scădea.</a:t>
            </a:r>
          </a:p>
          <a:p>
            <a:r>
              <a:rPr sz="1400" b="0" lang="ro-RO">
                <a:solidFill>
                  <a:srgbClr val="24313D"/>
                </a:solidFill>
                <a:latin typeface="Arial"/>
              </a:rPr>
              <a:t>Aceeași logică explică relația dintre MC și ATC în modelul continuu. Un cost marginal sub medie trage media în jos. Un cost marginal peste medie o ridică. Semnul modificării mediei și semnul modificării totalului trebuie deosebite.</a:t>
            </a:r>
          </a:p>
          <a:p>
            <a:r>
              <a:rPr sz="1400" b="0" lang="ro-RO">
                <a:solidFill>
                  <a:srgbClr val="24313D"/>
                </a:solidFill>
                <a:latin typeface="Arial"/>
              </a:rPr>
              <a:t>Pentru funcția TC = 100 + 5Q fiecare produs suplimentar adaugă 5 lei. Costul fix de 100 de lei nu se modifică în comparație. La 20 de produse costul total este 200 iar media este 10. Pe măsură ce producția crește componenta fixă pe produs se reduce. Aceasta explică de ce media se poate apropia de 5 în timp ce totalul continuă să crească.</a:t>
            </a:r>
          </a:p>
          <a:p>
            <a:r>
              <a:rPr sz="1400" b="0" lang="ro-RO">
                <a:solidFill>
                  <a:srgbClr val="24313D"/>
                </a:solidFill>
                <a:latin typeface="Arial"/>
              </a:rPr>
              <a:t>Începem cu axele și unitățile. Urmărim apoi liniile și punctul marcat. Graficul nu este o a doua problemă. El explică aceeași situație numerică pe care o vom calcula. ATC = 100/Q + 5 scade spre 5. MC rămâne 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O medie mai mică nu înseamnă un total mai mic.</a:t>
            </a:r>
          </a:p>
          <a:p>
            <a:r>
              <a:rPr sz="1400" b="0" lang="ro-RO">
                <a:solidFill>
                  <a:srgbClr val="24313D"/>
                </a:solidFill>
                <a:latin typeface="Arial"/>
              </a:rPr>
              <a:t>Costurile istorice arată sume aferente unei achiziții anterioare. Costul de înlocuire privește resursa în condițiile curente. Costul relevant pentru alegerea de astăzi depinde de alternativele disponibile. O sumă deja plătită și nerecuperabilă nu se schimbă prin producerea încă unei unități.</a:t>
            </a:r>
          </a:p>
          <a:p>
            <a:r>
              <a:rPr sz="1400" b="0" lang="ro-RO">
                <a:solidFill>
                  <a:srgbClr val="24313D"/>
                </a:solidFill>
                <a:latin typeface="Arial"/>
              </a:rPr>
              <a:t>Înainte de comparație precizăm cantitatea și perioada și costurile care se pot evita. Întreruperea producției de mâine poate economisi materiale fără a elimina chiria lunii. Ieșirea definitivă din activitate poate schimba mai multe costuri. Același element poate fi fix pentru o decizie și variabil pentru alta.</a:t>
            </a:r>
          </a:p>
          <a:p>
            <a:r>
              <a:rPr sz="1400" b="0" lang="ro-RO">
                <a:solidFill>
                  <a:srgbClr val="24313D"/>
                </a:solidFill>
                <a:latin typeface="Arial"/>
              </a:rPr>
              <a:t>Pe schemă urmărim următoarea legătură: Total. Mai multe produse pot cere mai mulți bani. Medie. Costul fix se împarte la mai multe produse.</a:t>
            </a:r>
          </a:p>
          <a:p>
            <a:r>
              <a:rPr sz="1400" b="0" lang="ro-RO">
                <a:solidFill>
                  <a:srgbClr val="24313D"/>
                </a:solidFill>
                <a:latin typeface="Arial"/>
              </a:rPr>
              <a:t>Verificare orală: Sunt media și costul următoarei unități același lucru? Răspuns așteptat: Nu. Media repartizează totalul. MC descrie sporul.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Atelierul are TC = 100 + 5Q. Q este numărul de produse pe zi iar costul este în lei. Astăzi se produc 20 de produse.</a:t>
            </a:r>
          </a:p>
          <a:p>
            <a:r>
              <a:rPr sz="1400" b="0" lang="ro-RO">
                <a:solidFill>
                  <a:srgbClr val="24313D"/>
                </a:solidFill>
                <a:latin typeface="Arial"/>
              </a:rPr>
              <a:t>Cerințele sunt: Calculați FC și VC și TC. Calculați ATC și MC pentru încă un produs.</a:t>
            </a:r>
          </a:p>
          <a:p>
            <a:r>
              <a:rPr sz="1400" b="0" lang="ro-RO">
                <a:solidFill>
                  <a:srgbClr val="24313D"/>
                </a:solidFill>
                <a:latin typeface="Arial"/>
              </a:rPr>
              <a:t>Le oferim studenților timp să scrie relația necesară și să identifice datele. Nu afișăm încă soluția. Îi rugăm să explice ce caută și de ce formula aleasă răspunde cerinței. Păstrăm aceeași perioadă și aceeași unitate pe parcursul calculului. Corectăm întâi alegerea relației și abia apoi operațiile aritmetice.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Parcurgem soluția în ordinea cerințelor.</a:t>
            </a:r>
          </a:p>
          <a:p>
            <a:r>
              <a:rPr sz="1400" b="0" lang="ro-RO">
                <a:solidFill>
                  <a:srgbClr val="24313D"/>
                </a:solidFill>
                <a:latin typeface="Arial"/>
              </a:rPr>
              <a:t>Componente. FC = 100; VC = 5 × 20 = 100.</a:t>
            </a:r>
          </a:p>
          <a:p>
            <a:r>
              <a:rPr sz="1400" b="0" lang="ro-RO">
                <a:solidFill>
                  <a:srgbClr val="24313D"/>
                </a:solidFill>
                <a:latin typeface="Arial"/>
              </a:rPr>
              <a:t>Total și medie. TC = 200; ATC = 200/20 = 10.</a:t>
            </a:r>
          </a:p>
          <a:p>
            <a:r>
              <a:rPr sz="1400" b="0" lang="ro-RO">
                <a:solidFill>
                  <a:srgbClr val="24313D"/>
                </a:solidFill>
                <a:latin typeface="Arial"/>
              </a:rPr>
              <a:t>Spor. TC(21) − TC(20) = 5 lei.</a:t>
            </a:r>
          </a:p>
          <a:p>
            <a:r>
              <a:rPr sz="1400" b="0" lang="ro-RO">
                <a:solidFill>
                  <a:srgbClr val="24313D"/>
                </a:solidFill>
                <a:latin typeface="Arial"/>
              </a:rPr>
              <a:t>Media este 10 lei pe produs. Încă un produs costă 5 lei în această funcție.</a:t>
            </a:r>
          </a:p>
          <a:p>
            <a:r>
              <a:rPr sz="1400" b="0" lang="ro-RO">
                <a:solidFill>
                  <a:srgbClr val="24313D"/>
                </a:solidFill>
                <a:latin typeface="Arial"/>
              </a:rPr>
              <a:t>Verificăm prin înlocuire în relațiile inițiale și explicăm semnul rezultatului. O valoare negativă nu este automat o eroare de calcul. Ea poate exprima o pierdere sau o reducere a indicatorului. Cerem unui student să spună rezultatul împreună cu unitatea și sensul economic.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Reținem trei idei. Totalul descrie întregul lot. Media repartizează costul pe produs. MC descrie schimbarea suplimentară.</a:t>
            </a:r>
          </a:p>
          <a:p>
            <a:r>
              <a:rPr sz="1400" b="0" lang="ro-RO">
                <a:solidFill>
                  <a:srgbClr val="24313D"/>
                </a:solidFill>
                <a:latin typeface="Arial"/>
              </a:rPr>
              <a:t>Întrebarea de verificare este: Sunt media și costul următoarei unități același lucru?</a:t>
            </a:r>
          </a:p>
          <a:p>
            <a:r>
              <a:rPr sz="1400" b="0" lang="ro-RO">
                <a:solidFill>
                  <a:srgbClr val="24313D"/>
                </a:solidFill>
                <a:latin typeface="Arial"/>
              </a:rPr>
              <a:t>Răspuns: Nu. Media repartizează totalul. MC descrie sporul.</a:t>
            </a:r>
          </a:p>
          <a:p>
            <a:r>
              <a:rPr sz="1400" b="0" lang="ro-RO">
                <a:solidFill>
                  <a:srgbClr val="24313D"/>
                </a:solidFill>
                <a:latin typeface="Arial"/>
              </a:rPr>
              <a:t>În continuare deschidem exercițiile seminarului. Folosim aceeași succesiune: identificăm datele și restricția. Alegem relația potrivită. Calculăm și verificăm. Încheiem cu o explicație economică în cuvinte proprii.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sturile de producție. Cât costă producția și cât costă încă un produs?. Separăm totalul de media pe produs și de costul suplimenta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Un atelier plătește chiar înainte să producă. O parte din cost nu depinde de lotul zilei. Cost fix. Capacitatea disponibilă. Cost variabil. Resursele consumate de lot. Cost total. Ambele component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rei moduri de a privi costul. TC. Costul întregii producții. ATC. Costul pe produs în medie. MC. Costul unei modificări suplimentar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celași cost fix se repartizează. Mai mult Q. Crește numărul produselor. Același FC. Capacitatea nu se modifică. AFC mai mic. Costul fix revine la mai multe produs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Întrebarea stabilește formula. TC = FC + VC; ATC = TC/Q. Pentru un interval folosim MC = ΔTC/ΔQ. Mediile și MC sunt exprimate în lei pe produ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stul total poate crește iar media poate scădea. Folosim TC = 100 + 5Q. ATC = 100/Q + 5 scade spre 5. MC rămâne 5."/>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 medie mai mică nu înseamnă un total mai mic. Total. Mai multe produse pot cere mai mulți bani. Medie. Costul fix se împarte la mai multe produs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6</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Costul unui lot de 20 de produse</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08 / 10</a:t>
            </a:r>
          </a:p>
        </p:txBody>
      </p:sp>
      <p:sp>
        <p:nvSpPr>
          <p:cNvPr id="83" name="Rounded Rectangle 82"/>
          <p:cNvSpPr/>
          <p:nvPr/>
        </p:nvSpPr>
        <p:spPr>
          <a:xfrm>
            <a:off x="508000" y="1714500"/>
            <a:ext cx="11176000" cy="2095499"/>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700" b="0" lang="ro-RO">
                <a:solidFill>
                  <a:srgbClr val="24313D"/>
                </a:solidFill>
                <a:latin typeface="Arial"/>
              </a:rPr>
              <a:t>Atelierul are TC = 100 + 5Q. Q este numărul de produse pe zi iar costul este în lei. Astăzi se produc 20 de produse.</a:t>
            </a:r>
          </a:p>
        </p:txBody>
      </p:sp>
      <p:sp>
        <p:nvSpPr>
          <p:cNvPr id="84" name="TextBox 83"/>
          <p:cNvSpPr txBox="1"/>
          <p:nvPr/>
        </p:nvSpPr>
        <p:spPr>
          <a:xfrm>
            <a:off x="508000" y="3905249"/>
            <a:ext cx="11176000" cy="444500"/>
          </a:xfrm>
          <a:prstGeom prst="rect">
            <a:avLst/>
          </a:prstGeom>
          <a:noFill/>
        </p:spPr>
        <p:txBody>
          <a:bodyPr wrap="square" anchor="ctr" lIns="0" rIns="0" tIns="0" bIns="0">
            <a:spAutoFit/>
          </a:bodyPr>
          <a:lstStyle/>
          <a:p>
            <a:pPr>
              <a:lnSpc>
                <a:spcPct val="125000"/>
              </a:lnSpc>
              <a:spcAft>
                <a:spcPts val="0"/>
              </a:spcAft>
            </a:pPr>
            <a:r>
              <a:rPr sz="2200" b="1" lang="ro-RO">
                <a:solidFill>
                  <a:srgbClr val="123B5D"/>
                </a:solidFill>
                <a:latin typeface="Arial"/>
              </a:rPr>
              <a:t>Cerințe</a:t>
            </a:r>
          </a:p>
        </p:txBody>
      </p:sp>
      <p:sp>
        <p:nvSpPr>
          <p:cNvPr id="85" name="TextBox 84"/>
          <p:cNvSpPr txBox="1"/>
          <p:nvPr/>
        </p:nvSpPr>
        <p:spPr>
          <a:xfrm>
            <a:off x="698500" y="44767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1. Calculați FC și VC și TC.</a:t>
            </a:r>
          </a:p>
        </p:txBody>
      </p:sp>
      <p:sp>
        <p:nvSpPr>
          <p:cNvPr id="86" name="TextBox 85"/>
          <p:cNvSpPr txBox="1"/>
          <p:nvPr/>
        </p:nvSpPr>
        <p:spPr>
          <a:xfrm>
            <a:off x="698500" y="51752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2. Calculați ATC și MC pentru încă un produs.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6</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Fiecare indicator răspunde altei întrebări</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09 / 10</a:t>
            </a:r>
          </a:p>
        </p:txBody>
      </p:sp>
      <p:sp>
        <p:nvSpPr>
          <p:cNvPr id="83" name="Rounded Rectangle 82"/>
          <p:cNvSpPr/>
          <p:nvPr/>
        </p:nvSpPr>
        <p:spPr>
          <a:xfrm>
            <a:off x="508000" y="1714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4" name="TextBox 83"/>
          <p:cNvSpPr txBox="1"/>
          <p:nvPr/>
        </p:nvSpPr>
        <p:spPr>
          <a:xfrm>
            <a:off x="711200" y="1828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Componente</a:t>
            </a:r>
          </a:p>
        </p:txBody>
      </p:sp>
      <p:sp>
        <p:nvSpPr>
          <p:cNvPr id="85" name="TextBox 84"/>
          <p:cNvSpPr txBox="1"/>
          <p:nvPr/>
        </p:nvSpPr>
        <p:spPr>
          <a:xfrm>
            <a:off x="711200" y="2171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FC = 100; VC = 5 × 20 = 100</a:t>
            </a:r>
          </a:p>
        </p:txBody>
      </p:sp>
      <p:sp>
        <p:nvSpPr>
          <p:cNvPr id="86" name="Rounded Rectangle 85"/>
          <p:cNvSpPr/>
          <p:nvPr/>
        </p:nvSpPr>
        <p:spPr>
          <a:xfrm>
            <a:off x="508000" y="2857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7" name="TextBox 86"/>
          <p:cNvSpPr txBox="1"/>
          <p:nvPr/>
        </p:nvSpPr>
        <p:spPr>
          <a:xfrm>
            <a:off x="711200" y="2971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Total și medie</a:t>
            </a:r>
          </a:p>
        </p:txBody>
      </p:sp>
      <p:sp>
        <p:nvSpPr>
          <p:cNvPr id="88" name="TextBox 87"/>
          <p:cNvSpPr txBox="1"/>
          <p:nvPr/>
        </p:nvSpPr>
        <p:spPr>
          <a:xfrm>
            <a:off x="711200" y="3314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TC = 200; ATC = 200/20 = 10</a:t>
            </a:r>
          </a:p>
        </p:txBody>
      </p:sp>
      <p:sp>
        <p:nvSpPr>
          <p:cNvPr id="89" name="Rounded Rectangle 88"/>
          <p:cNvSpPr/>
          <p:nvPr/>
        </p:nvSpPr>
        <p:spPr>
          <a:xfrm>
            <a:off x="508000" y="4000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90" name="TextBox 89"/>
          <p:cNvSpPr txBox="1"/>
          <p:nvPr/>
        </p:nvSpPr>
        <p:spPr>
          <a:xfrm>
            <a:off x="711200" y="4114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Spor</a:t>
            </a:r>
          </a:p>
        </p:txBody>
      </p:sp>
      <p:sp>
        <p:nvSpPr>
          <p:cNvPr id="91" name="TextBox 90"/>
          <p:cNvSpPr txBox="1"/>
          <p:nvPr/>
        </p:nvSpPr>
        <p:spPr>
          <a:xfrm>
            <a:off x="711200" y="4457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TC(21) − TC(20) = 5 lei</a:t>
            </a:r>
          </a:p>
        </p:txBody>
      </p:sp>
      <p:sp>
        <p:nvSpPr>
          <p:cNvPr id="92" name="Rounded Rectangle 91"/>
          <p:cNvSpPr/>
          <p:nvPr/>
        </p:nvSpPr>
        <p:spPr>
          <a:xfrm>
            <a:off x="508000" y="5334000"/>
            <a:ext cx="11176000" cy="952500"/>
          </a:xfrm>
          <a:prstGeom prst="roundRect">
            <a:avLst>
              <a:gd name="adj" fmla="val 12000"/>
            </a:avLst>
          </a:prstGeom>
          <a:solidFill>
            <a:srgbClr val="F0F8EC"/>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100" b="0" lang="ro-RO">
                <a:solidFill>
                  <a:srgbClr val="123B5D"/>
                </a:solidFill>
                <a:latin typeface="Arial"/>
              </a:rPr>
              <a:t>Media este 10 lei pe produs. Încă un produs costă 5 lei în această funcție.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 aici încep exercițiile seminarului. Sunt media și costul următoarei unități același lucru?. Totalul descrie întregul lot. Media repartizează costul pe produs. MC descrie schimbarea suplimentară."/>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Seminarul 6. Costurile de producție</dc:title>
  <dc:subject>Introducere pentru seminar și o aplicație</dc:subject>
  <dc:creator>ASEM</dc:creator>
  <cp:keywords/>
  <dc:description>generated using python-pptx</dc:description>
  <cp:lastModifiedBy>ASEM</cp:lastModifiedBy>
  <cp:revision>1</cp:revision>
  <dcterms:created xsi:type="dcterms:W3CDTF">2013-01-27T09:14:16Z</dcterms:created>
  <dcterms:modified xsi:type="dcterms:W3CDTF">2013-01-27T09:15:58Z</dcterms:modified>
  <cp:category/>
  <dc:language>ro-RO</dc:language>
</cp:coreProperties>
</file>