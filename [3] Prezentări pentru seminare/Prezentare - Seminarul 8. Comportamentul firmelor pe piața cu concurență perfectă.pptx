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45 de secunde.</a:t>
            </a:r>
          </a:p>
          <a:p>
            <a:r>
              <a:rPr sz="1400" b="0" lang="ro-RO">
                <a:solidFill>
                  <a:srgbClr val="24313D"/>
                </a:solidFill>
                <a:latin typeface="Arial"/>
              </a:rPr>
              <a:t>O firmă mică ia prețul pieței ca dat și își alege cantitatea. Calculăm profitul și comparăm producția cu oprirea temporară. Explicăm apoi cum intrarea și ieșirea firmelor schimbă piața.</a:t>
            </a:r>
          </a:p>
          <a:p>
            <a:r>
              <a:rPr sz="1400" b="0" lang="ro-RO">
                <a:solidFill>
                  <a:srgbClr val="24313D"/>
                </a:solidFill>
                <a:latin typeface="Arial"/>
              </a:rPr>
              <a:t>Întrebarea care ne conduce este aceasta: De ce o firmă poate continua chiar dacă pierde?</a:t>
            </a:r>
          </a:p>
          <a:p>
            <a:r>
              <a:rPr sz="1400" b="0" lang="ro-RO">
                <a:solidFill>
                  <a:srgbClr val="24313D"/>
                </a:solidFill>
                <a:latin typeface="Arial"/>
              </a:rPr>
              <a:t>Nu urmărim să refacem întreaga lecție. Alegem mecanismul central al temei și îl folosim într-un singur exemplu. La final trecem la problemele seminarului. Invităm studenții să observe cine alege și ce restricție întâlnește.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Firma mică ia prețul pieței ca dat.</a:t>
            </a:r>
          </a:p>
          <a:p>
            <a:r>
              <a:rPr sz="1400" b="0" lang="ro-RO">
                <a:solidFill>
                  <a:srgbClr val="24313D"/>
                </a:solidFill>
                <a:latin typeface="Arial"/>
              </a:rPr>
              <a:t>Există mulți participanți mici și produse omogene. Intrarea și ieșirea sunt libere în sensul absenței barierelor relevante. Informația necesară este disponibilă iar resursele pot fi realocate în condițiile modelului. Fiecare participant are o parte neglijabilă din piață.</a:t>
            </a:r>
          </a:p>
          <a:p>
            <a:r>
              <a:rPr sz="1400" b="0" lang="ro-RO">
                <a:solidFill>
                  <a:srgbClr val="24313D"/>
                </a:solidFill>
                <a:latin typeface="Arial"/>
              </a:rPr>
              <a:t>Firma ia P ca dat și alege q. Cererea adresată ei este orizontală la acel preț. Cererea întregii piețe poate fi descrescătoare. Nu desenăm aceeași curbă pentru o firmă și pentru întreaga ramură.</a:t>
            </a:r>
          </a:p>
          <a:p>
            <a:r>
              <a:rPr sz="1400" b="0" lang="ro-RO">
                <a:solidFill>
                  <a:srgbClr val="24313D"/>
                </a:solidFill>
                <a:latin typeface="Arial"/>
              </a:rPr>
              <a:t>Pe schemă urmărim următoarea legătură: Piață. Mulți participanți mici. Preț. Dat pentru firmă. Alegere. Cât merită produs.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Trei rezultate la cantitatea aleasă.</a:t>
            </a:r>
          </a:p>
          <a:p>
            <a:r>
              <a:rPr sz="1400" b="0" lang="ro-RO">
                <a:solidFill>
                  <a:srgbClr val="24313D"/>
                </a:solidFill>
                <a:latin typeface="Arial"/>
              </a:rPr>
              <a:t>TR = Pq și MR = AR = P. Fiecare unitate suplimentară aduce același venit P. Dacă MC este mai mic firma poate mări profitul prin extindere. Dacă MC este mai mare unitatea suplimentară reduce profitul.</a:t>
            </a:r>
          </a:p>
          <a:p>
            <a:r>
              <a:rPr sz="1400" b="0" lang="ro-RO">
                <a:solidFill>
                  <a:srgbClr val="24313D"/>
                </a:solidFill>
                <a:latin typeface="Arial"/>
              </a:rPr>
              <a:t>Candidatul interior se află pe partea crescătoare relevantă a MC unde P = MC. Calculăm profitul și comparăm cu oprirea. Profitul este (P−ATC)q. Diferența verticală P−ATC este profitul mediu. Înmulțirea cu q dă aria profitului total.</a:t>
            </a:r>
          </a:p>
          <a:p>
            <a:r>
              <a:rPr sz="1400" b="0" lang="ro-RO">
                <a:solidFill>
                  <a:srgbClr val="24313D"/>
                </a:solidFill>
                <a:latin typeface="Arial"/>
              </a:rPr>
              <a:t>Pe schemă urmărim următoarea legătură: P peste ATC. Profit economic pozitiv. P egal cu ATC. Profit economic zero. P sub ATC. Pierdere. Verificăm și oprirea.</a:t>
            </a:r>
          </a:p>
          <a:p>
            <a:r>
              <a:rPr sz="1400" b="0" lang="ro-RO">
                <a:solidFill>
                  <a:srgbClr val="24313D"/>
                </a:solidFill>
                <a:latin typeface="Arial"/>
              </a:rPr>
              <a:t>Facem o pauză scurtă și cerem reformularea ideii în cuvinte proprii. Dacă răspunsul amestecă două noțiuni revenim la diferența dintre ele înaintea formulei.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Oprirea nu elimină orice cost.</a:t>
            </a:r>
          </a:p>
          <a:p>
            <a:r>
              <a:rPr sz="1400" b="0" lang="ro-RO">
                <a:solidFill>
                  <a:srgbClr val="24313D"/>
                </a:solidFill>
                <a:latin typeface="Arial"/>
              </a:rPr>
              <a:t>Pe termen scurt comparăm TR cu VC. Când venitul recuperează VC și contribuie la FC producția poate fi preferabilă. Dacă P este sub minimul AVC niciun volum pozitiv nu recuperează costul variabil în modelul standard.</a:t>
            </a:r>
          </a:p>
          <a:p>
            <a:r>
              <a:rPr sz="1400" b="0" lang="ro-RO">
                <a:solidFill>
                  <a:srgbClr val="24313D"/>
                </a:solidFill>
                <a:latin typeface="Arial"/>
              </a:rPr>
              <a:t>La egalitate cu minimul AVC firma poate fi indiferentă între oprire și volumul pozitiv care minimizează AVC. Costuri de repornire pot schimba comparația dar nu apar în modelul simplu. Suspendarea păstrează capacitatea. Ieșirea pe termen lung permite ajustarea mai multor costuri.</a:t>
            </a:r>
          </a:p>
          <a:p>
            <a:r>
              <a:rPr sz="1400" b="0" lang="ro-RO">
                <a:solidFill>
                  <a:srgbClr val="24313D"/>
                </a:solidFill>
                <a:latin typeface="Arial"/>
              </a:rPr>
              <a:t>Citim mecanismul în această ordine: Producem. Obținem TR și suportăm TC. Ne oprim. Evităm VC dar păstrăm FC. Comparăm. Alegem pierderea mai mică.</a:t>
            </a:r>
          </a:p>
          <a:p>
            <a:r>
              <a:rPr sz="1400" b="0" lang="ro-RO">
                <a:solidFill>
                  <a:srgbClr val="24313D"/>
                </a:solidFill>
                <a:latin typeface="Arial"/>
              </a:rPr>
              <a:t>Facem o pauză scurtă și cerem reformularea ideii în cuvinte proprii. Dacă răspunsul amestecă două noțiuni revenim la diferența dintre ele înaintea formulei.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75 de secunde.</a:t>
            </a:r>
          </a:p>
          <a:p>
            <a:r>
              <a:rPr sz="1400" b="0" lang="ro-RO">
                <a:solidFill>
                  <a:srgbClr val="24313D"/>
                </a:solidFill>
                <a:latin typeface="Arial"/>
              </a:rPr>
              <a:t>Ideea acestui moment este: Prețul ghidează cantitatea.</a:t>
            </a:r>
          </a:p>
          <a:p>
            <a:r>
              <a:rPr sz="1400" b="0" lang="ro-RO">
                <a:solidFill>
                  <a:srgbClr val="24313D"/>
                </a:solidFill>
                <a:latin typeface="Arial"/>
              </a:rPr>
              <a:t>Citim formula înainte de a introduce numerele. Precizăm ce măsoară fiecare simbol și folosim aceeași perioadă pentru toate mărimile. Separăm datele problemei de rezultatul pe care vrem să îl obținem.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75 de secunde.</a:t>
            </a:r>
          </a:p>
          <a:p>
            <a:r>
              <a:rPr sz="1400" b="0" lang="ro-RO">
                <a:solidFill>
                  <a:srgbClr val="24313D"/>
                </a:solidFill>
                <a:latin typeface="Arial"/>
              </a:rPr>
              <a:t>Ideea acestui moment este: Prețul poate acoperi costul variabil.</a:t>
            </a:r>
          </a:p>
          <a:p>
            <a:r>
              <a:rPr sz="1400" b="0" lang="ro-RO">
                <a:solidFill>
                  <a:srgbClr val="24313D"/>
                </a:solidFill>
                <a:latin typeface="Arial"/>
              </a:rPr>
              <a:t>Folosim numai tehnologia TC = 100 + 10Q + Q² și prețul de 20. La cantitatea 5 încasările sunt 100 iar costul este 175. Costul variabil este 75. Producția aduce o contribuție de 25 la costul fix. Prin oprire am pierde întregul cost fix de 100. Decizia de continuare este pentru termenul scurt precizat și nu o promisiune că firma ar trebui să rămână permanent în ramură.</a:t>
            </a:r>
          </a:p>
          <a:p>
            <a:r>
              <a:rPr sz="1400" b="0" lang="ro-RO">
                <a:solidFill>
                  <a:srgbClr val="24313D"/>
                </a:solidFill>
                <a:latin typeface="Arial"/>
              </a:rPr>
              <a:t>Începem cu axele și unitățile. Urmărim apoi liniile și punctul marcat. Graficul nu este o a doua problemă. El explică aceeași situație numerică pe care o vom calcula. La Q = 5 avem P peste AVC. Producția contribuie la FC.</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60 de secunde.</a:t>
            </a:r>
          </a:p>
          <a:p>
            <a:r>
              <a:rPr sz="1400" b="0" lang="ro-RO">
                <a:solidFill>
                  <a:srgbClr val="24313D"/>
                </a:solidFill>
                <a:latin typeface="Arial"/>
              </a:rPr>
              <a:t>Ideea acestui moment este: Pierdere nu înseamnă oprire automată.</a:t>
            </a:r>
          </a:p>
          <a:p>
            <a:r>
              <a:rPr sz="1400" b="0" lang="ro-RO">
                <a:solidFill>
                  <a:srgbClr val="24313D"/>
                </a:solidFill>
                <a:latin typeface="Arial"/>
              </a:rPr>
              <a:t>Profitul economic pozitiv poate atrage firme noi. Oferta crește și prețul tinde să scadă. Pierderile persistente încurajează ieșirea. Oferta se reduce și prețul poate reveni. În echilibrul standard nu mai există stimulent de intrare sau ieșire.</a:t>
            </a:r>
          </a:p>
          <a:p>
            <a:r>
              <a:rPr sz="1400" b="0" lang="ro-RO">
                <a:solidFill>
                  <a:srgbClr val="24313D"/>
                </a:solidFill>
                <a:latin typeface="Arial"/>
              </a:rPr>
              <a:t>Cu firme identice și intrare liberă și condiții stabile avem P = MC = minimul LRAC. Profitul economic este zero. Costurile includ remunerația normală a resurselor proprii. Rezultatul nu afirmă că antreprenorul nu primește nimic.</a:t>
            </a:r>
          </a:p>
          <a:p>
            <a:r>
              <a:rPr sz="1400" b="0" lang="ro-RO">
                <a:solidFill>
                  <a:srgbClr val="24313D"/>
                </a:solidFill>
                <a:latin typeface="Arial"/>
              </a:rPr>
              <a:t>Pe schemă urmărim următoarea legătură: Termen scurt. Contează ce costuri se pot evita acum. Termen lung. Ieșirea permite ajustarea mai multor costuri.</a:t>
            </a:r>
          </a:p>
          <a:p>
            <a:r>
              <a:rPr sz="1400" b="0" lang="ro-RO">
                <a:solidFill>
                  <a:srgbClr val="24313D"/>
                </a:solidFill>
                <a:latin typeface="Arial"/>
              </a:rPr>
              <a:t>Verificare orală: De ce mai contează FC după oprirea de astăzi? Răspuns așteptat: În exemplu acest cost nu poate fi evitat pe termen scurt.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90 de secunde.</a:t>
            </a:r>
          </a:p>
          <a:p>
            <a:r>
              <a:rPr sz="1400" b="0" lang="ro-RO">
                <a:solidFill>
                  <a:srgbClr val="24313D"/>
                </a:solidFill>
                <a:latin typeface="Arial"/>
              </a:rPr>
              <a:t>P = 20. TC = 100 + 10Q + Q² și MC = 10 + 2Q. Costul fix de 100 de lei nu se evită prin oprirea de astăzi.</a:t>
            </a:r>
          </a:p>
          <a:p>
            <a:r>
              <a:rPr sz="1400" b="0" lang="ro-RO">
                <a:solidFill>
                  <a:srgbClr val="24313D"/>
                </a:solidFill>
                <a:latin typeface="Arial"/>
              </a:rPr>
              <a:t>Cerințele sunt: Găsiți cantitatea optimă pozitivă. Comparați rezultatul cu oprirea.</a:t>
            </a:r>
          </a:p>
          <a:p>
            <a:r>
              <a:rPr sz="1400" b="0" lang="ro-RO">
                <a:solidFill>
                  <a:srgbClr val="24313D"/>
                </a:solidFill>
                <a:latin typeface="Arial"/>
              </a:rPr>
              <a:t>Le oferim studenților timp să scrie relația necesară și să identifice datele. Nu afișăm încă soluția. Îi rugăm să explice ce caută și de ce formula aleasă răspunde cerinței. Păstrăm aceeași perioadă și aceeași unitate pe parcursul calculului. Corectăm întâi alegerea relației și abia apoi operațiile aritmetice.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90 de secunde.</a:t>
            </a:r>
          </a:p>
          <a:p>
            <a:r>
              <a:rPr sz="1400" b="0" lang="ro-RO">
                <a:solidFill>
                  <a:srgbClr val="24313D"/>
                </a:solidFill>
                <a:latin typeface="Arial"/>
              </a:rPr>
              <a:t>Parcurgem soluția în ordinea cerințelor.</a:t>
            </a:r>
          </a:p>
          <a:p>
            <a:r>
              <a:rPr sz="1400" b="0" lang="ro-RO">
                <a:solidFill>
                  <a:srgbClr val="24313D"/>
                </a:solidFill>
                <a:latin typeface="Arial"/>
              </a:rPr>
              <a:t>Cantitatea. 20 = 10 + 2Q → Q = 5.</a:t>
            </a:r>
          </a:p>
          <a:p>
            <a:r>
              <a:rPr sz="1400" b="0" lang="ro-RO">
                <a:solidFill>
                  <a:srgbClr val="24313D"/>
                </a:solidFill>
                <a:latin typeface="Arial"/>
              </a:rPr>
              <a:t>Producția. TR = 100; TC = 175; profit = −75.</a:t>
            </a:r>
          </a:p>
          <a:p>
            <a:r>
              <a:rPr sz="1400" b="0" lang="ro-RO">
                <a:solidFill>
                  <a:srgbClr val="24313D"/>
                </a:solidFill>
                <a:latin typeface="Arial"/>
              </a:rPr>
              <a:t>Oprirea. Q = 0; pierdere = 100 de lei.</a:t>
            </a:r>
          </a:p>
          <a:p>
            <a:r>
              <a:rPr sz="1400" b="0" lang="ro-RO">
                <a:solidFill>
                  <a:srgbClr val="24313D"/>
                </a:solidFill>
                <a:latin typeface="Arial"/>
              </a:rPr>
              <a:t>Producția este preferabilă azi: pierderea de 75 este mai mică decât pierderea de 100.</a:t>
            </a:r>
          </a:p>
          <a:p>
            <a:r>
              <a:rPr sz="1400" b="0" lang="ro-RO">
                <a:solidFill>
                  <a:srgbClr val="24313D"/>
                </a:solidFill>
                <a:latin typeface="Arial"/>
              </a:rPr>
              <a:t>Verificăm prin înlocuire în relațiile inițiale și explicăm semnul rezultatului. O valoare negativă nu este automat o eroare de calcul. Ea poate exprima o pierdere sau o reducere a indicatorului. Cerem unui student să spună rezultatul împreună cu unitatea și sensul economic.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b="0" lang="ro-RO">
                <a:solidFill>
                  <a:srgbClr val="24313D"/>
                </a:solidFill>
                <a:latin typeface="Arial"/>
              </a:rPr>
              <a:t>Timp orientativ: 45 de secunde.</a:t>
            </a:r>
          </a:p>
          <a:p>
            <a:r>
              <a:rPr sz="1400" b="0" lang="ro-RO">
                <a:solidFill>
                  <a:srgbClr val="24313D"/>
                </a:solidFill>
                <a:latin typeface="Arial"/>
              </a:rPr>
              <a:t>Reținem trei idei. Firma este primitoare de preț. Profitul și decizia de oprire sunt întrebări distincte. Pe termen lung reevaluăm participarea.</a:t>
            </a:r>
          </a:p>
          <a:p>
            <a:r>
              <a:rPr sz="1400" b="0" lang="ro-RO">
                <a:solidFill>
                  <a:srgbClr val="24313D"/>
                </a:solidFill>
                <a:latin typeface="Arial"/>
              </a:rPr>
              <a:t>Întrebarea de verificare este: De ce mai contează FC după oprirea de astăzi?</a:t>
            </a:r>
          </a:p>
          <a:p>
            <a:r>
              <a:rPr sz="1400" b="0" lang="ro-RO">
                <a:solidFill>
                  <a:srgbClr val="24313D"/>
                </a:solidFill>
                <a:latin typeface="Arial"/>
              </a:rPr>
              <a:t>Răspuns: În exemplu acest cost nu poate fi evitat pe termen scurt.</a:t>
            </a:r>
          </a:p>
          <a:p>
            <a:r>
              <a:rPr sz="1400" b="0" lang="ro-RO">
                <a:solidFill>
                  <a:srgbClr val="24313D"/>
                </a:solidFill>
                <a:latin typeface="Arial"/>
              </a:rPr>
              <a:t>În continuare deschidem exercițiile seminarului. Folosim aceeași succesiune: identificăm datele și restricția. Alegem relația potrivită. Calculăm și verificăm. Încheiem cu o explicație economică în cuvinte proprii.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mportamentul firmelor pe piața cu concurență perfectă. De ce o firmă poate continua chiar dacă pierde?. Comparăm producția cu oprirea pe termen scurt."/>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irma mică ia prețul pieței ca dat. Ea își alege cantitatea și nu prețul întregii piețe. Piață. Mulți participanți mici. Preț. Dat pentru firmă. Alegere. Cât merită produs."/>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rei rezultate la cantitatea aleasă. P peste ATC. Profit economic pozitiv. P egal cu ATC. Profit economic zero. P sub ATC. Pierdere. Verificăm și oprirea."/>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prirea nu elimină orice cost. Producem. Obținem TR și suportăm TC. Ne oprim. Evităm VC dar păstrăm FC. Comparăm. Alegem pierderea mai mică."/>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rețul ghidează cantitatea. P = MC; profit = (P − ATC) × Q. Verificăm și dacă TR acoperă VC. Costul fix neevitabil rămâne la oprire."/>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rețul poate acoperi costul variabil. TC = 100 + 10Q + Q². P = 20. La Q = 5 avem P peste AVC. Producția contribuie la FC."/>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ierdere nu înseamnă oprire automată. Termen scurt. Contează ce costuri se pot evita acum. Termen lung. Ieșirea permite ajustarea mai multor costuri."/>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BFD"/>
        </a:solidFill>
        <a:effectLst/>
      </p:bgPr>
    </p:bg>
    <p:spTree>
      <p:nvGrpSpPr>
        <p:cNvPr id="1" name=""/>
        <p:cNvGrpSpPr/>
        <p:nvPr/>
      </p:nvGrpSpPr>
      <p:grpSpPr/>
      <p:sp>
        <p:nvSpPr>
          <p:cNvPr id="2" name="Rectangle 1"/>
          <p:cNvSpPr/>
          <p:nvPr/>
        </p:nvSpPr>
        <p:spPr>
          <a:xfrm>
            <a:off x="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1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7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2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3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4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1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1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2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8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4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5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0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1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2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7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2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81999"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3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89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9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0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6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1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92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7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43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68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93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219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25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50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76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101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127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0" y="152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0" y="177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203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0" y="228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254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279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304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0" y="330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0" y="355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0" y="381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0" y="406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431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0" y="457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482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0" y="508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0" y="533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0" y="558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0" y="584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0" y="609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0" y="635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660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0" y="685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8000" y="412750"/>
            <a:ext cx="11176000" cy="285750"/>
          </a:xfrm>
          <a:prstGeom prst="rect">
            <a:avLst/>
          </a:prstGeom>
          <a:noFill/>
        </p:spPr>
        <p:txBody>
          <a:bodyPr wrap="square" anchor="ctr" lIns="0" rIns="0" tIns="0" bIns="0">
            <a:spAutoFit/>
          </a:bodyPr>
          <a:lstStyle/>
          <a:p>
            <a:pPr>
              <a:lnSpc>
                <a:spcPct val="125000"/>
              </a:lnSpc>
              <a:spcAft>
                <a:spcPts val="0"/>
              </a:spcAft>
            </a:pPr>
            <a:r>
              <a:rPr sz="1300" b="0" lang="ro-RO">
                <a:solidFill>
                  <a:srgbClr val="556374"/>
                </a:solidFill>
                <a:latin typeface="Arial"/>
              </a:rPr>
              <a:t>Microeconomie · ASEM · Seminarul 8</a:t>
            </a:r>
          </a:p>
        </p:txBody>
      </p:sp>
      <p:sp>
        <p:nvSpPr>
          <p:cNvPr id="80" name="TextBox 79"/>
          <p:cNvSpPr txBox="1"/>
          <p:nvPr/>
        </p:nvSpPr>
        <p:spPr>
          <a:xfrm>
            <a:off x="508000" y="749300"/>
            <a:ext cx="11176000" cy="762000"/>
          </a:xfrm>
          <a:prstGeom prst="rect">
            <a:avLst/>
          </a:prstGeom>
          <a:noFill/>
        </p:spPr>
        <p:txBody>
          <a:bodyPr wrap="square" anchor="ctr" lIns="0" rIns="0" tIns="0" bIns="0">
            <a:spAutoFit/>
          </a:bodyPr>
          <a:lstStyle/>
          <a:p>
            <a:pPr>
              <a:lnSpc>
                <a:spcPct val="125000"/>
              </a:lnSpc>
              <a:spcAft>
                <a:spcPts val="0"/>
              </a:spcAft>
            </a:pPr>
            <a:r>
              <a:rPr sz="3400" b="1" lang="ro-RO">
                <a:solidFill>
                  <a:srgbClr val="123B5D"/>
                </a:solidFill>
                <a:latin typeface="Arial"/>
              </a:rPr>
              <a:t>Produce sau se oprește atelierul?</a:t>
            </a:r>
          </a:p>
        </p:txBody>
      </p:sp>
      <p:sp>
        <p:nvSpPr>
          <p:cNvPr id="81" name="TextBox 80"/>
          <p:cNvSpPr txBox="1"/>
          <p:nvPr/>
        </p:nvSpPr>
        <p:spPr>
          <a:xfrm>
            <a:off x="508000" y="6381750"/>
            <a:ext cx="9906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Seminar · Idei esențiale și aplicație</a:t>
            </a:r>
          </a:p>
        </p:txBody>
      </p:sp>
      <p:sp>
        <p:nvSpPr>
          <p:cNvPr id="82" name="TextBox 81"/>
          <p:cNvSpPr txBox="1"/>
          <p:nvPr/>
        </p:nvSpPr>
        <p:spPr>
          <a:xfrm>
            <a:off x="10763250" y="6381750"/>
            <a:ext cx="889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08 / 10</a:t>
            </a:r>
          </a:p>
        </p:txBody>
      </p:sp>
      <p:sp>
        <p:nvSpPr>
          <p:cNvPr id="83" name="Rounded Rectangle 82"/>
          <p:cNvSpPr/>
          <p:nvPr/>
        </p:nvSpPr>
        <p:spPr>
          <a:xfrm>
            <a:off x="508000" y="1714500"/>
            <a:ext cx="11176000" cy="2095499"/>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lnSpc>
                <a:spcPct val="125000"/>
              </a:lnSpc>
              <a:spcAft>
                <a:spcPts val="0"/>
              </a:spcAft>
            </a:pPr>
            <a:r>
              <a:rPr sz="2700" b="0" lang="ro-RO">
                <a:solidFill>
                  <a:srgbClr val="24313D"/>
                </a:solidFill>
                <a:latin typeface="Arial"/>
              </a:rPr>
              <a:t>P = 20. TC = 100 + 10Q + Q² și MC = 10 + 2Q. Costul fix de 100 de lei nu se evită prin oprirea de astăzi.</a:t>
            </a:r>
          </a:p>
        </p:txBody>
      </p:sp>
      <p:sp>
        <p:nvSpPr>
          <p:cNvPr id="84" name="TextBox 83"/>
          <p:cNvSpPr txBox="1"/>
          <p:nvPr/>
        </p:nvSpPr>
        <p:spPr>
          <a:xfrm>
            <a:off x="508000" y="3905249"/>
            <a:ext cx="11176000" cy="444500"/>
          </a:xfrm>
          <a:prstGeom prst="rect">
            <a:avLst/>
          </a:prstGeom>
          <a:noFill/>
        </p:spPr>
        <p:txBody>
          <a:bodyPr wrap="square" anchor="ctr" lIns="0" rIns="0" tIns="0" bIns="0">
            <a:spAutoFit/>
          </a:bodyPr>
          <a:lstStyle/>
          <a:p>
            <a:pPr>
              <a:lnSpc>
                <a:spcPct val="125000"/>
              </a:lnSpc>
              <a:spcAft>
                <a:spcPts val="0"/>
              </a:spcAft>
            </a:pPr>
            <a:r>
              <a:rPr sz="2200" b="1" lang="ro-RO">
                <a:solidFill>
                  <a:srgbClr val="123B5D"/>
                </a:solidFill>
                <a:latin typeface="Arial"/>
              </a:rPr>
              <a:t>Cerințe</a:t>
            </a:r>
          </a:p>
        </p:txBody>
      </p:sp>
      <p:sp>
        <p:nvSpPr>
          <p:cNvPr id="85" name="TextBox 84"/>
          <p:cNvSpPr txBox="1"/>
          <p:nvPr/>
        </p:nvSpPr>
        <p:spPr>
          <a:xfrm>
            <a:off x="698500" y="4476750"/>
            <a:ext cx="10795000" cy="571500"/>
          </a:xfrm>
          <a:prstGeom prst="rect">
            <a:avLst/>
          </a:prstGeom>
          <a:noFill/>
        </p:spPr>
        <p:txBody>
          <a:bodyPr wrap="square" anchor="ctr" lIns="0" rIns="0" tIns="0" bIns="0">
            <a:spAutoFit/>
          </a:bodyPr>
          <a:lstStyle/>
          <a:p>
            <a:pPr>
              <a:lnSpc>
                <a:spcPct val="125000"/>
              </a:lnSpc>
              <a:spcAft>
                <a:spcPts val="0"/>
              </a:spcAft>
            </a:pPr>
            <a:r>
              <a:rPr sz="2600" b="0" lang="ro-RO">
                <a:solidFill>
                  <a:srgbClr val="24313D"/>
                </a:solidFill>
                <a:latin typeface="Arial"/>
              </a:rPr>
              <a:t>1. Găsiți cantitatea optimă pozitivă.</a:t>
            </a:r>
          </a:p>
        </p:txBody>
      </p:sp>
      <p:sp>
        <p:nvSpPr>
          <p:cNvPr id="86" name="TextBox 85"/>
          <p:cNvSpPr txBox="1"/>
          <p:nvPr/>
        </p:nvSpPr>
        <p:spPr>
          <a:xfrm>
            <a:off x="698500" y="5175250"/>
            <a:ext cx="10795000" cy="571500"/>
          </a:xfrm>
          <a:prstGeom prst="rect">
            <a:avLst/>
          </a:prstGeom>
          <a:noFill/>
        </p:spPr>
        <p:txBody>
          <a:bodyPr wrap="square" anchor="ctr" lIns="0" rIns="0" tIns="0" bIns="0">
            <a:spAutoFit/>
          </a:bodyPr>
          <a:lstStyle/>
          <a:p>
            <a:pPr>
              <a:lnSpc>
                <a:spcPct val="125000"/>
              </a:lnSpc>
              <a:spcAft>
                <a:spcPts val="0"/>
              </a:spcAft>
            </a:pPr>
            <a:r>
              <a:rPr sz="2600" b="0" lang="ro-RO">
                <a:solidFill>
                  <a:srgbClr val="24313D"/>
                </a:solidFill>
                <a:latin typeface="Arial"/>
              </a:rPr>
              <a:t>2. Comparați rezultatul cu oprirea.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BFD"/>
        </a:solidFill>
        <a:effectLst/>
      </p:bgPr>
    </p:bg>
    <p:spTree>
      <p:nvGrpSpPr>
        <p:cNvPr id="1" name=""/>
        <p:cNvGrpSpPr/>
        <p:nvPr/>
      </p:nvGrpSpPr>
      <p:grpSpPr/>
      <p:sp>
        <p:nvSpPr>
          <p:cNvPr id="2" name="Rectangle 1"/>
          <p:cNvSpPr/>
          <p:nvPr/>
        </p:nvSpPr>
        <p:spPr>
          <a:xfrm>
            <a:off x="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5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6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01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27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52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77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03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28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4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9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4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0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55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81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06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1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82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08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33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58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84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09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5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60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85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11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6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62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87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2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381999"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3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89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39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65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990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016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1041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66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92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176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430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11684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11938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12192000" y="0"/>
            <a:ext cx="2857" cy="6858000"/>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0" y="25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0" y="50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0" y="76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0" y="101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0" y="127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0" y="152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0" y="177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0" y="203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0" y="228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0" y="254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0" y="279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0" y="304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0" y="330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0" y="355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0" y="381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0" y="406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0" y="431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0" y="457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0" y="482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0" y="508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0" y="533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0" y="558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0" y="5842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0" y="6096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0" y="6350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0" y="6604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ectangle 77"/>
          <p:cNvSpPr/>
          <p:nvPr/>
        </p:nvSpPr>
        <p:spPr>
          <a:xfrm>
            <a:off x="0" y="6858000"/>
            <a:ext cx="12191999" cy="2857"/>
          </a:xfrm>
          <a:prstGeom prst="rect">
            <a:avLst/>
          </a:prstGeom>
          <a:solidFill>
            <a:srgbClr val="EDF2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508000" y="412750"/>
            <a:ext cx="11176000" cy="285750"/>
          </a:xfrm>
          <a:prstGeom prst="rect">
            <a:avLst/>
          </a:prstGeom>
          <a:noFill/>
        </p:spPr>
        <p:txBody>
          <a:bodyPr wrap="square" anchor="ctr" lIns="0" rIns="0" tIns="0" bIns="0">
            <a:spAutoFit/>
          </a:bodyPr>
          <a:lstStyle/>
          <a:p>
            <a:pPr>
              <a:lnSpc>
                <a:spcPct val="125000"/>
              </a:lnSpc>
              <a:spcAft>
                <a:spcPts val="0"/>
              </a:spcAft>
            </a:pPr>
            <a:r>
              <a:rPr sz="1300" b="0" lang="ro-RO">
                <a:solidFill>
                  <a:srgbClr val="556374"/>
                </a:solidFill>
                <a:latin typeface="Arial"/>
              </a:rPr>
              <a:t>Microeconomie · ASEM · Seminarul 8</a:t>
            </a:r>
          </a:p>
        </p:txBody>
      </p:sp>
      <p:sp>
        <p:nvSpPr>
          <p:cNvPr id="80" name="TextBox 79"/>
          <p:cNvSpPr txBox="1"/>
          <p:nvPr/>
        </p:nvSpPr>
        <p:spPr>
          <a:xfrm>
            <a:off x="508000" y="749300"/>
            <a:ext cx="11176000" cy="762000"/>
          </a:xfrm>
          <a:prstGeom prst="rect">
            <a:avLst/>
          </a:prstGeom>
          <a:noFill/>
        </p:spPr>
        <p:txBody>
          <a:bodyPr wrap="square" anchor="ctr" lIns="0" rIns="0" tIns="0" bIns="0">
            <a:spAutoFit/>
          </a:bodyPr>
          <a:lstStyle/>
          <a:p>
            <a:pPr>
              <a:lnSpc>
                <a:spcPct val="125000"/>
              </a:lnSpc>
              <a:spcAft>
                <a:spcPts val="0"/>
              </a:spcAft>
            </a:pPr>
            <a:r>
              <a:rPr sz="3400" b="1" lang="ro-RO">
                <a:solidFill>
                  <a:srgbClr val="123B5D"/>
                </a:solidFill>
                <a:latin typeface="Arial"/>
              </a:rPr>
              <a:t>Continuarea poate reduce pierderea</a:t>
            </a:r>
          </a:p>
        </p:txBody>
      </p:sp>
      <p:sp>
        <p:nvSpPr>
          <p:cNvPr id="81" name="TextBox 80"/>
          <p:cNvSpPr txBox="1"/>
          <p:nvPr/>
        </p:nvSpPr>
        <p:spPr>
          <a:xfrm>
            <a:off x="508000" y="6381750"/>
            <a:ext cx="9906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Seminar · Idei esențiale și aplicație</a:t>
            </a:r>
          </a:p>
        </p:txBody>
      </p:sp>
      <p:sp>
        <p:nvSpPr>
          <p:cNvPr id="82" name="TextBox 81"/>
          <p:cNvSpPr txBox="1"/>
          <p:nvPr/>
        </p:nvSpPr>
        <p:spPr>
          <a:xfrm>
            <a:off x="10763250" y="6381750"/>
            <a:ext cx="889000" cy="285750"/>
          </a:xfrm>
          <a:prstGeom prst="rect">
            <a:avLst/>
          </a:prstGeom>
          <a:noFill/>
        </p:spPr>
        <p:txBody>
          <a:bodyPr wrap="square" anchor="ctr" lIns="0" rIns="0" tIns="0" bIns="0">
            <a:spAutoFit/>
          </a:bodyPr>
          <a:lstStyle/>
          <a:p>
            <a:pPr>
              <a:lnSpc>
                <a:spcPct val="125000"/>
              </a:lnSpc>
              <a:spcAft>
                <a:spcPts val="0"/>
              </a:spcAft>
            </a:pPr>
            <a:r>
              <a:rPr sz="1200" b="0" lang="ro-RO">
                <a:solidFill>
                  <a:srgbClr val="556374"/>
                </a:solidFill>
                <a:latin typeface="Arial"/>
              </a:rPr>
              <a:t>09 / 10</a:t>
            </a:r>
          </a:p>
        </p:txBody>
      </p:sp>
      <p:sp>
        <p:nvSpPr>
          <p:cNvPr id="83" name="Rounded Rectangle 82"/>
          <p:cNvSpPr/>
          <p:nvPr/>
        </p:nvSpPr>
        <p:spPr>
          <a:xfrm>
            <a:off x="508000" y="1714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84" name="TextBox 83"/>
          <p:cNvSpPr txBox="1"/>
          <p:nvPr/>
        </p:nvSpPr>
        <p:spPr>
          <a:xfrm>
            <a:off x="711200" y="1828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Cantitatea</a:t>
            </a:r>
          </a:p>
        </p:txBody>
      </p:sp>
      <p:sp>
        <p:nvSpPr>
          <p:cNvPr id="85" name="TextBox 84"/>
          <p:cNvSpPr txBox="1"/>
          <p:nvPr/>
        </p:nvSpPr>
        <p:spPr>
          <a:xfrm>
            <a:off x="711200" y="2171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20 = 10 + 2Q → Q = 5</a:t>
            </a:r>
          </a:p>
        </p:txBody>
      </p:sp>
      <p:sp>
        <p:nvSpPr>
          <p:cNvPr id="86" name="Rounded Rectangle 85"/>
          <p:cNvSpPr/>
          <p:nvPr/>
        </p:nvSpPr>
        <p:spPr>
          <a:xfrm>
            <a:off x="508000" y="2857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87" name="TextBox 86"/>
          <p:cNvSpPr txBox="1"/>
          <p:nvPr/>
        </p:nvSpPr>
        <p:spPr>
          <a:xfrm>
            <a:off x="711200" y="2971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Producția</a:t>
            </a:r>
          </a:p>
        </p:txBody>
      </p:sp>
      <p:sp>
        <p:nvSpPr>
          <p:cNvPr id="88" name="TextBox 87"/>
          <p:cNvSpPr txBox="1"/>
          <p:nvPr/>
        </p:nvSpPr>
        <p:spPr>
          <a:xfrm>
            <a:off x="711200" y="3314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TR = 100; TC = 175; profit = −75</a:t>
            </a:r>
          </a:p>
        </p:txBody>
      </p:sp>
      <p:sp>
        <p:nvSpPr>
          <p:cNvPr id="89" name="Rounded Rectangle 88"/>
          <p:cNvSpPr/>
          <p:nvPr/>
        </p:nvSpPr>
        <p:spPr>
          <a:xfrm>
            <a:off x="508000" y="4000500"/>
            <a:ext cx="11176000" cy="977900"/>
          </a:xfrm>
          <a:prstGeom prst="roundRect">
            <a:avLst>
              <a:gd name="adj" fmla="val 12000"/>
            </a:avLst>
          </a:prstGeom>
          <a:solidFill>
            <a:srgbClr val="FFFFFF"/>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p>
        </p:txBody>
      </p:sp>
      <p:sp>
        <p:nvSpPr>
          <p:cNvPr id="90" name="TextBox 89"/>
          <p:cNvSpPr txBox="1"/>
          <p:nvPr/>
        </p:nvSpPr>
        <p:spPr>
          <a:xfrm>
            <a:off x="711200" y="4114800"/>
            <a:ext cx="10477500" cy="279400"/>
          </a:xfrm>
          <a:prstGeom prst="rect">
            <a:avLst/>
          </a:prstGeom>
          <a:noFill/>
        </p:spPr>
        <p:txBody>
          <a:bodyPr wrap="square" anchor="ctr" lIns="0" rIns="0" tIns="0" bIns="0">
            <a:spAutoFit/>
          </a:bodyPr>
          <a:lstStyle/>
          <a:p>
            <a:pPr>
              <a:lnSpc>
                <a:spcPct val="125000"/>
              </a:lnSpc>
              <a:spcAft>
                <a:spcPts val="0"/>
              </a:spcAft>
            </a:pPr>
            <a:r>
              <a:rPr sz="1800" b="1" lang="ro-RO">
                <a:solidFill>
                  <a:srgbClr val="556374"/>
                </a:solidFill>
                <a:latin typeface="Arial"/>
              </a:rPr>
              <a:t>Oprirea</a:t>
            </a:r>
          </a:p>
        </p:txBody>
      </p:sp>
      <p:sp>
        <p:nvSpPr>
          <p:cNvPr id="91" name="TextBox 90"/>
          <p:cNvSpPr txBox="1"/>
          <p:nvPr/>
        </p:nvSpPr>
        <p:spPr>
          <a:xfrm>
            <a:off x="711200" y="4457700"/>
            <a:ext cx="10477500" cy="495299"/>
          </a:xfrm>
          <a:prstGeom prst="rect">
            <a:avLst/>
          </a:prstGeom>
          <a:noFill/>
        </p:spPr>
        <p:txBody>
          <a:bodyPr wrap="square" anchor="ctr" lIns="0" rIns="0" tIns="0" bIns="0">
            <a:spAutoFit/>
          </a:bodyPr>
          <a:lstStyle/>
          <a:p>
            <a:pPr>
              <a:lnSpc>
                <a:spcPct val="125000"/>
              </a:lnSpc>
              <a:spcAft>
                <a:spcPts val="0"/>
              </a:spcAft>
            </a:pPr>
            <a:r>
              <a:rPr sz="2600" b="1" lang="ro-RO">
                <a:solidFill>
                  <a:srgbClr val="123B5D"/>
                </a:solidFill>
                <a:latin typeface="Arial"/>
              </a:rPr>
              <a:t>Q = 0; pierdere = 100 de lei</a:t>
            </a:r>
          </a:p>
        </p:txBody>
      </p:sp>
      <p:sp>
        <p:nvSpPr>
          <p:cNvPr id="92" name="Rounded Rectangle 91"/>
          <p:cNvSpPr/>
          <p:nvPr/>
        </p:nvSpPr>
        <p:spPr>
          <a:xfrm>
            <a:off x="508000" y="5334000"/>
            <a:ext cx="11176000" cy="952500"/>
          </a:xfrm>
          <a:prstGeom prst="roundRect">
            <a:avLst>
              <a:gd name="adj" fmla="val 12000"/>
            </a:avLst>
          </a:prstGeom>
          <a:solidFill>
            <a:srgbClr val="F0F8EC"/>
          </a:solidFill>
          <a:ln w="12700">
            <a:solidFill>
              <a:srgbClr val="E2E8EF"/>
            </a:solidFill>
          </a:ln>
        </p:spPr>
        <p:style>
          <a:lnRef idx="1">
            <a:schemeClr val="accent1"/>
          </a:lnRef>
          <a:fillRef idx="3">
            <a:schemeClr val="accent1"/>
          </a:fillRef>
          <a:effectRef idx="2">
            <a:schemeClr val="accent1"/>
          </a:effectRef>
          <a:fontRef idx="minor">
            <a:schemeClr val="lt1"/>
          </a:fontRef>
        </p:style>
        <p:txBody>
          <a:bodyPr rtlCol="0" anchor="ctr" wrap="square" lIns="190500" rIns="190500" tIns="127000" bIns="127000"/>
          <a:lstStyle/>
          <a:p>
            <a:pPr algn="ctr">
              <a:lnSpc>
                <a:spcPct val="125000"/>
              </a:lnSpc>
              <a:spcAft>
                <a:spcPts val="0"/>
              </a:spcAft>
            </a:pPr>
            <a:r>
              <a:rPr sz="2100" b="0" lang="ro-RO">
                <a:solidFill>
                  <a:srgbClr val="123B5D"/>
                </a:solidFill>
                <a:latin typeface="Arial"/>
              </a:rPr>
              <a:t>Producția este preferabilă azi: pierderea de 75 este mai mică decât pierderea de 100.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 aici încep exercițiile seminarului. De ce mai contează FC după oprirea de astăzi?. Firma este primitoare de preț. Profitul și decizia de oprire sunt întrebări distincte. Pe termen lung reevaluăm participarea."/>
          <p:cNvPicPr>
            <a:picLocks noChangeAspect="1"/>
          </p:cNvPicPr>
          <p:nvPr/>
        </p:nvPicPr>
        <p:blipFill>
          <a:blip r:embed="rId2"/>
          <a:stretch>
            <a:fillRect/>
          </a:stretch>
        </p:blipFill>
        <p:spPr>
          <a:xfrm>
            <a:off x="0" y="0"/>
            <a:ext cx="12191999"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Seminarul 8. Comportamentul firmelor pe piața cu concurență perfectă</dc:title>
  <dc:subject>Introducere pentru seminar și o aplicație</dc:subject>
  <dc:creator>ASEM</dc:creator>
  <cp:keywords/>
  <dc:description>generated using python-pptx</dc:description>
  <cp:lastModifiedBy>ASEM</cp:lastModifiedBy>
  <cp:revision>1</cp:revision>
  <dcterms:created xsi:type="dcterms:W3CDTF">2013-01-27T09:14:16Z</dcterms:created>
  <dcterms:modified xsi:type="dcterms:W3CDTF">2013-01-27T09:15:58Z</dcterms:modified>
  <cp:category/>
  <dc:language>ro-RO</dc:language>
</cp:coreProperties>
</file>