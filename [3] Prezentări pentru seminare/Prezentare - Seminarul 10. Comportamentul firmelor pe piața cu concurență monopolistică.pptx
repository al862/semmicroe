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Produsele apropiate pot atrage clienți diferiți. Explicăm cum diferențierea oferă o putere limitată asupra prețului. Urmărim apoi efectele intrării concurenților și comparăm beneficiul unei reclame cu costul ei.</a:t>
            </a:r>
          </a:p>
          <a:p>
            <a:r>
              <a:rPr sz="1400" b="0" lang="ro-RO">
                <a:solidFill>
                  <a:srgbClr val="24313D"/>
                </a:solidFill>
                <a:latin typeface="Arial"/>
              </a:rPr>
              <a:t>Întrebarea care ne conduce este aceasta: De ce două cafenele pot cere prețuri diferite?</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Clienții nu cumpără doar un obiect.</a:t>
            </a:r>
          </a:p>
          <a:p>
            <a:r>
              <a:rPr sz="1400" b="0" lang="ro-RO">
                <a:solidFill>
                  <a:srgbClr val="24313D"/>
                </a:solidFill>
                <a:latin typeface="Arial"/>
              </a:rPr>
              <a:t>Două cafenele folosesc ingrediente apropiate și totuși atrag clienți diferiți. Una este aproape de stație. Alta oferă liniște pentru lucru. Un consumator poate accepta un preț mai mare pentru varianta potrivită lui.</a:t>
            </a:r>
          </a:p>
          <a:p>
            <a:r>
              <a:rPr sz="1400" b="0" lang="ro-RO">
                <a:solidFill>
                  <a:srgbClr val="24313D"/>
                </a:solidFill>
                <a:latin typeface="Arial"/>
              </a:rPr>
              <a:t>Concurența monopolistică îmbină multe firme și intrare relativ ușoară cu produse diferențiate. Fiecare varietate are putere limitată asupra prețului. Alternativele apropiate limitează această putere. Monopolul unei varietăți nu este un monopol asupra întregii nevoi.</a:t>
            </a:r>
          </a:p>
          <a:p>
            <a:r>
              <a:rPr sz="1400" b="0" lang="ro-RO">
                <a:solidFill>
                  <a:srgbClr val="24313D"/>
                </a:solidFill>
                <a:latin typeface="Arial"/>
              </a:rPr>
              <a:t>Pe schemă urmărim următoarea legătură: Amplasare. Mai aproape de client. Serviciu. Mai potrivit nevoii. Alternative. Limitează prețul cerut.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Concurență și diferențiere în același timp.</a:t>
            </a:r>
          </a:p>
          <a:p>
            <a:r>
              <a:rPr sz="1400" b="0" lang="ro-RO">
                <a:solidFill>
                  <a:srgbClr val="24313D"/>
                </a:solidFill>
                <a:latin typeface="Arial"/>
              </a:rPr>
              <a:t>Calitatea și aspectul și funcțiile pot diferenția produsul. Amplasarea și programul și livrarea pot face oferta mai utilă. Marca și reputația pot influența încrederea. Unele diferențe sunt fizice. Altele privesc experiența cumpărării și percepția.</a:t>
            </a:r>
          </a:p>
          <a:p>
            <a:r>
              <a:rPr sz="1400" b="0" lang="ro-RO">
                <a:solidFill>
                  <a:srgbClr val="24313D"/>
                </a:solidFill>
                <a:latin typeface="Arial"/>
              </a:rPr>
              <a:t>O variantă nu este automat superioară pentru toți. Un magazin apropiat economisește timpul unei persoane. O altă persoană are alt traseu. Varietatea poate răspunde unor nevoi diferite chiar dacă bunurile sunt apropiate.</a:t>
            </a:r>
          </a:p>
          <a:p>
            <a:r>
              <a:rPr sz="1400" b="0" lang="ro-RO">
                <a:solidFill>
                  <a:srgbClr val="24313D"/>
                </a:solidFill>
                <a:latin typeface="Arial"/>
              </a:rPr>
              <a:t>Pe schemă urmărim următoarea legătură: Multe firme. Există alternative apropiate. Produse diferite. Fiecare varietate are clienții săi. Intrare posibilă. Profitul poate atrage rivali.</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Avantajul unei varietăți poate fi temporar.</a:t>
            </a:r>
          </a:p>
          <a:p>
            <a:r>
              <a:rPr sz="1400" b="0" lang="ro-RO">
                <a:solidFill>
                  <a:srgbClr val="24313D"/>
                </a:solidFill>
                <a:latin typeface="Arial"/>
              </a:rPr>
              <a:t>Cererea unei varietăți este descrescătoare. La scumpire unii clienți aleg alternative. La ieftinire pot veni clienți noi. Cererea devine mai sensibilă când substituenții sunt mai apropiați și mai ușor de găsit.</a:t>
            </a:r>
          </a:p>
          <a:p>
            <a:r>
              <a:rPr sz="1400" b="0" lang="ro-RO">
                <a:solidFill>
                  <a:srgbClr val="24313D"/>
                </a:solidFill>
                <a:latin typeface="Arial"/>
              </a:rPr>
              <a:t>La optimul interior firma alege Q din MR = MC și citește P pe cerere. Poate avea profit pozitiv sau zero sau pierdere. Diferența P−AC la cantitatea aleasă determină profitul mediu. Egalitatea marginală nu garantează un rezultat pozitiv.</a:t>
            </a:r>
          </a:p>
          <a:p>
            <a:r>
              <a:rPr sz="1400" b="0" lang="ro-RO">
                <a:solidFill>
                  <a:srgbClr val="24313D"/>
                </a:solidFill>
                <a:latin typeface="Arial"/>
              </a:rPr>
              <a:t>Citim mecanismul în această ordine: Profit pozitiv. Atrage produse apropiate. Intrare. Clientela se împarte. Ajustare. Firma își recalculează alegerea.</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Alegem ca o firmă cu cerere proprie.</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Cererea proprie rămâne descrescătoare.</a:t>
            </a:r>
          </a:p>
          <a:p>
            <a:r>
              <a:rPr sz="1400" b="0" lang="ro-RO">
                <a:solidFill>
                  <a:srgbClr val="24313D"/>
                </a:solidFill>
                <a:latin typeface="Arial"/>
              </a:rPr>
              <a:t>Aceeași tehnologie și aceeași cerere sunt folosite în desen și în exercițiu. La Q = 15 avem P = 65 iar MR = MC = 50. Prețul peste costul marginal nu este întreaga marjă de profit pe produs. Pentru profit folosim costul total de 725 și încasările de 975. O altă cerere după intrarea rivalilor ar cere o alegere nouă.</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La Q = 15 prețul este 65 iar MR și MC sunt 50.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Mai scump nu înseamnă automat mai profitabil.</a:t>
            </a:r>
          </a:p>
          <a:p>
            <a:r>
              <a:rPr sz="1400" b="0" lang="ro-RO">
                <a:solidFill>
                  <a:srgbClr val="24313D"/>
                </a:solidFill>
                <a:latin typeface="Arial"/>
              </a:rPr>
              <a:t>Profitul unei varietăți atrage oferte apropiate. Clienții se împart între mai multe firme. Cererea unei firme existente poate scădea și poate deveni mai elastică. Firma își recalculează cantitatea și prețul.</a:t>
            </a:r>
          </a:p>
          <a:p>
            <a:r>
              <a:rPr sz="1400" b="0" lang="ro-RO">
                <a:solidFill>
                  <a:srgbClr val="24313D"/>
                </a:solidFill>
                <a:latin typeface="Arial"/>
              </a:rPr>
              <a:t>În echilibrul standard de lungă durată cel mai bun profit economic este zero. Cererea este tangentă la LRAC în cazul neted interior. P acoperă LRAC la volumul ales și MR = LRMC. Remunerația normală a resurselor proprii rămâne inclusă în cost.</a:t>
            </a:r>
          </a:p>
          <a:p>
            <a:r>
              <a:rPr sz="1400" b="0" lang="ro-RO">
                <a:solidFill>
                  <a:srgbClr val="24313D"/>
                </a:solidFill>
                <a:latin typeface="Arial"/>
              </a:rPr>
              <a:t>Pe schemă urmărim următoarea legătură: Avantaj pentru client. Poate susține un preț mai mare. Cost pentru firmă. Trebuie recuperat din încasări.</a:t>
            </a:r>
          </a:p>
          <a:p>
            <a:r>
              <a:rPr sz="1400" b="0" lang="ro-RO">
                <a:solidFill>
                  <a:srgbClr val="24313D"/>
                </a:solidFill>
                <a:latin typeface="Arial"/>
              </a:rPr>
              <a:t>Verificare orală: Garantează un produs diferit profit pozitiv? Răspuns așteptat: Nu. Încasările trebuie să acopere costurile.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 = 80 − Q. TC = 200 + 20Q + Q². MR = 80 − 2Q și MC = 20 + 2Q. Cantitatea poate varia continuu.</a:t>
            </a:r>
          </a:p>
          <a:p>
            <a:r>
              <a:rPr sz="1400" b="0" lang="ro-RO">
                <a:solidFill>
                  <a:srgbClr val="24313D"/>
                </a:solidFill>
                <a:latin typeface="Arial"/>
              </a:rPr>
              <a:t>Cerințele sunt: Calculați cantitatea și prețul optime. Calculați profitul total.</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Cantitatea. 80 − 2Q = 20 + 2Q → Q = 15.</a:t>
            </a:r>
          </a:p>
          <a:p>
            <a:r>
              <a:rPr sz="1400" b="0" lang="ro-RO">
                <a:solidFill>
                  <a:srgbClr val="24313D"/>
                </a:solidFill>
                <a:latin typeface="Arial"/>
              </a:rPr>
              <a:t>Prețul. P = 80 − 15 = 65.</a:t>
            </a:r>
          </a:p>
          <a:p>
            <a:r>
              <a:rPr sz="1400" b="0" lang="ro-RO">
                <a:solidFill>
                  <a:srgbClr val="24313D"/>
                </a:solidFill>
                <a:latin typeface="Arial"/>
              </a:rPr>
              <a:t>Profitul. TR = 975; TC = 725; profit = 250.</a:t>
            </a:r>
          </a:p>
          <a:p>
            <a:r>
              <a:rPr sz="1400" b="0" lang="ro-RO">
                <a:solidFill>
                  <a:srgbClr val="24313D"/>
                </a:solidFill>
                <a:latin typeface="Arial"/>
              </a:rPr>
              <a:t>Alegerea este profitabilă în condițiile date. Intrarea unor rivali poate modifica cererea.</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Varietatea poate avea valoare pentru client. Firma rămâne limitată de substituenți. Profitul se calculează după toate costurile.</a:t>
            </a:r>
          </a:p>
          <a:p>
            <a:r>
              <a:rPr sz="1400" b="0" lang="ro-RO">
                <a:solidFill>
                  <a:srgbClr val="24313D"/>
                </a:solidFill>
                <a:latin typeface="Arial"/>
              </a:rPr>
              <a:t>Întrebarea de verificare este: Garantează un produs diferit profit pozitiv?</a:t>
            </a:r>
          </a:p>
          <a:p>
            <a:r>
              <a:rPr sz="1400" b="0" lang="ro-RO">
                <a:solidFill>
                  <a:srgbClr val="24313D"/>
                </a:solidFill>
                <a:latin typeface="Arial"/>
              </a:rPr>
              <a:t>Răspuns: Nu. Încasările trebuie să acopere costurile.</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ortamentul firmelor pe piața cu concurență monopolistică. De ce două cafenele pot cere prețuri diferite?. Legăm diferențierea de alegerea cantității și de profi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ții nu cumpără doar un obiect. Locul și serviciul și experiența pot conta. Amplasare. Mai aproape de client. Serviciu. Mai potrivit nevoii. Alternative. Limitează prețul ceru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curență și diferențiere în același timp. Multe firme. Există alternative apropiate. Produse diferite. Fiecare varietate are clienții săi. Intrare posibilă. Profitul poate atrage rival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vantajul unei varietăți poate fi temporar. Profit pozitiv. Atrage produse apropiate. Intrare. Clientela se împarte. Ajustare. Firma își recalculează alegere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egem ca o firmă cu cerere proprie. MR = MC; profit = (P − AC) × Q. Prețul se citește pe cererea varietății. Diferențierea nu elimină costuri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ererea proprie rămâne descrescătoare. P = 80 − Q. TC = 200 + 20Q + Q². La Q = 15 prețul este 65 iar MR și MC sunt 5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 scump nu înseamnă automat mai profitabil. Avantaj pentru client. Poate susține un preț mai mare. Cost pentru firmă. Trebuie recuperat din încasăr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10</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Alegerea unui producător diferențiat</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P = 80 − Q. TC = 200 + 20Q + Q². MR = 80 − 2Q și MC = 20 + 2Q. Cantitatea poate varia continuu.</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Calculați cantitatea și prețul optime.</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profitul total.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10</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Diferențierea permite un adaos limitat</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Cantitatea</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80 − 2Q = 20 + 2Q → Q = 15</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Prețul</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P = 80 − 15 = 65</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Profitul</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TR = 975; TC = 725; profit = 250</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Alegerea este profitabilă în condițiile date. Intrarea unor rivali poate modifica cererea.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Garantează un produs diferit profit pozitiv?. Varietatea poate avea valoare pentru client. Firma rămâne limitată de substituenți. Profitul se calculează după toate costuri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10. Comportamentul firmelor pe piața cu concurență monopolistică</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