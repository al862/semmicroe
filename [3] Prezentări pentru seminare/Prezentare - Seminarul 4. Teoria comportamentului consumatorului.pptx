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Un buget limitat nu permite cumpărarea tuturor bunurilor dorite. Comparăm coșurile accesibile și explicăm alegerea celui preferat. Folosim utilitatea și linia bugetară pentru a înțelege această decizie.</a:t>
            </a:r>
          </a:p>
          <a:p>
            <a:r>
              <a:rPr sz="1400" b="0" lang="ro-RO">
                <a:solidFill>
                  <a:srgbClr val="24313D"/>
                </a:solidFill>
                <a:latin typeface="Arial"/>
              </a:rPr>
              <a:t>Întrebarea care ne conduce este aceasta: Cum alegem un coș pe care ni-l permitem?</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Dorințele întâlnesc bugetul.</a:t>
            </a:r>
          </a:p>
          <a:p>
            <a:r>
              <a:rPr sz="1400" b="0" lang="ro-RO">
                <a:solidFill>
                  <a:srgbClr val="24313D"/>
                </a:solidFill>
                <a:latin typeface="Arial"/>
              </a:rPr>
              <a:t>La prânz poți cumpăra o porție mai mare sau poți păstra bani pentru o băutură. Nu alegi numai un bun izolat. Compari coșuri de bunuri în limita venitului. Un coș este o combinație de cantități pentru aceeași perioadă.</a:t>
            </a:r>
          </a:p>
          <a:p>
            <a:r>
              <a:rPr sz="1400" b="0" lang="ro-RO">
                <a:solidFill>
                  <a:srgbClr val="24313D"/>
                </a:solidFill>
                <a:latin typeface="Arial"/>
              </a:rPr>
              <a:t>Preferințele descriu ordinea în care un consumator apreciază coșurile. Raționalitatea înseamnă că această ordine este consecventă. Nu înseamnă că toate persoanele trebuie să prefere același coș. Scopul modelului este explicarea alegerii date de preferințe și de restricție.</a:t>
            </a:r>
          </a:p>
          <a:p>
            <a:r>
              <a:rPr sz="1400" b="0" lang="ro-RO">
                <a:solidFill>
                  <a:srgbClr val="24313D"/>
                </a:solidFill>
                <a:latin typeface="Arial"/>
              </a:rPr>
              <a:t>Pe schemă urmărim următoarea legătură: Preferințe. Ce ne aduce satisfacție. Prețuri. La ce renunțăm pentru un bun. Buget. Ce putem cumpăra.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Utilitatea descrie preferințele.</a:t>
            </a:r>
          </a:p>
          <a:p>
            <a:r>
              <a:rPr sz="1400" b="0" lang="ro-RO">
                <a:solidFill>
                  <a:srgbClr val="24313D"/>
                </a:solidFill>
                <a:latin typeface="Arial"/>
              </a:rPr>
              <a:t>Utilitatea este satisfacția asociată consumului în model. Abordarea cardinală reprezintă satisfacția prin numere convenționale. Utilitatea totală TU este satisfacția întregii cantități. Utilitatea marginală MU este sporul produs de o unitate suplimentară.</a:t>
            </a:r>
          </a:p>
          <a:p>
            <a:r>
              <a:rPr sz="1400" b="0" lang="ro-RO">
                <a:solidFill>
                  <a:srgbClr val="24313D"/>
                </a:solidFill>
                <a:latin typeface="Arial"/>
              </a:rPr>
              <a:t>Prima porție poate răspunde unei nevoi intense. O porție în plus poate aduce satisfacție mai mică. Aceasta este ideea utilității marginale descrescânde la preferințe și context date. TU poate încă să crească atunci când MU scade. Ea începe să scadă numai când sporul devine negativ.</a:t>
            </a:r>
          </a:p>
          <a:p>
            <a:r>
              <a:rPr sz="1400" b="0" lang="ro-RO">
                <a:solidFill>
                  <a:srgbClr val="24313D"/>
                </a:solidFill>
                <a:latin typeface="Arial"/>
              </a:rPr>
              <a:t>Pe schemă urmărim următoarea legătură: TU. Satisfacția întregului coș. MU. Sporul satisfacției la consum suplimentar. Indiferență. Coșuri evaluate la fel.</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Alegerea trece prin două verificări.</a:t>
            </a:r>
          </a:p>
          <a:p>
            <a:r>
              <a:rPr sz="1400" b="0" lang="ro-RO">
                <a:solidFill>
                  <a:srgbClr val="24313D"/>
                </a:solidFill>
                <a:latin typeface="Arial"/>
              </a:rPr>
              <a:t>La venit I și prețuri P</a:t>
            </a:r>
            <a:r>
              <a:rPr sz="1008" b="0" baseline="-25000" lang="ro-RO">
                <a:solidFill>
                  <a:srgbClr val="24313D"/>
                </a:solidFill>
                <a:latin typeface="Arial"/>
              </a:rPr>
              <a:t>x</a:t>
            </a:r>
            <a:r>
              <a:rPr sz="1400" b="0" lang="ro-RO">
                <a:solidFill>
                  <a:srgbClr val="24313D"/>
                </a:solidFill>
                <a:latin typeface="Arial"/>
              </a:rPr>
              <a:t> și P</a:t>
            </a:r>
            <a:r>
              <a:rPr sz="1008" b="0" baseline="-25000" lang="ro-RO">
                <a:solidFill>
                  <a:srgbClr val="24313D"/>
                </a:solidFill>
                <a:latin typeface="Arial"/>
              </a:rPr>
              <a:t>y</a:t>
            </a:r>
            <a:r>
              <a:rPr sz="1400" b="0" lang="ro-RO">
                <a:solidFill>
                  <a:srgbClr val="24313D"/>
                </a:solidFill>
                <a:latin typeface="Arial"/>
              </a:rPr>
              <a:t> coșurile accesibile satisfac P</a:t>
            </a:r>
            <a:r>
              <a:rPr sz="1008" b="0" baseline="-25000" lang="ro-RO">
                <a:solidFill>
                  <a:srgbClr val="24313D"/>
                </a:solidFill>
                <a:latin typeface="Arial"/>
              </a:rPr>
              <a:t>x</a:t>
            </a:r>
            <a:r>
              <a:rPr sz="1400" b="0" lang="ro-RO">
                <a:solidFill>
                  <a:srgbClr val="24313D"/>
                </a:solidFill>
                <a:latin typeface="Arial"/>
              </a:rPr>
              <a:t> × X + P</a:t>
            </a:r>
            <a:r>
              <a:rPr sz="1008" b="0" baseline="-25000" lang="ro-RO">
                <a:solidFill>
                  <a:srgbClr val="24313D"/>
                </a:solidFill>
                <a:latin typeface="Arial"/>
              </a:rPr>
              <a:t>y</a:t>
            </a:r>
            <a:r>
              <a:rPr sz="1400" b="0" lang="ro-RO">
                <a:solidFill>
                  <a:srgbClr val="24313D"/>
                </a:solidFill>
                <a:latin typeface="Arial"/>
              </a:rPr>
              <a:t> × Y ≤ I. Linia bugetară este limita cu egalitate. Interceptarea pe X este I/P</a:t>
            </a:r>
            <a:r>
              <a:rPr sz="1008" b="0" baseline="-25000" lang="ro-RO">
                <a:solidFill>
                  <a:srgbClr val="24313D"/>
                </a:solidFill>
                <a:latin typeface="Arial"/>
              </a:rPr>
              <a:t>x</a:t>
            </a:r>
            <a:r>
              <a:rPr sz="1400" b="0" lang="ro-RO">
                <a:solidFill>
                  <a:srgbClr val="24313D"/>
                </a:solidFill>
                <a:latin typeface="Arial"/>
              </a:rPr>
              <a:t>. Interceptarea pe Y este I/P</a:t>
            </a:r>
            <a:r>
              <a:rPr sz="1008" b="0" baseline="-25000" lang="ro-RO">
                <a:solidFill>
                  <a:srgbClr val="24313D"/>
                </a:solidFill>
                <a:latin typeface="Arial"/>
              </a:rPr>
              <a:t>y</a:t>
            </a:r>
            <a:r>
              <a:rPr sz="1400" b="0" lang="ro-RO">
                <a:solidFill>
                  <a:srgbClr val="24313D"/>
                </a:solidFill>
                <a:latin typeface="Arial"/>
              </a:rPr>
              <a:t>. Cu X pe axa orizontală panta este −P</a:t>
            </a:r>
            <a:r>
              <a:rPr sz="1008" b="0" baseline="-25000" lang="ro-RO">
                <a:solidFill>
                  <a:srgbClr val="24313D"/>
                </a:solidFill>
                <a:latin typeface="Arial"/>
              </a:rPr>
              <a:t>x</a:t>
            </a:r>
            <a:r>
              <a:rPr sz="1400" b="0" lang="ro-RO">
                <a:solidFill>
                  <a:srgbClr val="24313D"/>
                </a:solidFill>
                <a:latin typeface="Arial"/>
              </a:rPr>
              <a:t>/P</a:t>
            </a:r>
            <a:r>
              <a:rPr sz="1008" b="0" baseline="-25000" lang="ro-RO">
                <a:solidFill>
                  <a:srgbClr val="24313D"/>
                </a:solidFill>
                <a:latin typeface="Arial"/>
              </a:rPr>
              <a:t>y</a:t>
            </a:r>
            <a:r>
              <a:rPr sz="1400" b="0" lang="ro-RO">
                <a:solidFill>
                  <a:srgbClr val="24313D"/>
                </a:solidFill>
                <a:latin typeface="Arial"/>
              </a:rPr>
              <a:t>.</a:t>
            </a:r>
          </a:p>
          <a:p>
            <a:r>
              <a:rPr sz="1400" b="0" lang="ro-RO">
                <a:solidFill>
                  <a:srgbClr val="24313D"/>
                </a:solidFill>
                <a:latin typeface="Arial"/>
              </a:rPr>
              <a:t>Un venit mai mare cu prețuri constante deplasează linia paralel spre exterior. O modificare a unui singur preț rotește linia în jurul interceptării celuilalt bun. Dublarea simultană a venitului și a ambelor prețuri lasă linia neschimbată. Venitul nominal și puterea de cumpărare nu sunt aceeași mărime.</a:t>
            </a:r>
          </a:p>
          <a:p>
            <a:r>
              <a:rPr sz="1400" b="0" lang="ro-RO">
                <a:solidFill>
                  <a:srgbClr val="24313D"/>
                </a:solidFill>
                <a:latin typeface="Arial"/>
              </a:rPr>
              <a:t>Citim mecanismul în această ordine: Accesibilitate. Coșul respectă bugetul. Preferințe. Comparăm satisfacția. Alegere. Păstrăm varianta preferată accesibilă.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Bugetul este o limită.</a:t>
            </a:r>
          </a:p>
          <a:p>
            <a:r>
              <a:rPr sz="1400" b="0" lang="ro-RO">
                <a:solidFill>
                  <a:srgbClr val="24313D"/>
                </a:solidFill>
                <a:latin typeface="Arial"/>
              </a:rPr>
              <a:t>Împărțirea egală a banilor este rezultatul acestei funcții și acestor prețuri. Nu este o regulă pentru orice preferințe. Dacă utilitatea ar acorda o importanță diferită unuia dintre bunuri coșul optim s-ar schimba.</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Bugetul și preferințele pe același grafic.</a:t>
            </a:r>
          </a:p>
          <a:p>
            <a:r>
              <a:rPr sz="1400" b="0" lang="ro-RO">
                <a:solidFill>
                  <a:srgbClr val="24313D"/>
                </a:solidFill>
                <a:latin typeface="Arial"/>
              </a:rPr>
              <a:t>O curbă de indiferență unește coșuri pe care aceeași persoană le apreciază la fel. Pe o astfel de curbă mai mult X poate compensa mai puțin Y. Pentru bunuri dorite curbele uzuale sunt descrescătoare. Preferințele consecvente nu permit ca două curbe de niveluri diferite să se intersecteze.</a:t>
            </a:r>
          </a:p>
          <a:p>
            <a:r>
              <a:rPr sz="1400" b="0" lang="ro-RO">
                <a:solidFill>
                  <a:srgbClr val="24313D"/>
                </a:solidFill>
                <a:latin typeface="Arial"/>
              </a:rPr>
              <a:t>Rata marginală de substituție MRS arată cât Y este dispus consumatorul să sacrifice pentru încă puțin X la aceeași satisfacție. Precizăm întotdeauna sensul schimbului. Pentru preferințe convexe rata scade când X devine mai abundent în coș.</a:t>
            </a:r>
          </a:p>
          <a:p>
            <a:r>
              <a:rPr sz="1400" b="0" lang="ro-RO">
                <a:solidFill>
                  <a:srgbClr val="24313D"/>
                </a:solidFill>
                <a:latin typeface="Arial"/>
              </a:rPr>
              <a:t>Linia bugetară folosește venitul de 120 de lei și prețurile 20 și 10. În exemplu TU = X × Y reprezintă preferințele și nu bani primiți de consumator. Cele două coșuri pe care le comparăm au același cost. Ele nu au aceeași utilitate. La întrebarea despre coșul preferat trebuie folosită funcția de utilitate și nu doar suma de bani rămasă.</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Coșul X = 3 și Y = 6 este pe buget și are TU =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Un coș mai mare poate fi inaccesibil.</a:t>
            </a:r>
          </a:p>
          <a:p>
            <a:r>
              <a:rPr sz="1400" b="0" lang="ro-RO">
                <a:solidFill>
                  <a:srgbClr val="24313D"/>
                </a:solidFill>
                <a:latin typeface="Arial"/>
              </a:rPr>
              <a:t>Pentru un optim interior neted cu bunuri divizibile comparăm satisfacția adusă de ultimul leu folosit pentru fiecare bun. Dacă MU</a:t>
            </a:r>
            <a:r>
              <a:rPr sz="1008" b="0" baseline="-25000" lang="ro-RO">
                <a:solidFill>
                  <a:srgbClr val="24313D"/>
                </a:solidFill>
                <a:latin typeface="Arial"/>
              </a:rPr>
              <a:t>x</a:t>
            </a:r>
            <a:r>
              <a:rPr sz="1400" b="0" lang="ro-RO">
                <a:solidFill>
                  <a:srgbClr val="24313D"/>
                </a:solidFill>
                <a:latin typeface="Arial"/>
              </a:rPr>
              <a:t>/P</a:t>
            </a:r>
            <a:r>
              <a:rPr sz="1008" b="0" baseline="-25000" lang="ro-RO">
                <a:solidFill>
                  <a:srgbClr val="24313D"/>
                </a:solidFill>
                <a:latin typeface="Arial"/>
              </a:rPr>
              <a:t>x</a:t>
            </a:r>
            <a:r>
              <a:rPr sz="1400" b="0" lang="ro-RO">
                <a:solidFill>
                  <a:srgbClr val="24313D"/>
                </a:solidFill>
                <a:latin typeface="Arial"/>
              </a:rPr>
              <a:t> este mai mare decât MU</a:t>
            </a:r>
            <a:r>
              <a:rPr sz="1008" b="0" baseline="-25000" lang="ro-RO">
                <a:solidFill>
                  <a:srgbClr val="24313D"/>
                </a:solidFill>
                <a:latin typeface="Arial"/>
              </a:rPr>
              <a:t>y</a:t>
            </a:r>
            <a:r>
              <a:rPr sz="1400" b="0" lang="ro-RO">
                <a:solidFill>
                  <a:srgbClr val="24313D"/>
                </a:solidFill>
                <a:latin typeface="Arial"/>
              </a:rPr>
              <a:t>/P</a:t>
            </a:r>
            <a:r>
              <a:rPr sz="1008" b="0" baseline="-25000" lang="ro-RO">
                <a:solidFill>
                  <a:srgbClr val="24313D"/>
                </a:solidFill>
                <a:latin typeface="Arial"/>
              </a:rPr>
              <a:t>y</a:t>
            </a:r>
            <a:r>
              <a:rPr sz="1400" b="0" lang="ro-RO">
                <a:solidFill>
                  <a:srgbClr val="24313D"/>
                </a:solidFill>
                <a:latin typeface="Arial"/>
              </a:rPr>
              <a:t> o mică realocare spre X poate mări utilitatea. La optimul interior rapoartele sunt egale și bugetul este folosit integral în lipsa saturației.</a:t>
            </a:r>
          </a:p>
          <a:p>
            <a:r>
              <a:rPr sz="1400" b="0" lang="ro-RO">
                <a:solidFill>
                  <a:srgbClr val="24313D"/>
                </a:solidFill>
                <a:latin typeface="Arial"/>
              </a:rPr>
              <a:t>Aceeași condiție se scrie MRS</a:t>
            </a:r>
            <a:r>
              <a:rPr sz="1008" b="0" baseline="-25000" lang="ro-RO">
                <a:solidFill>
                  <a:srgbClr val="24313D"/>
                </a:solidFill>
                <a:latin typeface="Arial"/>
              </a:rPr>
              <a:t>xy</a:t>
            </a:r>
            <a:r>
              <a:rPr sz="1400" b="0" lang="ro-RO">
                <a:solidFill>
                  <a:srgbClr val="24313D"/>
                </a:solidFill>
                <a:latin typeface="Arial"/>
              </a:rPr>
              <a:t> = P</a:t>
            </a:r>
            <a:r>
              <a:rPr sz="1008" b="0" baseline="-25000" lang="ro-RO">
                <a:solidFill>
                  <a:srgbClr val="24313D"/>
                </a:solidFill>
                <a:latin typeface="Arial"/>
              </a:rPr>
              <a:t>x</a:t>
            </a:r>
            <a:r>
              <a:rPr sz="1400" b="0" lang="ro-RO">
                <a:solidFill>
                  <a:srgbClr val="24313D"/>
                </a:solidFill>
                <a:latin typeface="Arial"/>
              </a:rPr>
              <a:t>/P</a:t>
            </a:r>
            <a:r>
              <a:rPr sz="1008" b="0" baseline="-25000" lang="ro-RO">
                <a:solidFill>
                  <a:srgbClr val="24313D"/>
                </a:solidFill>
                <a:latin typeface="Arial"/>
              </a:rPr>
              <a:t>y</a:t>
            </a:r>
            <a:r>
              <a:rPr sz="1400" b="0" lang="ro-RO">
                <a:solidFill>
                  <a:srgbClr val="24313D"/>
                </a:solidFill>
                <a:latin typeface="Arial"/>
              </a:rPr>
              <a:t>. Ea descrie tangența dintre o curbă de indiferență și linia bugetară în condițiile potrivite. Nu este o rețetă pentru orice situație. Cu substituenți perfecți consumatorul poate aloca tot venitul unui bun. Cu bunuri indivizibile trebuie comparate coșurile întregi accesibile.</a:t>
            </a:r>
          </a:p>
          <a:p>
            <a:r>
              <a:rPr sz="1400" b="0" lang="ro-RO">
                <a:solidFill>
                  <a:srgbClr val="24313D"/>
                </a:solidFill>
                <a:latin typeface="Arial"/>
              </a:rPr>
              <a:t>Pe schemă urmărim următoarea legătură: Preferat. Oferă mai multă satisfacție. Accesibil. Nu depășește bugetul disponibil.</a:t>
            </a:r>
          </a:p>
          <a:p>
            <a:r>
              <a:rPr sz="1400" b="0" lang="ro-RO">
                <a:solidFill>
                  <a:srgbClr val="24313D"/>
                </a:solidFill>
                <a:latin typeface="Arial"/>
              </a:rPr>
              <a:t>Verificare orală: Poate un coș preferat să nu fie ales? Răspuns așteptat: Da. El poate depăși bugetul disponibil.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Venitul este 120 de lei. Prețurile sunt 20 de lei pentru X și 10 lei pentru Y. TU = X × Y. Comparăm A = (3; 6) și B = (2; 8).</a:t>
            </a:r>
          </a:p>
          <a:p>
            <a:r>
              <a:rPr sz="1400" b="0" lang="ro-RO">
                <a:solidFill>
                  <a:srgbClr val="24313D"/>
                </a:solidFill>
                <a:latin typeface="Arial"/>
              </a:rPr>
              <a:t>Cerințele sunt: Verificați costul ambelor coșuri. Comparați utilitățile lor totale.</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Coșul A. 20 × 3 + 10 × 6 = 120; TU = 18.</a:t>
            </a:r>
          </a:p>
          <a:p>
            <a:r>
              <a:rPr sz="1400" b="0" lang="ro-RO">
                <a:solidFill>
                  <a:srgbClr val="24313D"/>
                </a:solidFill>
                <a:latin typeface="Arial"/>
              </a:rPr>
              <a:t>Coșul B. 20 × 2 + 10 × 8 = 120; TU = 16.</a:t>
            </a:r>
          </a:p>
          <a:p>
            <a:r>
              <a:rPr sz="1400" b="0" lang="ro-RO">
                <a:solidFill>
                  <a:srgbClr val="24313D"/>
                </a:solidFill>
                <a:latin typeface="Arial"/>
              </a:rPr>
              <a:t>Compararea. A este preferat lui B în funcția dată.</a:t>
            </a:r>
          </a:p>
          <a:p>
            <a:r>
              <a:rPr sz="1400" b="0" lang="ro-RO">
                <a:solidFill>
                  <a:srgbClr val="24313D"/>
                </a:solidFill>
                <a:latin typeface="Arial"/>
              </a:rPr>
              <a:t>Ambele coșuri sunt accesibile. Preferințele aleg între ele.</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Bugetul arată posibilitățile. Preferințele ordonează coșurile. Alegem dintre variantele accesibile.</a:t>
            </a:r>
          </a:p>
          <a:p>
            <a:r>
              <a:rPr sz="1400" b="0" lang="ro-RO">
                <a:solidFill>
                  <a:srgbClr val="24313D"/>
                </a:solidFill>
                <a:latin typeface="Arial"/>
              </a:rPr>
              <a:t>Întrebarea de verificare este: Poate un coș preferat să nu fie ales?</a:t>
            </a:r>
          </a:p>
          <a:p>
            <a:r>
              <a:rPr sz="1400" b="0" lang="ro-RO">
                <a:solidFill>
                  <a:srgbClr val="24313D"/>
                </a:solidFill>
                <a:latin typeface="Arial"/>
              </a:rPr>
              <a:t>Răspuns: Da. El poate depăși bugetul disponibil.</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oria comportamentului consumatorului. Cum alegem un coș pe care ni-l permitem?. Legăm preferințele de buget și comparăm două coșur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orințele întâlnesc bugetul. Un coș preferat trebuie să fie și accesibil. Preferințe. Ce ne aduce satisfacție. Prețuri. La ce renunțăm pentru un bun. Buget. Ce putem cumpăr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tilitatea descrie preferințele. TU. Satisfacția întregului coș. MU. Sporul satisfacției la consum suplimentar. Indiferență. Coșuri evaluate la f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egerea trece prin două verificări. Accesibilitate. Coșul respectă bugetul. Preferințe. Comparăm satisfacția. Alegere. Păstrăm varianta preferată accesibil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ugetul este o limită. 20X + 10Y ≤ 120. X costă 20 de lei. Y costă 10 lei. Pentru exemplu folosim TU = X × 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ugetul și preferințele pe același grafic. Linia bugetară este Y = 12 − 2X. Coșul X = 3 și Y = 6 este pe buget și are TU = 18."/>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n coș mai mare poate fi inaccesibil. Preferat. Oferă mai multă satisfacție. Accesibil. Nu depășește bugetul disponibi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4</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Două coșuri pentru același buget</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Venitul este 120 de lei. Prețurile sunt 20 de lei pentru X și 10 lei pentru Y. TU = X × Y. Comparăm A = (3; 6) și B = (2; 8).</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Verificați costul ambelor coșuri.</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Comparați utilitățile lor totale.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4</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Aceeași plată nu înseamnă aceeași utilitate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Coșul 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20 × 3 + 10 × 6 = 120; TU = 18</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Coșul B</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20 × 2 + 10 × 8 = 120; TU = 16</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Compararea</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A este preferat lui B în funcția dată.</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Ambele coșuri sunt accesibile. Preferințele aleg între ele.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Poate un coș preferat să nu fie ales?. Bugetul arată posibilitățile. Preferințele ordonează coșurile. Alegem dintre variantele accesib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4. Teoria comportamentului consumatorului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