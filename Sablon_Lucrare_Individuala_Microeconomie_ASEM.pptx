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DDA554"/>
          </a:solidFill>
          <a:ln w="12700">
            <a:solidFill>
              <a:srgbClr val="DDA55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6072" y="4572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9875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90" b="1" spc="70" kern="0" dirty="0">
                <a:solidFill>
                  <a:srgbClr val="B3D9D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ACADEMIA DE STUDII ECONOMICE DIN MOLDOVA</a:t>
            </a:r>
            <a:endParaRPr lang="en-US" sz="1090" dirty="0"/>
          </a:p>
        </p:txBody>
      </p:sp>
      <p:sp>
        <p:nvSpPr>
          <p:cNvPr id="5" name="Shape 3"/>
          <p:cNvSpPr/>
          <p:nvPr/>
        </p:nvSpPr>
        <p:spPr>
          <a:xfrm>
            <a:off x="603504" y="1682496"/>
            <a:ext cx="2267712" cy="384048"/>
          </a:xfrm>
          <a:prstGeom prst="roundRect">
            <a:avLst>
              <a:gd name="adj" fmla="val 38095"/>
            </a:avLst>
          </a:prstGeom>
          <a:solidFill>
            <a:srgbClr val="FFF0D6"/>
          </a:solidFill>
          <a:ln w="12700">
            <a:solidFill>
              <a:srgbClr val="FFF0D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746504"/>
            <a:ext cx="20482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</a:t>
            </a:r>
            <a:endParaRPr lang="en-US" sz="1180" dirty="0"/>
          </a:p>
        </p:txBody>
      </p:sp>
      <p:sp>
        <p:nvSpPr>
          <p:cNvPr id="7" name="Text 5"/>
          <p:cNvSpPr/>
          <p:nvPr/>
        </p:nvSpPr>
        <p:spPr>
          <a:xfrm>
            <a:off x="566928" y="21945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80" b="1" spc="35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MICROECONOMIE</a:t>
            </a:r>
            <a:endParaRPr lang="en-US" sz="3280" dirty="0"/>
          </a:p>
        </p:txBody>
      </p:sp>
      <p:sp>
        <p:nvSpPr>
          <p:cNvPr id="8" name="Text 6"/>
          <p:cNvSpPr/>
          <p:nvPr/>
        </p:nvSpPr>
        <p:spPr>
          <a:xfrm>
            <a:off x="566928" y="2807208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20" b="1" dirty="0">
                <a:solidFill>
                  <a:srgbClr val="9CDE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[TITLUL TEMEI]</a:t>
            </a:r>
            <a:endParaRPr lang="en-US" sz="3420" dirty="0"/>
          </a:p>
        </p:txBody>
      </p:sp>
      <p:sp>
        <p:nvSpPr>
          <p:cNvPr id="9" name="Shape 7"/>
          <p:cNvSpPr/>
          <p:nvPr/>
        </p:nvSpPr>
        <p:spPr>
          <a:xfrm>
            <a:off x="612648" y="3877056"/>
            <a:ext cx="6382512" cy="0"/>
          </a:xfrm>
          <a:prstGeom prst="line">
            <a:avLst/>
          </a:prstGeom>
          <a:noFill/>
          <a:ln w="16510">
            <a:solidFill>
              <a:srgbClr val="3F7C7C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640080" y="41788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Student: [Nume Prenume]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3657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6EA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Grupa: [Grupa]</a:t>
            </a:r>
            <a:endParaRPr lang="en-US" sz="1520" dirty="0"/>
          </a:p>
        </p:txBody>
      </p:sp>
      <p:sp>
        <p:nvSpPr>
          <p:cNvPr id="12" name="Text 10"/>
          <p:cNvSpPr/>
          <p:nvPr/>
        </p:nvSpPr>
        <p:spPr>
          <a:xfrm>
            <a:off x="640080" y="4937760"/>
            <a:ext cx="5486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6EAE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Profesor: [Nume Prenume]</a:t>
            </a:r>
            <a:endParaRPr lang="en-US" sz="1520" dirty="0"/>
          </a:p>
        </p:txBody>
      </p:sp>
      <p:sp>
        <p:nvSpPr>
          <p:cNvPr id="13" name="Text 11"/>
          <p:cNvSpPr/>
          <p:nvPr/>
        </p:nvSpPr>
        <p:spPr>
          <a:xfrm>
            <a:off x="640080" y="609904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DD1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Chișinău  ·  [Anul universitar]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18120" y="1399032"/>
            <a:ext cx="3730752" cy="4050792"/>
          </a:xfrm>
          <a:prstGeom prst="roundRect">
            <a:avLst>
              <a:gd name="adj" fmla="val 3922"/>
            </a:avLst>
          </a:prstGeom>
          <a:solidFill>
            <a:srgbClr val="12444B"/>
          </a:solidFill>
          <a:ln w="12700">
            <a:solidFill>
              <a:srgbClr val="12444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47888" y="1965960"/>
            <a:ext cx="2862072" cy="0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247888" y="2606040"/>
            <a:ext cx="2862072" cy="0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247888" y="3246120"/>
            <a:ext cx="2862072" cy="0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8247888" y="3886200"/>
            <a:ext cx="2862072" cy="0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8247888" y="4526280"/>
            <a:ext cx="2862072" cy="0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247888" y="1965960"/>
            <a:ext cx="0" cy="3191256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8906256" y="1965960"/>
            <a:ext cx="0" cy="3191256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564624" y="1965960"/>
            <a:ext cx="0" cy="3191256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10222992" y="1965960"/>
            <a:ext cx="0" cy="3191256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0881360" y="1965960"/>
            <a:ext cx="0" cy="3191256"/>
          </a:xfrm>
          <a:prstGeom prst="line">
            <a:avLst/>
          </a:prstGeom>
          <a:noFill/>
          <a:ln w="7620">
            <a:solidFill>
              <a:srgbClr val="2E5960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8284464" y="5093208"/>
            <a:ext cx="2834640" cy="0"/>
          </a:xfrm>
          <a:prstGeom prst="line">
            <a:avLst/>
          </a:prstGeom>
          <a:noFill/>
          <a:ln w="22860">
            <a:solidFill>
              <a:srgbClr val="A7CDC6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8284464" y="5093208"/>
            <a:ext cx="0" cy="-3136392"/>
          </a:xfrm>
          <a:prstGeom prst="line">
            <a:avLst/>
          </a:prstGeom>
          <a:noFill/>
          <a:ln w="22860">
            <a:solidFill>
              <a:srgbClr val="A7CDC6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449056" y="2423160"/>
            <a:ext cx="2478024" cy="2313432"/>
          </a:xfrm>
          <a:prstGeom prst="line">
            <a:avLst/>
          </a:prstGeom>
          <a:noFill/>
          <a:ln w="53340">
            <a:solidFill>
              <a:srgbClr val="E5AA58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8503920" y="4690872"/>
            <a:ext cx="2432304" cy="-2084832"/>
          </a:xfrm>
          <a:prstGeom prst="line">
            <a:avLst/>
          </a:prstGeom>
          <a:noFill/>
          <a:ln w="53340">
            <a:solidFill>
              <a:srgbClr val="75D5B8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9619488" y="34472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808208" y="4800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E8B4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08792" y="2359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5DCB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02168" y="5614416"/>
            <a:ext cx="3154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80" b="1" spc="100" kern="0" dirty="0">
                <a:solidFill>
                  <a:srgbClr val="D5EDE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ECONOMIC</a:t>
            </a:r>
            <a:endParaRPr lang="en-US" sz="12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Problema economică și obiectivul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Precizează ce fenomen studiezi și de ce merită analizat.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1993392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 ALEASĂ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3504" y="2331720"/>
            <a:ext cx="69951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404872"/>
            <a:ext cx="66842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[Descrie tema în maximum 2 propoziții.]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21792" y="3529584"/>
            <a:ext cx="5029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ÎNTREBAREA DE CERCETARE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" y="3877056"/>
            <a:ext cx="6995160" cy="868680"/>
          </a:xfrm>
          <a:prstGeom prst="roundRect">
            <a:avLst>
              <a:gd name="adj" fmla="val 16842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950208"/>
            <a:ext cx="66842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[La ce întrebare concretă răspunde lucrarea?]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891272" y="2011680"/>
            <a:ext cx="3639312" cy="3502152"/>
          </a:xfrm>
          <a:prstGeom prst="roundRect">
            <a:avLst>
              <a:gd name="adj" fmla="val 4178"/>
            </a:avLst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11312" y="2441448"/>
            <a:ext cx="29077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9CD9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OBIECTIV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11312" y="2953512"/>
            <a:ext cx="2907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[Ce vei demonstra, explica sau compara?]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229600" y="4270248"/>
            <a:ext cx="2871216" cy="0"/>
          </a:xfrm>
          <a:prstGeom prst="line">
            <a:avLst/>
          </a:prstGeom>
          <a:noFill/>
          <a:ln w="15240">
            <a:solidFill>
              <a:srgbClr val="478087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/>
          <p:nvPr/>
        </p:nvSpPr>
        <p:spPr>
          <a:xfrm>
            <a:off x="8211312" y="4526280"/>
            <a:ext cx="2971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C4D5D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IMPORTANȚĂ ECONOMICĂ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8211312" y="4837176"/>
            <a:ext cx="2944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 ce contează această problemă?]</a:t>
            </a:r>
            <a:endParaRPr lang="en-US" sz="1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Concepte și definiții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Selectează doar noțiunile necesare pentru înțelegerea subiectului.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148840"/>
            <a:ext cx="350215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423160"/>
            <a:ext cx="484632" cy="484632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496312"/>
            <a:ext cx="484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77824" y="3081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spc="8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CONCEPTUL 01</a:t>
            </a:r>
            <a:endParaRPr lang="en-US" sz="1170" dirty="0"/>
          </a:p>
        </p:txBody>
      </p:sp>
      <p:sp>
        <p:nvSpPr>
          <p:cNvPr id="14" name="Text 12"/>
          <p:cNvSpPr/>
          <p:nvPr/>
        </p:nvSpPr>
        <p:spPr>
          <a:xfrm>
            <a:off x="877824" y="3429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[Denumirea noțiunii]</a:t>
            </a:r>
            <a:endParaRPr lang="en-US" sz="1840" dirty="0"/>
          </a:p>
        </p:txBody>
      </p:sp>
      <p:sp>
        <p:nvSpPr>
          <p:cNvPr id="15" name="Text 13"/>
          <p:cNvSpPr/>
          <p:nvPr/>
        </p:nvSpPr>
        <p:spPr>
          <a:xfrm>
            <a:off x="877824" y="400507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[Definiție scurtă și exactă, 1–2 rânduri.]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4343400" y="2148840"/>
            <a:ext cx="350215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9432" y="2423160"/>
            <a:ext cx="484632" cy="484632"/>
          </a:xfrm>
          <a:prstGeom prst="ellipse">
            <a:avLst/>
          </a:prstGeom>
          <a:solidFill>
            <a:srgbClr val="2D718A"/>
          </a:solidFill>
          <a:ln w="12700">
            <a:solidFill>
              <a:srgbClr val="2D718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9432" y="2496312"/>
            <a:ext cx="484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99432" y="3081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spc="8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CONCEPTUL 02</a:t>
            </a:r>
            <a:endParaRPr lang="en-US" sz="1170" dirty="0"/>
          </a:p>
        </p:txBody>
      </p:sp>
      <p:sp>
        <p:nvSpPr>
          <p:cNvPr id="20" name="Text 18"/>
          <p:cNvSpPr/>
          <p:nvPr/>
        </p:nvSpPr>
        <p:spPr>
          <a:xfrm>
            <a:off x="4599432" y="3429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[Denumirea noțiunii]</a:t>
            </a:r>
            <a:endParaRPr lang="en-US" sz="1840" dirty="0"/>
          </a:p>
        </p:txBody>
      </p:sp>
      <p:sp>
        <p:nvSpPr>
          <p:cNvPr id="21" name="Text 19"/>
          <p:cNvSpPr/>
          <p:nvPr/>
        </p:nvSpPr>
        <p:spPr>
          <a:xfrm>
            <a:off x="4599432" y="400507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[Definiție scurtă și exactă, 1–2 rânduri.]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8065008" y="2148840"/>
            <a:ext cx="3502152" cy="2697480"/>
          </a:xfrm>
          <a:prstGeom prst="roundRect">
            <a:avLst>
              <a:gd name="adj" fmla="val 5424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321040" y="2423160"/>
            <a:ext cx="484632" cy="484632"/>
          </a:xfrm>
          <a:prstGeom prst="ellipse">
            <a:avLst/>
          </a:prstGeom>
          <a:solidFill>
            <a:srgbClr val="DDA554"/>
          </a:solidFill>
          <a:ln w="12700">
            <a:solidFill>
              <a:srgbClr val="DDA55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2496312"/>
            <a:ext cx="484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321040" y="30815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b="1" spc="8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CONCEPTUL 03</a:t>
            </a:r>
            <a:endParaRPr lang="en-US" sz="1170" dirty="0"/>
          </a:p>
        </p:txBody>
      </p:sp>
      <p:sp>
        <p:nvSpPr>
          <p:cNvPr id="26" name="Text 24"/>
          <p:cNvSpPr/>
          <p:nvPr/>
        </p:nvSpPr>
        <p:spPr>
          <a:xfrm>
            <a:off x="8321040" y="3429000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4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[Denumirea noțiunii]</a:t>
            </a:r>
            <a:endParaRPr lang="en-US" sz="1840" dirty="0"/>
          </a:p>
        </p:txBody>
      </p:sp>
      <p:sp>
        <p:nvSpPr>
          <p:cNvPr id="27" name="Text 25"/>
          <p:cNvSpPr/>
          <p:nvPr/>
        </p:nvSpPr>
        <p:spPr>
          <a:xfrm>
            <a:off x="8321040" y="4005072"/>
            <a:ext cx="28803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[Definiție scurtă și exactă, 1–2 rânduri.]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630936" y="5138928"/>
            <a:ext cx="10936224" cy="804672"/>
          </a:xfrm>
          <a:prstGeom prst="roundRect">
            <a:avLst>
              <a:gd name="adj" fmla="val 18182"/>
            </a:avLst>
          </a:prstGeom>
          <a:solidFill>
            <a:srgbClr val="DDF0E8"/>
          </a:solidFill>
          <a:ln w="12700">
            <a:solidFill>
              <a:srgbClr val="DDF0E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5358384"/>
            <a:ext cx="3493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b="1" spc="6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RELAȚIA ECONOMICĂ ESENȚIALĂ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4352544" y="5294376"/>
            <a:ext cx="6793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4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[Formula, legea sau legătura dintre concepte]</a:t>
            </a:r>
            <a:endParaRPr lang="en-US" sz="17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Modelul economic / graficul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Graficul trebuie să aibă axe, legendă și o explicație economică.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029968"/>
            <a:ext cx="73152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8763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225296" y="4613148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3672230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1225296" y="3931920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4895698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1225296" y="3250692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119165" y="2569464"/>
            <a:ext cx="0" cy="2724912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1225296" y="2569464"/>
            <a:ext cx="6117336" cy="0"/>
          </a:xfrm>
          <a:prstGeom prst="line">
            <a:avLst/>
          </a:prstGeom>
          <a:noFill/>
          <a:ln w="10160">
            <a:solidFill>
              <a:srgbClr val="E4EDEB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25296" y="5294376"/>
            <a:ext cx="6254496" cy="0"/>
          </a:xfrm>
          <a:prstGeom prst="line">
            <a:avLst/>
          </a:prstGeom>
          <a:noFill/>
          <a:ln w="29210">
            <a:solidFill>
              <a:srgbClr val="102C35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225296" y="5294376"/>
            <a:ext cx="0" cy="-2907792"/>
          </a:xfrm>
          <a:prstGeom prst="line">
            <a:avLst/>
          </a:prstGeom>
          <a:noFill/>
          <a:ln w="29210">
            <a:solidFill>
              <a:srgbClr val="102C35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813816" y="2340864"/>
            <a:ext cx="13898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 (preț)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6510528" y="5404104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 (cantitate)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581912" y="2770632"/>
            <a:ext cx="5303520" cy="2112264"/>
          </a:xfrm>
          <a:prstGeom prst="line">
            <a:avLst/>
          </a:prstGeom>
          <a:noFill/>
          <a:ln w="45720">
            <a:solidFill>
              <a:srgbClr val="DDA55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1600200" y="4910328"/>
            <a:ext cx="5303520" cy="-2157984"/>
          </a:xfrm>
          <a:prstGeom prst="line">
            <a:avLst/>
          </a:prstGeom>
          <a:noFill/>
          <a:ln w="45720">
            <a:solidFill>
              <a:srgbClr val="167C6C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004304" y="4764024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DDA5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</a:t>
            </a:r>
            <a:endParaRPr lang="en-US" sz="1270" dirty="0"/>
          </a:p>
        </p:txBody>
      </p:sp>
      <p:sp>
        <p:nvSpPr>
          <p:cNvPr id="26" name="Text 24"/>
          <p:cNvSpPr/>
          <p:nvPr/>
        </p:nvSpPr>
        <p:spPr>
          <a:xfrm>
            <a:off x="7013448" y="2697480"/>
            <a:ext cx="27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1270" dirty="0"/>
          </a:p>
        </p:txBody>
      </p:sp>
      <p:sp>
        <p:nvSpPr>
          <p:cNvPr id="27" name="Shape 25"/>
          <p:cNvSpPr/>
          <p:nvPr/>
        </p:nvSpPr>
        <p:spPr>
          <a:xfrm>
            <a:off x="4142232" y="3730752"/>
            <a:ext cx="201168" cy="201168"/>
          </a:xfrm>
          <a:prstGeom prst="ellipse">
            <a:avLst/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42816" y="3831336"/>
            <a:ext cx="0" cy="1463040"/>
          </a:xfrm>
          <a:prstGeom prst="line">
            <a:avLst/>
          </a:prstGeom>
          <a:noFill/>
          <a:ln w="17780">
            <a:solidFill>
              <a:srgbClr val="2D718A"/>
            </a:solidFill>
            <a:prstDash val="dash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225296" y="3831336"/>
            <a:ext cx="3017520" cy="0"/>
          </a:xfrm>
          <a:prstGeom prst="line">
            <a:avLst/>
          </a:prstGeom>
          <a:noFill/>
          <a:ln w="17780">
            <a:solidFill>
              <a:srgbClr val="2D718A"/>
            </a:solidFill>
            <a:prstDash val="dash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841248" y="363016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P*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096512" y="535838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2D71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Q*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211312" y="2029968"/>
            <a:ext cx="3310128" cy="3840480"/>
          </a:xfrm>
          <a:prstGeom prst="roundRect">
            <a:avLst>
              <a:gd name="adj" fmla="val 4420"/>
            </a:avLst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67344" y="2423160"/>
            <a:ext cx="2779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ARATĂ GRAFICUL?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458200" y="2807208"/>
            <a:ext cx="27249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[Explică relația dintre variabile.]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476488" y="3813048"/>
            <a:ext cx="272491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8458200" y="4005072"/>
            <a:ext cx="2734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[Descrie schimbarea: ce se deplasează, crește sau scade?]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449056" y="5111496"/>
            <a:ext cx="271576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demonstrativ: adaptează curbele, etichetele și axele la tema ta.</a:t>
            </a:r>
            <a:endParaRPr lang="en-US" sz="11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Exemplu practic / studiu de caz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Alege o piață, un produs sau o situație economică reală.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" y="2057400"/>
            <a:ext cx="6803136" cy="3639312"/>
          </a:xfrm>
          <a:prstGeom prst="roundRect">
            <a:avLst>
              <a:gd name="adj" fmla="val 4020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53309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8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SITUAȚIA ANALIZATĂ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2688336"/>
            <a:ext cx="615391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[Titlul exemplului]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14400" y="3410712"/>
            <a:ext cx="599846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[Prezintă succint situația: cine, ce, unde, când și ce s-a schimbat.]</a:t>
            </a:r>
            <a:endParaRPr lang="en-US" sz="1820" dirty="0"/>
          </a:p>
        </p:txBody>
      </p:sp>
      <p:sp>
        <p:nvSpPr>
          <p:cNvPr id="14" name="Shape 12"/>
          <p:cNvSpPr/>
          <p:nvPr/>
        </p:nvSpPr>
        <p:spPr>
          <a:xfrm>
            <a:off x="877824" y="4937760"/>
            <a:ext cx="6254496" cy="448056"/>
          </a:xfrm>
          <a:prstGeom prst="roundRect">
            <a:avLst>
              <a:gd name="adj" fmla="val 32653"/>
            </a:avLst>
          </a:prstGeom>
          <a:solidFill>
            <a:srgbClr val="FFF0D6"/>
          </a:solidFill>
          <a:ln w="12700">
            <a:solidFill>
              <a:srgbClr val="FFF0D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3272" y="5029200"/>
            <a:ext cx="59161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825F3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SURSA EXEMPLULUI: [link / instituție / an]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7744968" y="2048256"/>
            <a:ext cx="3803904" cy="1005840"/>
          </a:xfrm>
          <a:prstGeom prst="roundRect">
            <a:avLst>
              <a:gd name="adj" fmla="val 14545"/>
            </a:avLst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01000" y="2249424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9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PIAȚA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001000" y="2560320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[Piață / produs]</a:t>
            </a:r>
            <a:endParaRPr lang="en-US" sz="1640" dirty="0"/>
          </a:p>
        </p:txBody>
      </p:sp>
      <p:sp>
        <p:nvSpPr>
          <p:cNvPr id="19" name="Shape 17"/>
          <p:cNvSpPr/>
          <p:nvPr/>
        </p:nvSpPr>
        <p:spPr>
          <a:xfrm>
            <a:off x="7744968" y="3310128"/>
            <a:ext cx="3803904" cy="1005840"/>
          </a:xfrm>
          <a:prstGeom prst="roundRect">
            <a:avLst>
              <a:gd name="adj" fmla="val 14545"/>
            </a:avLst>
          </a:prstGeom>
          <a:solidFill>
            <a:srgbClr val="E5F0F4"/>
          </a:solidFill>
          <a:ln w="12700">
            <a:solidFill>
              <a:srgbClr val="E5F0F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01000" y="3511296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9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PERIOADA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001000" y="3822192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[An / interval]</a:t>
            </a:r>
            <a:endParaRPr lang="en-US" sz="1640" dirty="0"/>
          </a:p>
        </p:txBody>
      </p:sp>
      <p:sp>
        <p:nvSpPr>
          <p:cNvPr id="22" name="Shape 20"/>
          <p:cNvSpPr/>
          <p:nvPr/>
        </p:nvSpPr>
        <p:spPr>
          <a:xfrm>
            <a:off x="7744968" y="4572000"/>
            <a:ext cx="3803904" cy="1005840"/>
          </a:xfrm>
          <a:prstGeom prst="roundRect">
            <a:avLst>
              <a:gd name="adj" fmla="val 14545"/>
            </a:avLst>
          </a:prstGeom>
          <a:solidFill>
            <a:srgbClr val="DDF0E8"/>
          </a:solidFill>
          <a:ln w="12700">
            <a:solidFill>
              <a:srgbClr val="DDF0E8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4773168"/>
            <a:ext cx="32186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9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FACTORUL ANALIZAT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001000" y="5084064"/>
            <a:ext cx="32095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[Variabila / schimbarea]</a:t>
            </a:r>
            <a:endParaRPr lang="en-US" sz="16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Datele utilizate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Prezentarea datelor într-un tabel clar și comparabil.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792224" cy="548640"/>
          </a:xfrm>
          <a:prstGeom prst="rect">
            <a:avLst/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230428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Perioadă</a:t>
            </a:r>
            <a:endParaRPr lang="en-US" sz="1330" dirty="0"/>
          </a:p>
        </p:txBody>
      </p:sp>
      <p:sp>
        <p:nvSpPr>
          <p:cNvPr id="12" name="Shape 10"/>
          <p:cNvSpPr/>
          <p:nvPr/>
        </p:nvSpPr>
        <p:spPr>
          <a:xfrm>
            <a:off x="2478024" y="2148840"/>
            <a:ext cx="2066544" cy="548640"/>
          </a:xfrm>
          <a:prstGeom prst="rect">
            <a:avLst/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2304288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Variabila X</a:t>
            </a:r>
            <a:endParaRPr lang="en-US" sz="1330" dirty="0"/>
          </a:p>
        </p:txBody>
      </p:sp>
      <p:sp>
        <p:nvSpPr>
          <p:cNvPr id="14" name="Shape 12"/>
          <p:cNvSpPr/>
          <p:nvPr/>
        </p:nvSpPr>
        <p:spPr>
          <a:xfrm>
            <a:off x="4581144" y="2148840"/>
            <a:ext cx="2313432" cy="548640"/>
          </a:xfrm>
          <a:prstGeom prst="rect">
            <a:avLst/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2304288"/>
            <a:ext cx="2130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Variabila Y</a:t>
            </a:r>
            <a:endParaRPr lang="en-US" sz="1330" dirty="0"/>
          </a:p>
        </p:txBody>
      </p:sp>
      <p:sp>
        <p:nvSpPr>
          <p:cNvPr id="16" name="Shape 14"/>
          <p:cNvSpPr/>
          <p:nvPr/>
        </p:nvSpPr>
        <p:spPr>
          <a:xfrm>
            <a:off x="6931152" y="2148840"/>
            <a:ext cx="2368296" cy="548640"/>
          </a:xfrm>
          <a:prstGeom prst="rect">
            <a:avLst/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9168" y="2304288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Unitate</a:t>
            </a:r>
            <a:endParaRPr lang="en-US" sz="1330" dirty="0"/>
          </a:p>
        </p:txBody>
      </p:sp>
      <p:sp>
        <p:nvSpPr>
          <p:cNvPr id="18" name="Shape 16"/>
          <p:cNvSpPr/>
          <p:nvPr/>
        </p:nvSpPr>
        <p:spPr>
          <a:xfrm>
            <a:off x="9336024" y="2148840"/>
            <a:ext cx="2130552" cy="548640"/>
          </a:xfrm>
          <a:prstGeom prst="rect">
            <a:avLst/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64040" y="2304288"/>
            <a:ext cx="1947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Sursă</a:t>
            </a:r>
            <a:endParaRPr lang="en-US" sz="1330" dirty="0"/>
          </a:p>
        </p:txBody>
      </p:sp>
      <p:sp>
        <p:nvSpPr>
          <p:cNvPr id="20" name="Shape 18"/>
          <p:cNvSpPr/>
          <p:nvPr/>
        </p:nvSpPr>
        <p:spPr>
          <a:xfrm>
            <a:off x="640080" y="2697480"/>
            <a:ext cx="179222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" y="285292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[An / lună 1]</a:t>
            </a:r>
            <a:endParaRPr lang="en-US" sz="1360" dirty="0"/>
          </a:p>
        </p:txBody>
      </p:sp>
      <p:sp>
        <p:nvSpPr>
          <p:cNvPr id="22" name="Shape 20"/>
          <p:cNvSpPr/>
          <p:nvPr/>
        </p:nvSpPr>
        <p:spPr>
          <a:xfrm>
            <a:off x="2478024" y="2697480"/>
            <a:ext cx="20665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06040" y="285292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24" name="Shape 22"/>
          <p:cNvSpPr/>
          <p:nvPr/>
        </p:nvSpPr>
        <p:spPr>
          <a:xfrm>
            <a:off x="4581144" y="2697480"/>
            <a:ext cx="23134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28529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26" name="Shape 24"/>
          <p:cNvSpPr/>
          <p:nvPr/>
        </p:nvSpPr>
        <p:spPr>
          <a:xfrm>
            <a:off x="6931152" y="2697480"/>
            <a:ext cx="23682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59168" y="285292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28" name="Shape 26"/>
          <p:cNvSpPr/>
          <p:nvPr/>
        </p:nvSpPr>
        <p:spPr>
          <a:xfrm>
            <a:off x="9336024" y="2697480"/>
            <a:ext cx="2130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64040" y="285292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[Sursa]</a:t>
            </a:r>
            <a:endParaRPr lang="en-US" sz="1360" dirty="0"/>
          </a:p>
        </p:txBody>
      </p:sp>
      <p:sp>
        <p:nvSpPr>
          <p:cNvPr id="30" name="Shape 28"/>
          <p:cNvSpPr/>
          <p:nvPr/>
        </p:nvSpPr>
        <p:spPr>
          <a:xfrm>
            <a:off x="640080" y="3337560"/>
            <a:ext cx="1792224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349300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[An / lună 2]</a:t>
            </a:r>
            <a:endParaRPr lang="en-US" sz="1360" dirty="0"/>
          </a:p>
        </p:txBody>
      </p:sp>
      <p:sp>
        <p:nvSpPr>
          <p:cNvPr id="32" name="Shape 30"/>
          <p:cNvSpPr/>
          <p:nvPr/>
        </p:nvSpPr>
        <p:spPr>
          <a:xfrm>
            <a:off x="2478024" y="3337560"/>
            <a:ext cx="2066544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06040" y="349300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34" name="Shape 32"/>
          <p:cNvSpPr/>
          <p:nvPr/>
        </p:nvSpPr>
        <p:spPr>
          <a:xfrm>
            <a:off x="4581144" y="3337560"/>
            <a:ext cx="2313432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349300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36" name="Shape 34"/>
          <p:cNvSpPr/>
          <p:nvPr/>
        </p:nvSpPr>
        <p:spPr>
          <a:xfrm>
            <a:off x="6931152" y="3337560"/>
            <a:ext cx="2368296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59168" y="349300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38" name="Shape 36"/>
          <p:cNvSpPr/>
          <p:nvPr/>
        </p:nvSpPr>
        <p:spPr>
          <a:xfrm>
            <a:off x="9336024" y="3337560"/>
            <a:ext cx="2130552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64040" y="34930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[Sursa]</a:t>
            </a:r>
            <a:endParaRPr lang="en-US" sz="1360" dirty="0"/>
          </a:p>
        </p:txBody>
      </p:sp>
      <p:sp>
        <p:nvSpPr>
          <p:cNvPr id="40" name="Shape 38"/>
          <p:cNvSpPr/>
          <p:nvPr/>
        </p:nvSpPr>
        <p:spPr>
          <a:xfrm>
            <a:off x="640080" y="3977640"/>
            <a:ext cx="179222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" y="413308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[An / lună 3]</a:t>
            </a:r>
            <a:endParaRPr lang="en-US" sz="1360" dirty="0"/>
          </a:p>
        </p:txBody>
      </p:sp>
      <p:sp>
        <p:nvSpPr>
          <p:cNvPr id="42" name="Shape 40"/>
          <p:cNvSpPr/>
          <p:nvPr/>
        </p:nvSpPr>
        <p:spPr>
          <a:xfrm>
            <a:off x="2478024" y="3977640"/>
            <a:ext cx="2066544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06040" y="413308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44" name="Shape 42"/>
          <p:cNvSpPr/>
          <p:nvPr/>
        </p:nvSpPr>
        <p:spPr>
          <a:xfrm>
            <a:off x="4581144" y="3977640"/>
            <a:ext cx="231343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09160" y="413308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46" name="Shape 44"/>
          <p:cNvSpPr/>
          <p:nvPr/>
        </p:nvSpPr>
        <p:spPr>
          <a:xfrm>
            <a:off x="6931152" y="3977640"/>
            <a:ext cx="2368296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59168" y="413308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48" name="Shape 46"/>
          <p:cNvSpPr/>
          <p:nvPr/>
        </p:nvSpPr>
        <p:spPr>
          <a:xfrm>
            <a:off x="9336024" y="3977640"/>
            <a:ext cx="2130552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64040" y="41330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[Sursa]</a:t>
            </a:r>
            <a:endParaRPr lang="en-US" sz="1360" dirty="0"/>
          </a:p>
        </p:txBody>
      </p:sp>
      <p:sp>
        <p:nvSpPr>
          <p:cNvPr id="50" name="Shape 48"/>
          <p:cNvSpPr/>
          <p:nvPr/>
        </p:nvSpPr>
        <p:spPr>
          <a:xfrm>
            <a:off x="640080" y="4617720"/>
            <a:ext cx="1792224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" y="4773168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[An / lună 4]</a:t>
            </a:r>
            <a:endParaRPr lang="en-US" sz="1360" dirty="0"/>
          </a:p>
        </p:txBody>
      </p:sp>
      <p:sp>
        <p:nvSpPr>
          <p:cNvPr id="52" name="Shape 50"/>
          <p:cNvSpPr/>
          <p:nvPr/>
        </p:nvSpPr>
        <p:spPr>
          <a:xfrm>
            <a:off x="2478024" y="4617720"/>
            <a:ext cx="2066544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606040" y="4773168"/>
            <a:ext cx="1901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54" name="Shape 52"/>
          <p:cNvSpPr/>
          <p:nvPr/>
        </p:nvSpPr>
        <p:spPr>
          <a:xfrm>
            <a:off x="4581144" y="4617720"/>
            <a:ext cx="2313432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09160" y="47731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[Valoare]</a:t>
            </a:r>
            <a:endParaRPr lang="en-US" sz="1360" dirty="0"/>
          </a:p>
        </p:txBody>
      </p:sp>
      <p:sp>
        <p:nvSpPr>
          <p:cNvPr id="56" name="Shape 54"/>
          <p:cNvSpPr/>
          <p:nvPr/>
        </p:nvSpPr>
        <p:spPr>
          <a:xfrm>
            <a:off x="6931152" y="4617720"/>
            <a:ext cx="2368296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59168" y="4773168"/>
            <a:ext cx="2203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[lei / unit.]</a:t>
            </a:r>
            <a:endParaRPr lang="en-US" sz="1360" dirty="0"/>
          </a:p>
        </p:txBody>
      </p:sp>
      <p:sp>
        <p:nvSpPr>
          <p:cNvPr id="58" name="Shape 56"/>
          <p:cNvSpPr/>
          <p:nvPr/>
        </p:nvSpPr>
        <p:spPr>
          <a:xfrm>
            <a:off x="9336024" y="4617720"/>
            <a:ext cx="2130552" cy="594360"/>
          </a:xfrm>
          <a:prstGeom prst="rect">
            <a:avLst/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9464040" y="477316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[Sursa]</a:t>
            </a:r>
            <a:endParaRPr lang="en-US" sz="1360" dirty="0"/>
          </a:p>
        </p:txBody>
      </p:sp>
      <p:sp>
        <p:nvSpPr>
          <p:cNvPr id="60" name="Shape 58"/>
          <p:cNvSpPr/>
          <p:nvPr/>
        </p:nvSpPr>
        <p:spPr>
          <a:xfrm>
            <a:off x="667512" y="5495544"/>
            <a:ext cx="10799064" cy="438912"/>
          </a:xfrm>
          <a:prstGeom prst="roundRect">
            <a:avLst>
              <a:gd name="adj" fmla="val 33333"/>
            </a:avLst>
          </a:prstGeom>
          <a:solidFill>
            <a:srgbClr val="FFF0D6"/>
          </a:solidFill>
          <a:ln w="12700">
            <a:solidFill>
              <a:srgbClr val="FFF0D6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96112" y="5605272"/>
            <a:ext cx="10332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dirty="0">
                <a:solidFill>
                  <a:srgbClr val="8060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NOTĂ: precizează perioada, unitățile de măsură și originea fiecărei serii de date.</a:t>
            </a:r>
            <a:endParaRPr lang="en-US" sz="12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 economic / indicator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Prezintă formula, înlocuirea datelor și rezultatul final.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" y="2002536"/>
            <a:ext cx="10863072" cy="1060704"/>
          </a:xfrm>
          <a:prstGeom prst="roundRect">
            <a:avLst>
              <a:gd name="adj" fmla="val 13793"/>
            </a:avLst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203704"/>
            <a:ext cx="2578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spc="100" kern="0" dirty="0">
                <a:solidFill>
                  <a:srgbClr val="A4D9C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FORMULĂ UTILIZATĂ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3657600" y="2221992"/>
            <a:ext cx="7406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[Formula indicatorului + definiția simbolurilor]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649224" y="3438144"/>
            <a:ext cx="3465576" cy="197510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685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DA5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2900" dirty="0"/>
          </a:p>
        </p:txBody>
      </p:sp>
      <p:sp>
        <p:nvSpPr>
          <p:cNvPr id="15" name="Text 13"/>
          <p:cNvSpPr/>
          <p:nvPr/>
        </p:nvSpPr>
        <p:spPr>
          <a:xfrm>
            <a:off x="886968" y="4288536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4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DE INTRARE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886968" y="46817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[Valorile și unitățile]</a:t>
            </a:r>
            <a:endParaRPr lang="en-US" sz="1640" dirty="0"/>
          </a:p>
        </p:txBody>
      </p:sp>
      <p:sp>
        <p:nvSpPr>
          <p:cNvPr id="17" name="Shape 15"/>
          <p:cNvSpPr/>
          <p:nvPr/>
        </p:nvSpPr>
        <p:spPr>
          <a:xfrm>
            <a:off x="4352544" y="3438144"/>
            <a:ext cx="3465576" cy="1975104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90288" y="3685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DDA55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4590288" y="4288536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4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ÎNLOCUIRE ÎN FORMULĂ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590288" y="46817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[Calculul pas cu pas]</a:t>
            </a:r>
            <a:endParaRPr lang="en-US" sz="1640" dirty="0"/>
          </a:p>
        </p:txBody>
      </p:sp>
      <p:sp>
        <p:nvSpPr>
          <p:cNvPr id="21" name="Shape 19"/>
          <p:cNvSpPr/>
          <p:nvPr/>
        </p:nvSpPr>
        <p:spPr>
          <a:xfrm>
            <a:off x="8046720" y="3438144"/>
            <a:ext cx="3465576" cy="1975104"/>
          </a:xfrm>
          <a:prstGeom prst="roundRect">
            <a:avLst>
              <a:gd name="adj" fmla="val 7407"/>
            </a:avLst>
          </a:prstGeom>
          <a:solidFill>
            <a:srgbClr val="DDF0E8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84464" y="368503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2900" dirty="0"/>
          </a:p>
        </p:txBody>
      </p:sp>
      <p:sp>
        <p:nvSpPr>
          <p:cNvPr id="23" name="Text 21"/>
          <p:cNvSpPr/>
          <p:nvPr/>
        </p:nvSpPr>
        <p:spPr>
          <a:xfrm>
            <a:off x="8284464" y="4288536"/>
            <a:ext cx="2935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4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REZULTAT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8284464" y="4681728"/>
            <a:ext cx="2935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40" b="1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[Valoarea obținută]</a:t>
            </a:r>
            <a:endParaRPr lang="en-US" sz="1640" dirty="0"/>
          </a:p>
        </p:txBody>
      </p:sp>
      <p:sp>
        <p:nvSpPr>
          <p:cNvPr id="25" name="Text 23"/>
          <p:cNvSpPr/>
          <p:nvPr/>
        </p:nvSpPr>
        <p:spPr>
          <a:xfrm>
            <a:off x="768096" y="5751576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Folosește cel puțin un calcul relevant pentru tema aleasă, dacă subiectul permite cuantificare.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Interpretarea economică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 te limita la număr: explică mecanismul și consecințele.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0080" y="2212848"/>
            <a:ext cx="3456432" cy="3108960"/>
          </a:xfrm>
          <a:prstGeom prst="roundRect">
            <a:avLst>
              <a:gd name="adj" fmla="val 4706"/>
            </a:avLst>
          </a:prstGeom>
          <a:solidFill>
            <a:srgbClr val="E7F1EF"/>
          </a:solidFill>
          <a:ln w="12700">
            <a:solidFill>
              <a:srgbClr val="E7F1E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432304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96112" y="3063240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spc="60" kern="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ARATĂ?</a:t>
            </a:r>
            <a:endParaRPr lang="en-US" sz="1270" dirty="0"/>
          </a:p>
        </p:txBody>
      </p:sp>
      <p:sp>
        <p:nvSpPr>
          <p:cNvPr id="13" name="Shape 11"/>
          <p:cNvSpPr/>
          <p:nvPr/>
        </p:nvSpPr>
        <p:spPr>
          <a:xfrm>
            <a:off x="905256" y="3529584"/>
            <a:ext cx="2926080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96112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6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[Semnificația rezultatului]</a:t>
            </a:r>
            <a:endParaRPr lang="en-US" sz="1860" dirty="0"/>
          </a:p>
        </p:txBody>
      </p:sp>
      <p:sp>
        <p:nvSpPr>
          <p:cNvPr id="15" name="Shape 13"/>
          <p:cNvSpPr/>
          <p:nvPr/>
        </p:nvSpPr>
        <p:spPr>
          <a:xfrm>
            <a:off x="4361688" y="2212848"/>
            <a:ext cx="3465576" cy="3108960"/>
          </a:xfrm>
          <a:prstGeom prst="roundRect">
            <a:avLst>
              <a:gd name="adj" fmla="val 4706"/>
            </a:avLst>
          </a:prstGeom>
          <a:solidFill>
            <a:srgbClr val="E5F0F4"/>
          </a:solidFill>
          <a:ln w="12700">
            <a:solidFill>
              <a:srgbClr val="E5F0F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7720" y="2432304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17720" y="3063240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spc="60" kern="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CE SE ÎNTÂMPLĂ?</a:t>
            </a:r>
            <a:endParaRPr lang="en-US" sz="1270" dirty="0"/>
          </a:p>
        </p:txBody>
      </p:sp>
      <p:sp>
        <p:nvSpPr>
          <p:cNvPr id="18" name="Shape 16"/>
          <p:cNvSpPr/>
          <p:nvPr/>
        </p:nvSpPr>
        <p:spPr>
          <a:xfrm>
            <a:off x="4626864" y="3529584"/>
            <a:ext cx="2935224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19" name="Text 17"/>
          <p:cNvSpPr/>
          <p:nvPr/>
        </p:nvSpPr>
        <p:spPr>
          <a:xfrm>
            <a:off x="4617720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6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[Explicația economică]</a:t>
            </a:r>
            <a:endParaRPr lang="en-US" sz="1860" dirty="0"/>
          </a:p>
        </p:txBody>
      </p:sp>
      <p:sp>
        <p:nvSpPr>
          <p:cNvPr id="20" name="Shape 18"/>
          <p:cNvSpPr/>
          <p:nvPr/>
        </p:nvSpPr>
        <p:spPr>
          <a:xfrm>
            <a:off x="8083296" y="2212848"/>
            <a:ext cx="3447288" cy="3108960"/>
          </a:xfrm>
          <a:prstGeom prst="roundRect">
            <a:avLst>
              <a:gd name="adj" fmla="val 4706"/>
            </a:avLst>
          </a:prstGeom>
          <a:solidFill>
            <a:srgbClr val="FFF0D6"/>
          </a:solidFill>
          <a:ln w="12700">
            <a:solidFill>
              <a:srgbClr val="FFF0D6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9328" y="2432304"/>
            <a:ext cx="64008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8D69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8339328" y="3063240"/>
            <a:ext cx="2935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b="1" spc="60" kern="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CARE ESTE EFECTUL?</a:t>
            </a:r>
            <a:endParaRPr lang="en-US" sz="1270" dirty="0"/>
          </a:p>
        </p:txBody>
      </p:sp>
      <p:sp>
        <p:nvSpPr>
          <p:cNvPr id="23" name="Shape 21"/>
          <p:cNvSpPr/>
          <p:nvPr/>
        </p:nvSpPr>
        <p:spPr>
          <a:xfrm>
            <a:off x="8348472" y="3529584"/>
            <a:ext cx="2916936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8339328" y="384048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6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[Consecința pentru piață]</a:t>
            </a:r>
            <a:endParaRPr lang="en-US" sz="1860" dirty="0"/>
          </a:p>
        </p:txBody>
      </p:sp>
      <p:sp>
        <p:nvSpPr>
          <p:cNvPr id="25" name="Text 23"/>
          <p:cNvSpPr/>
          <p:nvPr/>
        </p:nvSpPr>
        <p:spPr>
          <a:xfrm>
            <a:off x="749808" y="55321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LIMITARE / CONDIȚIE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182112" y="5513832"/>
            <a:ext cx="79004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i="1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[Menționează un factor care poate modifica interpretarea.]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Concluzii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Încheie cu ideile pe care le susțin datele și analiza.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" y="2039112"/>
            <a:ext cx="109453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05256" y="2276856"/>
            <a:ext cx="548640" cy="548640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4140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70" dirty="0"/>
          </a:p>
        </p:txBody>
      </p:sp>
      <p:sp>
        <p:nvSpPr>
          <p:cNvPr id="13" name="Text 11"/>
          <p:cNvSpPr/>
          <p:nvPr/>
        </p:nvSpPr>
        <p:spPr>
          <a:xfrm>
            <a:off x="1655064" y="2258568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5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CONCLUZIA PRINCIPALĂ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4636008" y="2276856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[Răspunsul la întrebarea de cercetare.]</a:t>
            </a:r>
            <a:endParaRPr lang="en-US" sz="1720" dirty="0"/>
          </a:p>
        </p:txBody>
      </p:sp>
      <p:sp>
        <p:nvSpPr>
          <p:cNvPr id="15" name="Shape 13"/>
          <p:cNvSpPr/>
          <p:nvPr/>
        </p:nvSpPr>
        <p:spPr>
          <a:xfrm>
            <a:off x="621792" y="3282696"/>
            <a:ext cx="10945368" cy="1042416"/>
          </a:xfrm>
          <a:prstGeom prst="roundRect">
            <a:avLst>
              <a:gd name="adj" fmla="val 14035"/>
            </a:avLst>
          </a:prstGeom>
          <a:solidFill>
            <a:srgbClr val="E7F1E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5256" y="3520440"/>
            <a:ext cx="548640" cy="548640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5256" y="36576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70" dirty="0"/>
          </a:p>
        </p:txBody>
      </p:sp>
      <p:sp>
        <p:nvSpPr>
          <p:cNvPr id="18" name="Text 16"/>
          <p:cNvSpPr/>
          <p:nvPr/>
        </p:nvSpPr>
        <p:spPr>
          <a:xfrm>
            <a:off x="1655064" y="3502152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5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 AI DEMONSTRAT?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636008" y="3520440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[Legătura dintre model, date și rezultat.]</a:t>
            </a:r>
            <a:endParaRPr lang="en-US" sz="1720" dirty="0"/>
          </a:p>
        </p:txBody>
      </p:sp>
      <p:sp>
        <p:nvSpPr>
          <p:cNvPr id="20" name="Shape 18"/>
          <p:cNvSpPr/>
          <p:nvPr/>
        </p:nvSpPr>
        <p:spPr>
          <a:xfrm>
            <a:off x="621792" y="4526280"/>
            <a:ext cx="10945368" cy="1042416"/>
          </a:xfrm>
          <a:prstGeom prst="roundRect">
            <a:avLst>
              <a:gd name="adj" fmla="val 14035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" y="4764024"/>
            <a:ext cx="548640" cy="548640"/>
          </a:xfrm>
          <a:prstGeom prst="ellipse">
            <a:avLst/>
          </a:prstGeom>
          <a:solidFill>
            <a:srgbClr val="DDA554"/>
          </a:solidFill>
          <a:ln w="12700">
            <a:solidFill>
              <a:srgbClr val="DDA554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5256" y="49011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7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70" dirty="0"/>
          </a:p>
        </p:txBody>
      </p:sp>
      <p:sp>
        <p:nvSpPr>
          <p:cNvPr id="23" name="Text 21"/>
          <p:cNvSpPr/>
          <p:nvPr/>
        </p:nvSpPr>
        <p:spPr>
          <a:xfrm>
            <a:off x="1655064" y="47457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spc="5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APLICABILITATE / LIMITĂ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636008" y="4764024"/>
            <a:ext cx="6364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20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[Unde este utilă analiza și ce limitări are?]</a:t>
            </a:r>
            <a:endParaRPr lang="en-US" sz="1720" dirty="0"/>
          </a:p>
        </p:txBody>
      </p:sp>
      <p:sp>
        <p:nvSpPr>
          <p:cNvPr id="25" name="Shape 23"/>
          <p:cNvSpPr/>
          <p:nvPr/>
        </p:nvSpPr>
        <p:spPr>
          <a:xfrm>
            <a:off x="685800" y="5815584"/>
            <a:ext cx="10799064" cy="310896"/>
          </a:xfrm>
          <a:prstGeom prst="roundRect">
            <a:avLst>
              <a:gd name="adj" fmla="val 47059"/>
            </a:avLst>
          </a:prstGeom>
          <a:solidFill>
            <a:srgbClr val="FFF0D6"/>
          </a:solidFill>
          <a:ln w="12700">
            <a:solidFill>
              <a:srgbClr val="FFF0D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0120" y="5861304"/>
            <a:ext cx="102595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8D682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concluzie bună nu introduce informații noi, ci răspunde obiectivului inițial.</a:t>
            </a:r>
            <a:endParaRPr lang="en-US" sz="11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DE PREZENTARE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Bibliografie și surse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Folosește date verificabile și un mod de citare consecvent.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084832"/>
            <a:ext cx="10853928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2768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24323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230" dirty="0"/>
          </a:p>
        </p:txBody>
      </p:sp>
      <p:sp>
        <p:nvSpPr>
          <p:cNvPr id="13" name="Text 11"/>
          <p:cNvSpPr/>
          <p:nvPr/>
        </p:nvSpPr>
        <p:spPr>
          <a:xfrm>
            <a:off x="1682496" y="2249424"/>
            <a:ext cx="9290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spc="7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MANUAL / CARTE</a:t>
            </a:r>
            <a:endParaRPr lang="en-US" sz="1190" dirty="0"/>
          </a:p>
        </p:txBody>
      </p:sp>
      <p:sp>
        <p:nvSpPr>
          <p:cNvPr id="14" name="Text 12"/>
          <p:cNvSpPr/>
          <p:nvPr/>
        </p:nvSpPr>
        <p:spPr>
          <a:xfrm>
            <a:off x="1682496" y="2587752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[Autor], [Titlul lucrării], [Editura], [Anul], [pagini].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658368" y="3300984"/>
            <a:ext cx="10853928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9536" y="3493008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D718A"/>
          </a:solidFill>
          <a:ln w="12700">
            <a:solidFill>
              <a:srgbClr val="2D718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484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1682496" y="3465576"/>
            <a:ext cx="9290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spc="7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 STATISTICE / INSTITUȚIE</a:t>
            </a:r>
            <a:endParaRPr lang="en-US" sz="1190" dirty="0"/>
          </a:p>
        </p:txBody>
      </p:sp>
      <p:sp>
        <p:nvSpPr>
          <p:cNvPr id="19" name="Text 17"/>
          <p:cNvSpPr/>
          <p:nvPr/>
        </p:nvSpPr>
        <p:spPr>
          <a:xfrm>
            <a:off x="1682496" y="3803904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[Instituția], [Denumirea indicatorului], [Anul], [URL].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658368" y="4517136"/>
            <a:ext cx="10853928" cy="102412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59536" y="470916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" y="486460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1682496" y="4681728"/>
            <a:ext cx="92903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90" b="1" spc="7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ARTICOL / RESURSĂ ONLINE</a:t>
            </a:r>
            <a:endParaRPr lang="en-US" sz="1190" dirty="0"/>
          </a:p>
        </p:txBody>
      </p:sp>
      <p:sp>
        <p:nvSpPr>
          <p:cNvPr id="24" name="Text 22"/>
          <p:cNvSpPr/>
          <p:nvPr/>
        </p:nvSpPr>
        <p:spPr>
          <a:xfrm>
            <a:off x="1682496" y="5020056"/>
            <a:ext cx="9326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30" i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[Autor / instituție], [Titlu], [Data], [URL], [data accesării].</a:t>
            </a:r>
            <a:endParaRPr lang="en-US" sz="1530" dirty="0"/>
          </a:p>
        </p:txBody>
      </p:sp>
      <p:sp>
        <p:nvSpPr>
          <p:cNvPr id="25" name="Shape 23"/>
          <p:cNvSpPr/>
          <p:nvPr/>
        </p:nvSpPr>
        <p:spPr>
          <a:xfrm>
            <a:off x="685800" y="5870448"/>
            <a:ext cx="10753344" cy="310896"/>
          </a:xfrm>
          <a:prstGeom prst="roundRect">
            <a:avLst>
              <a:gd name="adj" fmla="val 47059"/>
            </a:avLst>
          </a:prstGeom>
          <a:solidFill>
            <a:srgbClr val="DDF0E8"/>
          </a:solidFill>
          <a:ln w="12700">
            <a:solidFill>
              <a:srgbClr val="DDF0E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5916168"/>
            <a:ext cx="102047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Înlocuiește exemplele cu toate sursele utilizate efectiv în lucrare.</a:t>
            </a:r>
            <a:endParaRPr lang="en-US" sz="11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572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ASEM  /  MICROECONOMIE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823960" y="320040"/>
            <a:ext cx="2834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30" b="1" spc="12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INSTRUCȚIUNI  •  ELIMINĂ LA FINAL</a:t>
            </a:r>
            <a:endParaRPr lang="en-US" sz="1030" dirty="0"/>
          </a:p>
        </p:txBody>
      </p:sp>
      <p:sp>
        <p:nvSpPr>
          <p:cNvPr id="5" name="Text 3"/>
          <p:cNvSpPr/>
          <p:nvPr/>
        </p:nvSpPr>
        <p:spPr>
          <a:xfrm>
            <a:off x="521208" y="8046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Ghid de completare</a:t>
            </a:r>
            <a:endParaRPr lang="en-US" sz="2750" dirty="0"/>
          </a:p>
        </p:txBody>
      </p:sp>
      <p:sp>
        <p:nvSpPr>
          <p:cNvPr id="6" name="Text 4"/>
          <p:cNvSpPr/>
          <p:nvPr/>
        </p:nvSpPr>
        <p:spPr>
          <a:xfrm>
            <a:off x="530352" y="1389888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Acest diapozitiv este pentru student și se elimină înainte de predare.</a:t>
            </a:r>
            <a:endParaRPr lang="en-US" sz="1360" dirty="0"/>
          </a:p>
        </p:txBody>
      </p:sp>
      <p:sp>
        <p:nvSpPr>
          <p:cNvPr id="7" name="Shape 5"/>
          <p:cNvSpPr/>
          <p:nvPr/>
        </p:nvSpPr>
        <p:spPr>
          <a:xfrm>
            <a:off x="502920" y="6327648"/>
            <a:ext cx="11137392" cy="0"/>
          </a:xfrm>
          <a:prstGeom prst="line">
            <a:avLst/>
          </a:prstGeom>
          <a:noFill/>
          <a:ln w="12700">
            <a:solidFill>
              <a:srgbClr val="CFDFD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512064" y="6437376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b="1" spc="70" kern="0" dirty="0">
                <a:solidFill>
                  <a:srgbClr val="586E7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LUCRARE INDIVIDUALĂ  •  ȘABLON EDITABIL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11173968" y="6419088"/>
            <a:ext cx="438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67C6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94944" y="2029968"/>
            <a:ext cx="6638544" cy="3630168"/>
          </a:xfrm>
          <a:prstGeom prst="roundRect">
            <a:avLst>
              <a:gd name="adj" fmla="val 4030"/>
            </a:avLst>
          </a:prstGeom>
          <a:solidFill>
            <a:srgbClr val="FFFFFF"/>
          </a:solidFill>
          <a:ln w="12700">
            <a:solidFill>
              <a:srgbClr val="CFDF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377440"/>
            <a:ext cx="246888" cy="246888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24128" y="242316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13" name="Text 11"/>
          <p:cNvSpPr/>
          <p:nvPr/>
        </p:nvSpPr>
        <p:spPr>
          <a:xfrm>
            <a:off x="1490472" y="232257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Înlocuiește toate textele dintre paranteze drepte [ ].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1024128" y="2926080"/>
            <a:ext cx="246888" cy="246888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4128" y="297180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16" name="Text 14"/>
          <p:cNvSpPr/>
          <p:nvPr/>
        </p:nvSpPr>
        <p:spPr>
          <a:xfrm>
            <a:off x="1490472" y="287121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Adaptează graficul: obiectele sunt editabile în PowerPoint.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1024128" y="3474720"/>
            <a:ext cx="246888" cy="246888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52044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1490472" y="341985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Păstrează textul scurt și folosește exemple concrete.</a:t>
            </a:r>
            <a:endParaRPr lang="en-US" sz="1520" dirty="0"/>
          </a:p>
        </p:txBody>
      </p:sp>
      <p:sp>
        <p:nvSpPr>
          <p:cNvPr id="20" name="Shape 18"/>
          <p:cNvSpPr/>
          <p:nvPr/>
        </p:nvSpPr>
        <p:spPr>
          <a:xfrm>
            <a:off x="1024128" y="4023360"/>
            <a:ext cx="246888" cy="246888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406908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22" name="Text 20"/>
          <p:cNvSpPr/>
          <p:nvPr/>
        </p:nvSpPr>
        <p:spPr>
          <a:xfrm>
            <a:off x="1490472" y="396849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Indică sursa tuturor datelor, imaginilor și afirmațiilor.</a:t>
            </a:r>
            <a:endParaRPr lang="en-US" sz="1520" dirty="0"/>
          </a:p>
        </p:txBody>
      </p:sp>
      <p:sp>
        <p:nvSpPr>
          <p:cNvPr id="23" name="Shape 21"/>
          <p:cNvSpPr/>
          <p:nvPr/>
        </p:nvSpPr>
        <p:spPr>
          <a:xfrm>
            <a:off x="1024128" y="4572000"/>
            <a:ext cx="246888" cy="246888"/>
          </a:xfrm>
          <a:prstGeom prst="ellipse">
            <a:avLst/>
          </a:prstGeom>
          <a:solidFill>
            <a:srgbClr val="167C6C"/>
          </a:solidFill>
          <a:ln w="12700">
            <a:solidFill>
              <a:srgbClr val="167C6C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24128" y="4617720"/>
            <a:ext cx="24688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1490472" y="4517136"/>
            <a:ext cx="5449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Elimină acest ghid și diapozitivele neutilizate.</a:t>
            </a:r>
            <a:endParaRPr lang="en-US" sz="1520" dirty="0"/>
          </a:p>
        </p:txBody>
      </p:sp>
      <p:sp>
        <p:nvSpPr>
          <p:cNvPr id="26" name="Shape 24"/>
          <p:cNvSpPr/>
          <p:nvPr/>
        </p:nvSpPr>
        <p:spPr>
          <a:xfrm>
            <a:off x="7680960" y="2029968"/>
            <a:ext cx="3803904" cy="2350008"/>
          </a:xfrm>
          <a:prstGeom prst="roundRect">
            <a:avLst>
              <a:gd name="adj" fmla="val 6226"/>
            </a:avLst>
          </a:prstGeom>
          <a:solidFill>
            <a:srgbClr val="0C323B"/>
          </a:solidFill>
          <a:ln w="12700">
            <a:solidFill>
              <a:srgbClr val="0C323B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28432" y="238658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A5D8C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RECOMANDĂRI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019288" y="2862072"/>
            <a:ext cx="3044952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1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8–10 diapozitive de conținut (orientativ)</a:t>
            </a:r>
            <a:endParaRPr lang="en-US" sz="2010" dirty="0"/>
          </a:p>
        </p:txBody>
      </p:sp>
      <p:sp>
        <p:nvSpPr>
          <p:cNvPr id="29" name="Text 27"/>
          <p:cNvSpPr/>
          <p:nvPr/>
        </p:nvSpPr>
        <p:spPr>
          <a:xfrm>
            <a:off x="8028432" y="36850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90" dirty="0">
                <a:solidFill>
                  <a:srgbClr val="E2F4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Fiecare diapozitiv = o idee principală</a:t>
            </a:r>
            <a:endParaRPr lang="en-US" sz="1390" dirty="0"/>
          </a:p>
        </p:txBody>
      </p:sp>
      <p:sp>
        <p:nvSpPr>
          <p:cNvPr id="30" name="Shape 28"/>
          <p:cNvSpPr/>
          <p:nvPr/>
        </p:nvSpPr>
        <p:spPr>
          <a:xfrm>
            <a:off x="7690104" y="4654296"/>
            <a:ext cx="3785616" cy="1014984"/>
          </a:xfrm>
          <a:prstGeom prst="roundRect">
            <a:avLst>
              <a:gd name="adj" fmla="val 14414"/>
            </a:avLst>
          </a:prstGeom>
          <a:solidFill>
            <a:srgbClr val="FFF0D6"/>
          </a:solidFill>
          <a:ln w="12700">
            <a:solidFill>
              <a:srgbClr val="FFF0D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27848" y="4910328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916A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 ESTE O GRILĂ OFICIALĂ DE NOTARE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927848" y="5175504"/>
            <a:ext cx="33192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02C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Cerințele profesorului au prioritate.</a:t>
            </a:r>
            <a:endParaRPr lang="en-US" sz="12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ASEM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Șablon PPTX — Lucrare individuală la Microeconomie</dc:title>
  <dc:subject>Șablon editabil pentru lucrări individuale la Microeconomie</dc:subject>
  <dc:creator>ASEM | Model de lucru individuală</dc:creator>
  <cp:lastModifiedBy>ASEM | Model de lucru individuală</cp:lastModifiedBy>
  <cp:revision>1</cp:revision>
  <dcterms:created xsi:type="dcterms:W3CDTF">2026-10-10T18:07:25Z</dcterms:created>
  <dcterms:modified xsi:type="dcterms:W3CDTF">2026-10-10T18:07:25Z</dcterms:modified>
</cp:coreProperties>
</file>