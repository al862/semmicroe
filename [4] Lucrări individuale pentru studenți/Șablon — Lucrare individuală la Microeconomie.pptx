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466344"/>
            <a:ext cx="438912" cy="283464"/>
          </a:xfrm>
          <a:prstGeom prst="chevron">
            <a:avLst/>
          </a:prstGeom>
          <a:solidFill>
            <a:srgbClr val="B3D8FF"/>
          </a:solidFill>
          <a:ln w="12700">
            <a:solidFill>
              <a:srgbClr val="B3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87552" y="466344"/>
            <a:ext cx="438912" cy="283464"/>
          </a:xfrm>
          <a:prstGeom prst="chevron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7904" y="3840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9875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spc="70" kern="0" dirty="0">
                <a:solidFill>
                  <a:srgbClr val="B3D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ACADEMIA DE STUDII ECONOMICE DIN MOLDOVA</a:t>
            </a:r>
            <a:endParaRPr lang="en-US" sz="1090" dirty="0"/>
          </a:p>
        </p:txBody>
      </p:sp>
      <p:sp>
        <p:nvSpPr>
          <p:cNvPr id="7" name="Shape 5"/>
          <p:cNvSpPr/>
          <p:nvPr/>
        </p:nvSpPr>
        <p:spPr>
          <a:xfrm>
            <a:off x="603504" y="1682496"/>
            <a:ext cx="2267712" cy="384048"/>
          </a:xfrm>
          <a:prstGeom prst="roundRect">
            <a:avLst>
              <a:gd name="adj" fmla="val 38095"/>
            </a:avLst>
          </a:prstGeom>
          <a:solidFill>
            <a:srgbClr val="FFF0E4"/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4650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80" b="1" spc="3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MICROECONOMIE</a:t>
            </a:r>
            <a:endParaRPr lang="en-US" sz="3280" dirty="0"/>
          </a:p>
        </p:txBody>
      </p:sp>
      <p:sp>
        <p:nvSpPr>
          <p:cNvPr id="10" name="Text 8"/>
          <p:cNvSpPr/>
          <p:nvPr/>
        </p:nvSpPr>
        <p:spPr>
          <a:xfrm>
            <a:off x="566928" y="28072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20" b="1" dirty="0">
                <a:solidFill>
                  <a:srgbClr val="FFD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[TITLUL TEMEI]</a:t>
            </a:r>
            <a:endParaRPr lang="en-US" sz="3120" dirty="0"/>
          </a:p>
        </p:txBody>
      </p:sp>
      <p:sp>
        <p:nvSpPr>
          <p:cNvPr id="11" name="Shape 9"/>
          <p:cNvSpPr/>
          <p:nvPr/>
        </p:nvSpPr>
        <p:spPr>
          <a:xfrm>
            <a:off x="612648" y="3877056"/>
            <a:ext cx="6382512" cy="0"/>
          </a:xfrm>
          <a:prstGeom prst="line">
            <a:avLst/>
          </a:prstGeom>
          <a:noFill/>
          <a:ln w="16510">
            <a:solidFill>
              <a:srgbClr val="3F7C7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40080" y="4178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Student: [Nume Prenume]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D7EC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Grupa: [Grupa]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D7EC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Profesor: [Nume Prenume]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640080" y="60990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D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Chișinău  ·  [Anul universitar]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566928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i="1" dirty="0">
                <a:solidFill>
                  <a:srgbClr val="C9D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INSTRUCȚIUNE: înlocuiește toate câmpurile [ ] cu datele tale.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818120" y="1399032"/>
            <a:ext cx="3730752" cy="4050792"/>
          </a:xfrm>
          <a:prstGeom prst="roundRect">
            <a:avLst>
              <a:gd name="adj" fmla="val 3922"/>
            </a:avLst>
          </a:prstGeom>
          <a:solidFill>
            <a:srgbClr val="194C71"/>
          </a:solidFill>
          <a:ln w="12700">
            <a:solidFill>
              <a:srgbClr val="194C7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1965960"/>
            <a:ext cx="2862072" cy="0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247888" y="2606040"/>
            <a:ext cx="2862072" cy="0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247888" y="3246120"/>
            <a:ext cx="2862072" cy="0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247888" y="3886200"/>
            <a:ext cx="2862072" cy="0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247888" y="4526280"/>
            <a:ext cx="2862072" cy="0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247888" y="1965960"/>
            <a:ext cx="0" cy="3191256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906256" y="1965960"/>
            <a:ext cx="0" cy="3191256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564624" y="1965960"/>
            <a:ext cx="0" cy="3191256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0222992" y="1965960"/>
            <a:ext cx="0" cy="3191256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881360" y="1965960"/>
            <a:ext cx="0" cy="3191256"/>
          </a:xfrm>
          <a:prstGeom prst="line">
            <a:avLst/>
          </a:prstGeom>
          <a:noFill/>
          <a:ln w="7620">
            <a:solidFill>
              <a:srgbClr val="3D6786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284464" y="5093208"/>
            <a:ext cx="2834640" cy="0"/>
          </a:xfrm>
          <a:prstGeom prst="line">
            <a:avLst/>
          </a:prstGeom>
          <a:noFill/>
          <a:ln w="22860">
            <a:solidFill>
              <a:srgbClr val="A4CBE7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8284464" y="5093208"/>
            <a:ext cx="0" cy="-3136392"/>
          </a:xfrm>
          <a:prstGeom prst="line">
            <a:avLst/>
          </a:prstGeom>
          <a:noFill/>
          <a:ln w="22860">
            <a:solidFill>
              <a:srgbClr val="A4CBE7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449056" y="2423160"/>
            <a:ext cx="2478024" cy="2313432"/>
          </a:xfrm>
          <a:prstGeom prst="line">
            <a:avLst/>
          </a:prstGeom>
          <a:noFill/>
          <a:ln w="53340">
            <a:solidFill>
              <a:srgbClr val="55A6F3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503920" y="4690872"/>
            <a:ext cx="2432304" cy="-2084832"/>
          </a:xfrm>
          <a:prstGeom prst="line">
            <a:avLst/>
          </a:prstGeom>
          <a:noFill/>
          <a:ln w="53340">
            <a:solidFill>
              <a:srgbClr val="FF864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619488" y="34472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0820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FC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08792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02168" y="561441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spc="100" kern="0" dirty="0">
                <a:solidFill>
                  <a:srgbClr val="C8E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CERERE (albastru)  ·  OFERTĂ (portocaliu)</a:t>
            </a:r>
            <a:endParaRPr lang="en-US" sz="12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economică și obiectivul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Precizează ce fenomen studiezi și de ce merită analizat.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199339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ALEASĂ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69951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404872"/>
            <a:ext cx="66842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[Descrie tema în maximum 2 propoziții.]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" y="352958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ÎNTREBAREA DE CERCETARE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" y="3877056"/>
            <a:ext cx="69951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950208"/>
            <a:ext cx="66842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[La ce întrebare concretă răspunde lucrarea?]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91272" y="2011680"/>
            <a:ext cx="3639312" cy="3502152"/>
          </a:xfrm>
          <a:prstGeom prst="roundRect">
            <a:avLst>
              <a:gd name="adj" fmla="val 4178"/>
            </a:avLst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441448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B7D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OBIECTIV CONCRET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11312" y="2953512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[Ce vei demonstra, explica sau compara?]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0" y="4270248"/>
            <a:ext cx="2871216" cy="0"/>
          </a:xfrm>
          <a:prstGeom prst="line">
            <a:avLst/>
          </a:prstGeom>
          <a:noFill/>
          <a:ln w="15240">
            <a:solidFill>
              <a:srgbClr val="478087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211312" y="452628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C9D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IMPORTANȚĂ ECONOMICĂ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211312" y="4837176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 ce contează această problemă?]</a:t>
            </a:r>
            <a:endParaRPr lang="en-US" sz="1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Concepte fundamentale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Alege 2–3 definiții care ajută la răspunsul întrebării de cercetare.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148840"/>
            <a:ext cx="3502152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423160"/>
            <a:ext cx="484632" cy="484632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496312"/>
            <a:ext cx="484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7824" y="3081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spc="8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CONCEPTUL 01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877824" y="3429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[Denumirea noțiunii]</a:t>
            </a:r>
            <a:endParaRPr lang="en-US" sz="1840" dirty="0"/>
          </a:p>
        </p:txBody>
      </p:sp>
      <p:sp>
        <p:nvSpPr>
          <p:cNvPr id="15" name="Text 13"/>
          <p:cNvSpPr/>
          <p:nvPr/>
        </p:nvSpPr>
        <p:spPr>
          <a:xfrm>
            <a:off x="877824" y="400507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[Definiție scurtă și exactă, 1–2 rânduri.]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43400" y="2148840"/>
            <a:ext cx="3502152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9432" y="2423160"/>
            <a:ext cx="484632" cy="484632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2496312"/>
            <a:ext cx="484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99432" y="3081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spc="8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CONCEPTUL 02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4599432" y="3429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[Denumirea noțiunii]</a:t>
            </a:r>
            <a:endParaRPr lang="en-US" sz="1840" dirty="0"/>
          </a:p>
        </p:txBody>
      </p:sp>
      <p:sp>
        <p:nvSpPr>
          <p:cNvPr id="21" name="Text 19"/>
          <p:cNvSpPr/>
          <p:nvPr/>
        </p:nvSpPr>
        <p:spPr>
          <a:xfrm>
            <a:off x="4599432" y="400507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[Definiție scurtă și exactă, 1–2 rânduri.]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065008" y="2148840"/>
            <a:ext cx="3502152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2423160"/>
            <a:ext cx="484632" cy="484632"/>
          </a:xfrm>
          <a:prstGeom prst="ellipse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496312"/>
            <a:ext cx="484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21040" y="3081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spc="8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CONCEPTUL 03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8321040" y="3429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[Denumirea noțiunii]</a:t>
            </a:r>
            <a:endParaRPr lang="en-US" sz="1840" dirty="0"/>
          </a:p>
        </p:txBody>
      </p:sp>
      <p:sp>
        <p:nvSpPr>
          <p:cNvPr id="27" name="Text 25"/>
          <p:cNvSpPr/>
          <p:nvPr/>
        </p:nvSpPr>
        <p:spPr>
          <a:xfrm>
            <a:off x="8321040" y="400507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[Definiție scurtă și exactă, 1–2 rânduri.]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0936" y="5138928"/>
            <a:ext cx="10936224" cy="804672"/>
          </a:xfrm>
          <a:prstGeom prst="roundRect">
            <a:avLst>
              <a:gd name="adj" fmla="val 18182"/>
            </a:avLst>
          </a:prstGeom>
          <a:solidFill>
            <a:srgbClr val="EAF5E6"/>
          </a:solidFill>
          <a:ln w="12700">
            <a:solidFill>
              <a:srgbClr val="EAF5E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5358384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spc="6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RELAȚIA ECONOMICĂ ESENȚIALĂ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4352544" y="5294376"/>
            <a:ext cx="679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[Formula, legea sau legătura dintre concepte]</a:t>
            </a:r>
            <a:endParaRPr lang="en-US" sz="1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Modelul economic / graficul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Arată mecanismul cu o schemă, un grafic sau o formulă, dacă este relevantă.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029968"/>
            <a:ext cx="73152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8763" y="2569464"/>
            <a:ext cx="0" cy="2724912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225296" y="4613148"/>
            <a:ext cx="6117336" cy="0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672230" y="2569464"/>
            <a:ext cx="0" cy="2724912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25296" y="3931920"/>
            <a:ext cx="6117336" cy="0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895698" y="2569464"/>
            <a:ext cx="0" cy="2724912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25296" y="3250692"/>
            <a:ext cx="6117336" cy="0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119165" y="2569464"/>
            <a:ext cx="0" cy="2724912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25296" y="2569464"/>
            <a:ext cx="6117336" cy="0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25296" y="5294376"/>
            <a:ext cx="6254496" cy="0"/>
          </a:xfrm>
          <a:prstGeom prst="line">
            <a:avLst/>
          </a:prstGeom>
          <a:noFill/>
          <a:ln w="29210">
            <a:solidFill>
              <a:srgbClr val="17344D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225296" y="5294376"/>
            <a:ext cx="0" cy="-2907792"/>
          </a:xfrm>
          <a:prstGeom prst="line">
            <a:avLst/>
          </a:prstGeom>
          <a:noFill/>
          <a:ln w="29210">
            <a:solidFill>
              <a:srgbClr val="17344D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353312" y="210312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(preț)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10528" y="54041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(cantitate)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1581912" y="2770632"/>
            <a:ext cx="5303520" cy="2112264"/>
          </a:xfrm>
          <a:prstGeom prst="line">
            <a:avLst/>
          </a:prstGeom>
          <a:noFill/>
          <a:ln w="45720">
            <a:solidFill>
              <a:srgbClr val="1080E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600200" y="4910328"/>
            <a:ext cx="5303520" cy="-2157984"/>
          </a:xfrm>
          <a:prstGeom prst="line">
            <a:avLst/>
          </a:prstGeom>
          <a:noFill/>
          <a:ln w="45720">
            <a:solidFill>
              <a:srgbClr val="FF650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004304" y="47640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7013448" y="269748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F65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4142232" y="3730752"/>
            <a:ext cx="201168" cy="201168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42816" y="3831336"/>
            <a:ext cx="0" cy="1463040"/>
          </a:xfrm>
          <a:prstGeom prst="line">
            <a:avLst/>
          </a:prstGeom>
          <a:noFill/>
          <a:ln w="17780">
            <a:solidFill>
              <a:srgbClr val="1080E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225296" y="3831336"/>
            <a:ext cx="3017520" cy="0"/>
          </a:xfrm>
          <a:prstGeom prst="line">
            <a:avLst/>
          </a:prstGeom>
          <a:noFill/>
          <a:ln w="17780">
            <a:solidFill>
              <a:srgbClr val="1080E4"/>
            </a:solidFill>
            <a:prstDash val="dash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841248" y="36301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96512" y="53583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Q*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11312" y="2029968"/>
            <a:ext cx="3310128" cy="3840480"/>
          </a:xfrm>
          <a:prstGeom prst="roundRect">
            <a:avLst>
              <a:gd name="adj" fmla="val 4420"/>
            </a:avLst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67344" y="2423160"/>
            <a:ext cx="2779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ARATĂ GRAFICUL?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58200" y="280720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[Explică relația dintre variabile.]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476488" y="3813048"/>
            <a:ext cx="272491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8458200" y="400507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[Descrie schimbarea: ce se deplasează, crește sau scade?]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449056" y="5111496"/>
            <a:ext cx="2715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demonstrativ: adaptează curbele, etichetele și axele la tema ta.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și surse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Arată 2–4 date relevante, perioada, unitățile și proveniența lor.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792224" cy="5486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30428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Perioadă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2478024" y="2148840"/>
            <a:ext cx="2066544" cy="5486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042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Variabila X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4581144" y="2148840"/>
            <a:ext cx="2313432" cy="5486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042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Variabila Y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6931152" y="2148840"/>
            <a:ext cx="2368296" cy="5486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304288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Unitate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9336024" y="2148840"/>
            <a:ext cx="2130552" cy="5486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2304288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Sursă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640080" y="2697480"/>
            <a:ext cx="179222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28529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[An / lună 1]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2478024" y="2697480"/>
            <a:ext cx="206654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85292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24" name="Shape 22"/>
          <p:cNvSpPr/>
          <p:nvPr/>
        </p:nvSpPr>
        <p:spPr>
          <a:xfrm>
            <a:off x="4581144" y="2697480"/>
            <a:ext cx="231343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8529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26" name="Shape 24"/>
          <p:cNvSpPr/>
          <p:nvPr/>
        </p:nvSpPr>
        <p:spPr>
          <a:xfrm>
            <a:off x="6931152" y="2697480"/>
            <a:ext cx="23682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285292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[lei / unit.]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9336024" y="2697480"/>
            <a:ext cx="2130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2852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[Sursa]</a:t>
            </a:r>
            <a:endParaRPr lang="en-US" sz="1360" dirty="0"/>
          </a:p>
        </p:txBody>
      </p:sp>
      <p:sp>
        <p:nvSpPr>
          <p:cNvPr id="30" name="Shape 28"/>
          <p:cNvSpPr/>
          <p:nvPr/>
        </p:nvSpPr>
        <p:spPr>
          <a:xfrm>
            <a:off x="640080" y="3337560"/>
            <a:ext cx="1792224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34930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[An / lună 2]</a:t>
            </a:r>
            <a:endParaRPr lang="en-US" sz="1360" dirty="0"/>
          </a:p>
        </p:txBody>
      </p:sp>
      <p:sp>
        <p:nvSpPr>
          <p:cNvPr id="32" name="Shape 30"/>
          <p:cNvSpPr/>
          <p:nvPr/>
        </p:nvSpPr>
        <p:spPr>
          <a:xfrm>
            <a:off x="2478024" y="3337560"/>
            <a:ext cx="2066544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34930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34" name="Shape 32"/>
          <p:cNvSpPr/>
          <p:nvPr/>
        </p:nvSpPr>
        <p:spPr>
          <a:xfrm>
            <a:off x="4581144" y="3337560"/>
            <a:ext cx="2313432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493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36" name="Shape 34"/>
          <p:cNvSpPr/>
          <p:nvPr/>
        </p:nvSpPr>
        <p:spPr>
          <a:xfrm>
            <a:off x="6931152" y="3337560"/>
            <a:ext cx="2368296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349300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[lei / unit.]</a:t>
            </a:r>
            <a:endParaRPr lang="en-US" sz="1360" dirty="0"/>
          </a:p>
        </p:txBody>
      </p:sp>
      <p:sp>
        <p:nvSpPr>
          <p:cNvPr id="38" name="Shape 36"/>
          <p:cNvSpPr/>
          <p:nvPr/>
        </p:nvSpPr>
        <p:spPr>
          <a:xfrm>
            <a:off x="9336024" y="3337560"/>
            <a:ext cx="2130552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64040" y="34930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[Sursa]</a:t>
            </a:r>
            <a:endParaRPr lang="en-US" sz="1360" dirty="0"/>
          </a:p>
        </p:txBody>
      </p:sp>
      <p:sp>
        <p:nvSpPr>
          <p:cNvPr id="40" name="Shape 38"/>
          <p:cNvSpPr/>
          <p:nvPr/>
        </p:nvSpPr>
        <p:spPr>
          <a:xfrm>
            <a:off x="640080" y="3977640"/>
            <a:ext cx="179222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41330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[An / lună 3]</a:t>
            </a:r>
            <a:endParaRPr lang="en-US" sz="1360" dirty="0"/>
          </a:p>
        </p:txBody>
      </p:sp>
      <p:sp>
        <p:nvSpPr>
          <p:cNvPr id="42" name="Shape 40"/>
          <p:cNvSpPr/>
          <p:nvPr/>
        </p:nvSpPr>
        <p:spPr>
          <a:xfrm>
            <a:off x="2478024" y="3977640"/>
            <a:ext cx="206654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13308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44" name="Shape 42"/>
          <p:cNvSpPr/>
          <p:nvPr/>
        </p:nvSpPr>
        <p:spPr>
          <a:xfrm>
            <a:off x="4581144" y="3977640"/>
            <a:ext cx="231343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46" name="Shape 44"/>
          <p:cNvSpPr/>
          <p:nvPr/>
        </p:nvSpPr>
        <p:spPr>
          <a:xfrm>
            <a:off x="6931152" y="3977640"/>
            <a:ext cx="23682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413308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[lei / unit.]</a:t>
            </a:r>
            <a:endParaRPr lang="en-US" sz="1360" dirty="0"/>
          </a:p>
        </p:txBody>
      </p:sp>
      <p:sp>
        <p:nvSpPr>
          <p:cNvPr id="48" name="Shape 46"/>
          <p:cNvSpPr/>
          <p:nvPr/>
        </p:nvSpPr>
        <p:spPr>
          <a:xfrm>
            <a:off x="9336024" y="3977640"/>
            <a:ext cx="2130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64040" y="4133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[Sursa]</a:t>
            </a:r>
            <a:endParaRPr lang="en-US" sz="1360" dirty="0"/>
          </a:p>
        </p:txBody>
      </p:sp>
      <p:sp>
        <p:nvSpPr>
          <p:cNvPr id="50" name="Shape 48"/>
          <p:cNvSpPr/>
          <p:nvPr/>
        </p:nvSpPr>
        <p:spPr>
          <a:xfrm>
            <a:off x="640080" y="4617720"/>
            <a:ext cx="1792224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" y="4773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[An / lună 4]</a:t>
            </a:r>
            <a:endParaRPr lang="en-US" sz="1360" dirty="0"/>
          </a:p>
        </p:txBody>
      </p:sp>
      <p:sp>
        <p:nvSpPr>
          <p:cNvPr id="52" name="Shape 50"/>
          <p:cNvSpPr/>
          <p:nvPr/>
        </p:nvSpPr>
        <p:spPr>
          <a:xfrm>
            <a:off x="2478024" y="4617720"/>
            <a:ext cx="2066544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06040" y="47731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54" name="Shape 52"/>
          <p:cNvSpPr/>
          <p:nvPr/>
        </p:nvSpPr>
        <p:spPr>
          <a:xfrm>
            <a:off x="4581144" y="4617720"/>
            <a:ext cx="2313432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4773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56" name="Shape 54"/>
          <p:cNvSpPr/>
          <p:nvPr/>
        </p:nvSpPr>
        <p:spPr>
          <a:xfrm>
            <a:off x="6931152" y="4617720"/>
            <a:ext cx="2368296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9168" y="477316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[lei / unit.]</a:t>
            </a:r>
            <a:endParaRPr lang="en-US" sz="1360" dirty="0"/>
          </a:p>
        </p:txBody>
      </p:sp>
      <p:sp>
        <p:nvSpPr>
          <p:cNvPr id="58" name="Shape 56"/>
          <p:cNvSpPr/>
          <p:nvPr/>
        </p:nvSpPr>
        <p:spPr>
          <a:xfrm>
            <a:off x="9336024" y="4617720"/>
            <a:ext cx="2130552" cy="594360"/>
          </a:xfrm>
          <a:prstGeom prst="rect">
            <a:avLst/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47731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[Sursa]</a:t>
            </a:r>
            <a:endParaRPr lang="en-US" sz="1360" dirty="0"/>
          </a:p>
        </p:txBody>
      </p:sp>
      <p:sp>
        <p:nvSpPr>
          <p:cNvPr id="60" name="Shape 58"/>
          <p:cNvSpPr/>
          <p:nvPr/>
        </p:nvSpPr>
        <p:spPr>
          <a:xfrm>
            <a:off x="667512" y="5495544"/>
            <a:ext cx="10799064" cy="438912"/>
          </a:xfrm>
          <a:prstGeom prst="roundRect">
            <a:avLst>
              <a:gd name="adj" fmla="val 33333"/>
            </a:avLst>
          </a:prstGeom>
          <a:solidFill>
            <a:srgbClr val="FFF0E4"/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6112" y="560527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8060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NOTĂ: precizează perioada, unitățile de măsură și originea fiecărei serii de date.</a:t>
            </a:r>
            <a:endParaRPr lang="en-US" sz="12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Exemplu practic / Studiu de caz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Arată concret cum se aplică teoria asupra datelor sau situației alese.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" y="2057400"/>
            <a:ext cx="6803136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5330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SITUAȚIA ANALIZATĂ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88336"/>
            <a:ext cx="61539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[Titlul exemplului]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3410712"/>
            <a:ext cx="599846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[Prezintă succint situația: cine, ce, unde, când și ce s-a schimbat.]</a:t>
            </a:r>
            <a:endParaRPr lang="en-US" sz="1820" dirty="0"/>
          </a:p>
        </p:txBody>
      </p:sp>
      <p:sp>
        <p:nvSpPr>
          <p:cNvPr id="14" name="Shape 12"/>
          <p:cNvSpPr/>
          <p:nvPr/>
        </p:nvSpPr>
        <p:spPr>
          <a:xfrm>
            <a:off x="877824" y="4937760"/>
            <a:ext cx="6254496" cy="448056"/>
          </a:xfrm>
          <a:prstGeom prst="roundRect">
            <a:avLst>
              <a:gd name="adj" fmla="val 32653"/>
            </a:avLst>
          </a:prstGeom>
          <a:solidFill>
            <a:srgbClr val="FFF0E4"/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5029200"/>
            <a:ext cx="5916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825F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SURSA EXEMPLULUI: [link / instituție / an]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744968" y="2048256"/>
            <a:ext cx="3803904" cy="1005840"/>
          </a:xfrm>
          <a:prstGeom prst="roundRect">
            <a:avLst>
              <a:gd name="adj" fmla="val 14545"/>
            </a:avLst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2249424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9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PIAȚA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01000" y="2560320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[Piață / produs]</a:t>
            </a:r>
            <a:endParaRPr lang="en-US" sz="1640" dirty="0"/>
          </a:p>
        </p:txBody>
      </p:sp>
      <p:sp>
        <p:nvSpPr>
          <p:cNvPr id="19" name="Shape 17"/>
          <p:cNvSpPr/>
          <p:nvPr/>
        </p:nvSpPr>
        <p:spPr>
          <a:xfrm>
            <a:off x="7744968" y="3310128"/>
            <a:ext cx="3803904" cy="1005840"/>
          </a:xfrm>
          <a:prstGeom prst="roundRect">
            <a:avLst>
              <a:gd name="adj" fmla="val 14545"/>
            </a:avLst>
          </a:prstGeom>
          <a:solidFill>
            <a:srgbClr val="EBF6FF"/>
          </a:solidFill>
          <a:ln w="12700">
            <a:solidFill>
              <a:srgbClr val="EBF6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3511296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9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PERIOADA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01000" y="3822192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[An / interval]</a:t>
            </a:r>
            <a:endParaRPr lang="en-US" sz="1640" dirty="0"/>
          </a:p>
        </p:txBody>
      </p:sp>
      <p:sp>
        <p:nvSpPr>
          <p:cNvPr id="22" name="Shape 20"/>
          <p:cNvSpPr/>
          <p:nvPr/>
        </p:nvSpPr>
        <p:spPr>
          <a:xfrm>
            <a:off x="7744968" y="4572000"/>
            <a:ext cx="3803904" cy="1005840"/>
          </a:xfrm>
          <a:prstGeom prst="roundRect">
            <a:avLst>
              <a:gd name="adj" fmla="val 14545"/>
            </a:avLst>
          </a:prstGeom>
          <a:solidFill>
            <a:srgbClr val="EAF5E6"/>
          </a:solidFill>
          <a:ln w="12700">
            <a:solidFill>
              <a:srgbClr val="EAF5E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477316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9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FACTORUL ANALIZAT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01000" y="5084064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[Variabila / schimbarea]</a:t>
            </a:r>
            <a:endParaRPr lang="en-US" sz="16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Analiză și rezultate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Calculează un indicator SAU compară alternativele; arată un rezultat concret.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" y="2002536"/>
            <a:ext cx="10863072" cy="1060704"/>
          </a:xfrm>
          <a:prstGeom prst="roundRect">
            <a:avLst>
              <a:gd name="adj" fmla="val 13793"/>
            </a:avLst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03704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B7D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DE ANALIZĂ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3657600" y="222199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[Formulă, comparație sau indicator ales]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49224" y="3438144"/>
            <a:ext cx="3465576" cy="197510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685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65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86968" y="4288536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4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OBSERVAȚII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886968" y="468172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[Datele comparabile]</a:t>
            </a:r>
            <a:endParaRPr lang="en-US" sz="1640" dirty="0"/>
          </a:p>
        </p:txBody>
      </p:sp>
      <p:sp>
        <p:nvSpPr>
          <p:cNvPr id="17" name="Shape 15"/>
          <p:cNvSpPr/>
          <p:nvPr/>
        </p:nvSpPr>
        <p:spPr>
          <a:xfrm>
            <a:off x="4352544" y="3438144"/>
            <a:ext cx="3465576" cy="197510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3685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65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4590288" y="4288536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4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ANALIZĂ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590288" y="468172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[Calcul / diagramă / comparație]</a:t>
            </a:r>
            <a:endParaRPr lang="en-US" sz="1640" dirty="0"/>
          </a:p>
        </p:txBody>
      </p:sp>
      <p:sp>
        <p:nvSpPr>
          <p:cNvPr id="21" name="Shape 19"/>
          <p:cNvSpPr/>
          <p:nvPr/>
        </p:nvSpPr>
        <p:spPr>
          <a:xfrm>
            <a:off x="8046720" y="3438144"/>
            <a:ext cx="3465576" cy="1975104"/>
          </a:xfrm>
          <a:prstGeom prst="roundRect">
            <a:avLst>
              <a:gd name="adj" fmla="val 7407"/>
            </a:avLst>
          </a:prstGeom>
          <a:solidFill>
            <a:srgbClr val="EAF5E6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3685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8284464" y="4288536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4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REZULTAT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8284464" y="468172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[Ce ai constatat?]</a:t>
            </a:r>
            <a:endParaRPr lang="en-US" sz="1640" dirty="0"/>
          </a:p>
        </p:txBody>
      </p:sp>
      <p:sp>
        <p:nvSpPr>
          <p:cNvPr id="25" name="Text 23"/>
          <p:cNvSpPr/>
          <p:nvPr/>
        </p:nvSpPr>
        <p:spPr>
          <a:xfrm>
            <a:off x="768096" y="575157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Dacă tema nu cere calcule, înlocuiește formula cu un tabel, o comparație sau rezultate de sondaj.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Interpretarea economică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Spune ce înseamnă rezultatul, de ce apare și care este o limitare.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3456432" cy="3108960"/>
          </a:xfrm>
          <a:prstGeom prst="roundRect">
            <a:avLst>
              <a:gd name="adj" fmla="val 4706"/>
            </a:avLst>
          </a:prstGeom>
          <a:solidFill>
            <a:srgbClr val="E8F3FD"/>
          </a:solidFill>
          <a:ln w="12700">
            <a:solidFill>
              <a:srgbClr val="E8F3F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32304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96112" y="3063240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spc="60" kern="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ARATĂ?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905256" y="3529584"/>
            <a:ext cx="292608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96112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[Semnificația rezultatului]</a:t>
            </a:r>
            <a:endParaRPr lang="en-US" sz="1860" dirty="0"/>
          </a:p>
        </p:txBody>
      </p:sp>
      <p:sp>
        <p:nvSpPr>
          <p:cNvPr id="15" name="Shape 13"/>
          <p:cNvSpPr/>
          <p:nvPr/>
        </p:nvSpPr>
        <p:spPr>
          <a:xfrm>
            <a:off x="4361688" y="2212848"/>
            <a:ext cx="3465576" cy="3108960"/>
          </a:xfrm>
          <a:prstGeom prst="roundRect">
            <a:avLst>
              <a:gd name="adj" fmla="val 4706"/>
            </a:avLst>
          </a:prstGeom>
          <a:solidFill>
            <a:srgbClr val="EBF6FF"/>
          </a:solidFill>
          <a:ln w="12700">
            <a:solidFill>
              <a:srgbClr val="EBF6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432304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3063240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spc="60" kern="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CE SE ÎNTÂMPLĂ?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4626864" y="3529584"/>
            <a:ext cx="2935224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4617720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[Explicația economică]</a:t>
            </a:r>
            <a:endParaRPr lang="en-US" sz="1860" dirty="0"/>
          </a:p>
        </p:txBody>
      </p:sp>
      <p:sp>
        <p:nvSpPr>
          <p:cNvPr id="20" name="Shape 18"/>
          <p:cNvSpPr/>
          <p:nvPr/>
        </p:nvSpPr>
        <p:spPr>
          <a:xfrm>
            <a:off x="8083296" y="2212848"/>
            <a:ext cx="3447288" cy="3108960"/>
          </a:xfrm>
          <a:prstGeom prst="roundRect">
            <a:avLst>
              <a:gd name="adj" fmla="val 4706"/>
            </a:avLst>
          </a:prstGeom>
          <a:solidFill>
            <a:srgbClr val="FFF0E4"/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2432304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D69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39328" y="3063240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spc="60" kern="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ESTE EFECTUL?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8348472" y="3529584"/>
            <a:ext cx="2916936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339328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[Consecința pentru piață]</a:t>
            </a:r>
            <a:endParaRPr lang="en-US" sz="1860" dirty="0"/>
          </a:p>
        </p:txBody>
      </p:sp>
      <p:sp>
        <p:nvSpPr>
          <p:cNvPr id="25" name="Text 23"/>
          <p:cNvSpPr/>
          <p:nvPr/>
        </p:nvSpPr>
        <p:spPr>
          <a:xfrm>
            <a:off x="749808" y="5532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LIMITARE / CONDIȚIE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82112" y="5513832"/>
            <a:ext cx="7900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[Menționează un factor care poate modifica interpretarea.]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Concluzii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Încheie cu ideile pe care le susțin datele și analiza.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039112"/>
            <a:ext cx="10945368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2276856"/>
            <a:ext cx="548640" cy="548640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414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1655064" y="22585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5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CONCLUZIA PRINCIPALĂ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636008" y="2276856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[Răspunsul la întrebarea de cercetare.]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621792" y="3282696"/>
            <a:ext cx="10945368" cy="1042416"/>
          </a:xfrm>
          <a:prstGeom prst="roundRect">
            <a:avLst>
              <a:gd name="adj" fmla="val 14035"/>
            </a:avLst>
          </a:prstGeom>
          <a:solidFill>
            <a:srgbClr val="E8F3FD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" y="3520440"/>
            <a:ext cx="548640" cy="548640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3657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1655064" y="35021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5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AI DEMONSTRAT?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636008" y="3520440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[Legătura dintre model, date și rezultat.]</a:t>
            </a:r>
            <a:endParaRPr lang="en-US" sz="1720" dirty="0"/>
          </a:p>
        </p:txBody>
      </p:sp>
      <p:sp>
        <p:nvSpPr>
          <p:cNvPr id="20" name="Shape 18"/>
          <p:cNvSpPr/>
          <p:nvPr/>
        </p:nvSpPr>
        <p:spPr>
          <a:xfrm>
            <a:off x="621792" y="4526280"/>
            <a:ext cx="10945368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" y="4764024"/>
            <a:ext cx="548640" cy="548640"/>
          </a:xfrm>
          <a:prstGeom prst="ellipse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901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1655064" y="474573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5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APLICABILITATE / LIMITĂ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636008" y="476402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[Unde este utilă analiza și ce limitări are?]</a:t>
            </a:r>
            <a:endParaRPr lang="en-US" sz="1720" dirty="0"/>
          </a:p>
        </p:txBody>
      </p:sp>
      <p:sp>
        <p:nvSpPr>
          <p:cNvPr id="25" name="Shape 23"/>
          <p:cNvSpPr/>
          <p:nvPr/>
        </p:nvSpPr>
        <p:spPr>
          <a:xfrm>
            <a:off x="685800" y="5815584"/>
            <a:ext cx="10799064" cy="310896"/>
          </a:xfrm>
          <a:prstGeom prst="roundRect">
            <a:avLst>
              <a:gd name="adj" fmla="val 47059"/>
            </a:avLst>
          </a:prstGeom>
          <a:solidFill>
            <a:srgbClr val="FFF0E4"/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861304"/>
            <a:ext cx="10259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8D6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concluzie bună nu introduce informații noi, ci răspunde obiectivului inițial.</a:t>
            </a:r>
            <a:endParaRPr lang="en-US" sz="11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Bibliografie și surse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Folosește date verificabile și un mod de citare consecvent.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084832"/>
            <a:ext cx="10853928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2768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4323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1682496" y="2249424"/>
            <a:ext cx="9290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spc="7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CARTE</a:t>
            </a:r>
            <a:endParaRPr lang="en-US" sz="1190" dirty="0"/>
          </a:p>
        </p:txBody>
      </p:sp>
      <p:sp>
        <p:nvSpPr>
          <p:cNvPr id="14" name="Text 12"/>
          <p:cNvSpPr/>
          <p:nvPr/>
        </p:nvSpPr>
        <p:spPr>
          <a:xfrm>
            <a:off x="1682496" y="2587752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[Autor], [Titlul lucrării], [Editura], [Anul], [pagini].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658368" y="3300984"/>
            <a:ext cx="10853928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4930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6484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1682496" y="3465576"/>
            <a:ext cx="9290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spc="7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STATISTICE / INSTITUȚIE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1682496" y="3803904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[Instituția], [Denumirea indicatorului], [Anul], [URL].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658368" y="4517136"/>
            <a:ext cx="10853928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7091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8646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1682496" y="4681728"/>
            <a:ext cx="9290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spc="7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ARTICOL / RESURSĂ ONLINE</a:t>
            </a:r>
            <a:endParaRPr lang="en-US" sz="1190" dirty="0"/>
          </a:p>
        </p:txBody>
      </p:sp>
      <p:sp>
        <p:nvSpPr>
          <p:cNvPr id="24" name="Text 22"/>
          <p:cNvSpPr/>
          <p:nvPr/>
        </p:nvSpPr>
        <p:spPr>
          <a:xfrm>
            <a:off x="1682496" y="5020056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i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[Autor / instituție], [Titlu], [Data], [URL], [data accesării].</a:t>
            </a:r>
            <a:endParaRPr lang="en-US" sz="1530" dirty="0"/>
          </a:p>
        </p:txBody>
      </p:sp>
      <p:sp>
        <p:nvSpPr>
          <p:cNvPr id="25" name="Shape 23"/>
          <p:cNvSpPr/>
          <p:nvPr/>
        </p:nvSpPr>
        <p:spPr>
          <a:xfrm>
            <a:off x="685800" y="5870448"/>
            <a:ext cx="10753344" cy="310896"/>
          </a:xfrm>
          <a:prstGeom prst="roundRect">
            <a:avLst>
              <a:gd name="adj" fmla="val 47059"/>
            </a:avLst>
          </a:prstGeom>
          <a:solidFill>
            <a:srgbClr val="EAF5E6"/>
          </a:solidFill>
          <a:ln w="12700">
            <a:solidFill>
              <a:srgbClr val="EAF5E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5916168"/>
            <a:ext cx="10204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Înlocuiește exemplele cu toate sursele utilizate efectiv în lucrare.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50B"/>
          </a:solidFill>
          <a:ln w="12700">
            <a:solidFill>
              <a:srgbClr val="FF65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INSTRUCȚIUNI  •  ELIMINĂ LA FINAL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Ghid de completare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Acest diapozitiv este pentru student și se elimină înainte de predare.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3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LUCRARE INDIVIDUALĂ  •  TOATE OBIECTELE EDITABILE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80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2029968"/>
            <a:ext cx="6638544" cy="3630168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377440"/>
            <a:ext cx="246888" cy="246888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42316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490472" y="232257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Citește cerința temei în fișierul HTML și înlocuiește toate câmpurile [ ].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1024128" y="2926080"/>
            <a:ext cx="246888" cy="246888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97180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490472" y="287121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Poți edita fiecare element: text, grafic, tabel, figură.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1024128" y="3474720"/>
            <a:ext cx="246888" cy="246888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52044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490472" y="341985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Păstrează textul scurt și folosește exemple concrete.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1024128" y="4023360"/>
            <a:ext cx="246888" cy="246888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06908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490472" y="396849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Indică sursa tuturor datelor, imaginilor și afirmațiilor.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1024128" y="4572000"/>
            <a:ext cx="246888" cy="246888"/>
          </a:xfrm>
          <a:prstGeom prst="ellipse">
            <a:avLst/>
          </a:prstGeom>
          <a:solidFill>
            <a:srgbClr val="1080E4"/>
          </a:solidFill>
          <a:ln w="12700">
            <a:solidFill>
              <a:srgbClr val="1080E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61772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1490472" y="451713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Elimină acest ghid și diapozitivele neutilizate.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680960" y="2029968"/>
            <a:ext cx="3803904" cy="2350008"/>
          </a:xfrm>
          <a:prstGeom prst="roundRect">
            <a:avLst>
              <a:gd name="adj" fmla="val 6226"/>
            </a:avLst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2386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7D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RECOMANDĂRI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19288" y="2862072"/>
            <a:ext cx="3044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 diapozitive în total · 10 minute</a:t>
            </a:r>
            <a:endParaRPr lang="en-US" sz="2010" dirty="0"/>
          </a:p>
        </p:txBody>
      </p:sp>
      <p:sp>
        <p:nvSpPr>
          <p:cNvPr id="29" name="Text 27"/>
          <p:cNvSpPr/>
          <p:nvPr/>
        </p:nvSpPr>
        <p:spPr>
          <a:xfrm>
            <a:off x="8028432" y="36850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D7EC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Fiecare diapozitiv = o idee principală</a:t>
            </a:r>
            <a:endParaRPr lang="en-US" sz="1390" dirty="0"/>
          </a:p>
        </p:txBody>
      </p:sp>
      <p:sp>
        <p:nvSpPr>
          <p:cNvPr id="30" name="Shape 28"/>
          <p:cNvSpPr/>
          <p:nvPr/>
        </p:nvSpPr>
        <p:spPr>
          <a:xfrm>
            <a:off x="7690104" y="4654296"/>
            <a:ext cx="3785616" cy="1014984"/>
          </a:xfrm>
          <a:prstGeom prst="roundRect">
            <a:avLst>
              <a:gd name="adj" fmla="val 14414"/>
            </a:avLst>
          </a:prstGeom>
          <a:solidFill>
            <a:srgbClr val="FFF0E4"/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7848" y="491032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16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 ESTE O GRILĂ OFICIALĂ DE NOTARE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27848" y="5175504"/>
            <a:ext cx="3319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Cerințele profesorului au prioritate.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Șablon PPTX — Lucrare individuală la Microeconomie</dc:title>
  <dc:subject>Șablon editabil pentru lucrări individuale la Microeconomie</dc:subject>
  <dc:creator>ASEM | Lucrări individuale la Microeconomie</dc:creator>
  <cp:lastModifiedBy>ASEM | Lucrări individuale la Microeconomie</cp:lastModifiedBy>
  <cp:revision>1</cp:revision>
  <dcterms:created xsi:type="dcterms:W3CDTF">2026-10-10T19:04:33Z</dcterms:created>
  <dcterms:modified xsi:type="dcterms:W3CDTF">2026-10-10T19:04:33Z</dcterms:modified>
</cp:coreProperties>
</file>