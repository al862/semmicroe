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12700">
            <a:solidFill>
              <a:srgbClr val="D4E3E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40080"/>
            <a:ext cx="29260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97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SEMINARUL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Cererea, oferta și echilibrul pieței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1938528"/>
            <a:ext cx="65836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Structură revizuită pe baza Tomșa: teorie scurtă + aplicații + probleme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0120" y="3063240"/>
            <a:ext cx="1097280" cy="1097280"/>
          </a:xfrm>
          <a:prstGeom prst="ellipse">
            <a:avLst/>
          </a:prstGeom>
          <a:solidFill>
            <a:srgbClr val="E8F3F8"/>
          </a:solidFill>
          <a:ln w="12700">
            <a:solidFill>
              <a:srgbClr val="E8F3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136392"/>
            <a:ext cx="1097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0B6F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💳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0" y="3063240"/>
            <a:ext cx="1097280" cy="1097280"/>
          </a:xfrm>
          <a:prstGeom prst="ellipse">
            <a:avLst/>
          </a:prstGeom>
          <a:solidFill>
            <a:srgbClr val="FFF2E1"/>
          </a:solidFill>
          <a:ln w="12700">
            <a:solidFill>
              <a:srgbClr val="FFF2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3136392"/>
            <a:ext cx="1097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29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🏪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26280" y="3063240"/>
            <a:ext cx="1097280" cy="1097280"/>
          </a:xfrm>
          <a:prstGeom prst="ellipse">
            <a:avLst/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3136392"/>
            <a:ext cx="1097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⚖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2084832" y="3611880"/>
            <a:ext cx="502920" cy="0"/>
          </a:xfrm>
          <a:prstGeom prst="line">
            <a:avLst/>
          </a:prstGeom>
          <a:noFill/>
          <a:ln w="20320">
            <a:solidFill>
              <a:srgbClr val="CAD7D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67912" y="3611880"/>
            <a:ext cx="502920" cy="0"/>
          </a:xfrm>
          <a:prstGeom prst="line">
            <a:avLst/>
          </a:prstGeom>
          <a:noFill/>
          <a:ln w="20320">
            <a:solidFill>
              <a:srgbClr val="CAD7D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8080" y="182880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1874520"/>
            <a:ext cx="37033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Piața: D se întâlnește cu 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54112" y="4983480"/>
            <a:ext cx="0" cy="-274320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54112" y="4983480"/>
            <a:ext cx="3383280" cy="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525512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1672" y="5056632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165592" y="2606040"/>
            <a:ext cx="2560320" cy="1965960"/>
          </a:xfrm>
          <a:prstGeom prst="line">
            <a:avLst/>
          </a:prstGeom>
          <a:noFill/>
          <a:ln w="27940">
            <a:solidFill>
              <a:srgbClr val="0B6F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817352" y="4599432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F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65592" y="4572000"/>
            <a:ext cx="2606040" cy="-1920240"/>
          </a:xfrm>
          <a:prstGeom prst="line">
            <a:avLst/>
          </a:prstGeom>
          <a:noFill/>
          <a:ln w="27940">
            <a:solidFill>
              <a:srgbClr val="F29E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17352" y="2468880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9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30791" y="3616452"/>
            <a:ext cx="100584" cy="100584"/>
          </a:xfrm>
          <a:prstGeom prst="ellipse">
            <a:avLst/>
          </a:prstGeom>
          <a:solidFill>
            <a:srgbClr val="35A853"/>
          </a:solidFill>
          <a:ln w="12700">
            <a:solidFill>
              <a:srgbClr val="35A85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81083" y="3666744"/>
            <a:ext cx="0" cy="1316736"/>
          </a:xfrm>
          <a:prstGeom prst="line">
            <a:avLst/>
          </a:prstGeom>
          <a:noFill/>
          <a:ln w="12700">
            <a:solidFill>
              <a:srgbClr val="9AA8B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54112" y="3666744"/>
            <a:ext cx="1826971" cy="0"/>
          </a:xfrm>
          <a:prstGeom prst="line">
            <a:avLst/>
          </a:prstGeom>
          <a:noFill/>
          <a:ln w="12700">
            <a:solidFill>
              <a:srgbClr val="9AA8B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54235" y="3465576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443923" y="5148072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Q*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61504" y="3575304"/>
            <a:ext cx="25603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P*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3232" y="5806440"/>
            <a:ext cx="98755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1h 20 min: explicăm conceptele numai atât cât este necesar pentru a rezolva problemele.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Obiectivele seminarului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3"/>
                </a:solidFill>
              </a:rPr>
              <a:t>La final studentul trebuie să poată explica, calcula și interpreta grafic rezultatele.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99"/>
                </a:solidFill>
              </a:rPr>
              <a:t>Seminarul 2 | Microeconomie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50292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00200"/>
            <a:ext cx="228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52728" y="1600200"/>
            <a:ext cx="43891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să distingă cererea de volumul cererii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228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52728" y="2148840"/>
            <a:ext cx="43891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să explice legea cererii și legea ofertei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2697480"/>
            <a:ext cx="228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52728" y="2697480"/>
            <a:ext cx="43891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să identifice factorii non-preț ai cererii și ofertei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3246120"/>
            <a:ext cx="228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52728" y="3246120"/>
            <a:ext cx="43891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să determine P* și Q* din funcții liniare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3794760"/>
            <a:ext cx="228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52728" y="3794760"/>
            <a:ext cx="43891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să recunoască deficitul și surplusul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4343400"/>
            <a:ext cx="228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52728" y="4343400"/>
            <a:ext cx="43891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să analizeze impozitul, subvenția, prețul maxim/minim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0" y="1234440"/>
            <a:ext cx="4663440" cy="4343400"/>
          </a:xfrm>
          <a:prstGeom prst="roundRect">
            <a:avLst>
              <a:gd name="adj" fmla="val 1684"/>
            </a:avLst>
          </a:prstGeom>
          <a:solidFill>
            <a:srgbClr val="EAF7EE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627632"/>
            <a:ext cx="40233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 de seminar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66560" y="2286000"/>
            <a:ext cx="11430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F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Teorie scurtă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65008" y="2441448"/>
            <a:ext cx="731520" cy="0"/>
          </a:xfrm>
          <a:prstGeom prst="line">
            <a:avLst/>
          </a:prstGeom>
          <a:noFill/>
          <a:ln w="16510">
            <a:solidFill>
              <a:srgbClr val="5E6A73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503920" y="2267712"/>
            <a:ext cx="1554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9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Întrebare rapidă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104120" y="2441448"/>
            <a:ext cx="502920" cy="0"/>
          </a:xfrm>
          <a:prstGeom prst="line">
            <a:avLst/>
          </a:prstGeom>
          <a:noFill/>
          <a:ln w="16510">
            <a:solidFill>
              <a:srgbClr val="5E6A73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0469880" y="2286000"/>
            <a:ext cx="8229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Problemă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3291840"/>
            <a:ext cx="384048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 facem o a doua lecție teoretică. Fiecare bloc pregătește rezolvarea unei aplicații.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Cererea și volumul cererii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3"/>
                </a:solidFill>
              </a:rPr>
              <a:t>Prima distincție: comportamentul cumpărătorilor vs cantitatea la un preț concret.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99"/>
                </a:solidFill>
              </a:rPr>
              <a:t>Seminarul 2 | Microeconomie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E8F3F8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6F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Cererea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4480560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caracterizează comportamentul cumpărătorilor pe piață: dorința și capacitatea lor de a procura bunuri într-o anumită perioadă.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14300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FF2E1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389888"/>
            <a:ext cx="33832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9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Volumul cererii (Qd)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29400" y="1874520"/>
            <a:ext cx="4480560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cantitatea pe care cumpărătorii doresc și pot să o procure la un anumit preț și într-o anumită perioadă.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51560" y="3749040"/>
            <a:ext cx="10058400" cy="731520"/>
          </a:xfrm>
          <a:prstGeom prst="roundRect">
            <a:avLst>
              <a:gd name="adj" fmla="val 10000"/>
            </a:avLst>
          </a:prstGeom>
          <a:solidFill>
            <a:srgbClr val="EAF7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822192"/>
            <a:ext cx="9875520" cy="5852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Dorință + putere de cumpărare + preț concret → Qd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4983480"/>
            <a:ext cx="987552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Ideea-cheie: prețul schimbă cantitatea cerută; alți factori pot schimba întreaga cerere.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52360" y="656539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99"/>
                </a:solidFill>
              </a:rPr>
              <a:t>Exerciții/teste: adaptate din Tomșa, Teorie economică, vol. I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Legea cererii: relația inversă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3"/>
                </a:solidFill>
              </a:rPr>
              <a:t>Ceteris paribus: ceilalți factori rămân neschimbați.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99"/>
                </a:solidFill>
              </a:rPr>
              <a:t>Seminarul 2 | Microeconomie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DED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07592"/>
            <a:ext cx="3200400" cy="5394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↑  →  Qd ↓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EAF7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21992"/>
            <a:ext cx="3200400" cy="5394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↓  →  Qd ↑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ce?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30175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produsul devine mai accesibil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apare efectul venitului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apare efectul substituției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64922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0" y="4754880"/>
            <a:ext cx="0" cy="-306324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03520" y="4754880"/>
            <a:ext cx="5212080" cy="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074920" y="1645920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469880" y="4828032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15000" y="2057400"/>
            <a:ext cx="4389120" cy="2286000"/>
          </a:xfrm>
          <a:prstGeom prst="line">
            <a:avLst/>
          </a:prstGeom>
          <a:noFill/>
          <a:ln w="27940">
            <a:solidFill>
              <a:srgbClr val="0B6F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95560" y="4370832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F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5138928"/>
            <a:ext cx="33832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6F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Curba cererii este descendentă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12080" y="5715000"/>
            <a:ext cx="53949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Mișcarea are loc pe aceeași curbă D atunci când se modifică numai prețul bunului.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52360" y="656539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99"/>
                </a:solidFill>
              </a:rPr>
              <a:t>Exerciții/teste: adaptate din Tomșa, Teorie economică, vol. I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Factorii non-preț ai cererii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3"/>
                </a:solidFill>
              </a:rPr>
              <a:t>Când se modifică acești factori, nu ne deplasăm pe D: se deplasează întreaga curbă.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99"/>
                </a:solidFill>
              </a:rPr>
              <a:t>Seminarul 2 | Microeconomie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4114800" cy="452628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17320"/>
            <a:ext cx="228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61288" y="1417320"/>
            <a:ext cx="33832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Venitul cumpărătorilor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1947672"/>
            <a:ext cx="228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61288" y="1947672"/>
            <a:ext cx="33832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Gusturile și preferințele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2478024"/>
            <a:ext cx="228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61288" y="2478024"/>
            <a:ext cx="33832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Prețul bunurilor substituibile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3008376"/>
            <a:ext cx="228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61288" y="3008376"/>
            <a:ext cx="33832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Prețul bunurilor complementare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3538728"/>
            <a:ext cx="228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61288" y="3538728"/>
            <a:ext cx="33832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Numărul cumpărătorilor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069080"/>
            <a:ext cx="228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" y="4069080"/>
            <a:ext cx="33832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Anticipările cumpărătorilor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8680" y="4599432"/>
            <a:ext cx="228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1288" y="4599432"/>
            <a:ext cx="33832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Sezonul și publicitatea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257800" y="1143000"/>
            <a:ext cx="63093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4800600"/>
            <a:ext cx="0" cy="-301752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715000" y="4800600"/>
            <a:ext cx="4846320" cy="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486400" y="1737360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15600" y="4873752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2148840"/>
            <a:ext cx="4023360" cy="2240280"/>
          </a:xfrm>
          <a:prstGeom prst="line">
            <a:avLst/>
          </a:prstGeom>
          <a:noFill/>
          <a:ln w="27940">
            <a:solidFill>
              <a:srgbClr val="0B6F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0" y="4416552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F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29400" y="2148840"/>
            <a:ext cx="4023360" cy="2240280"/>
          </a:xfrm>
          <a:prstGeom prst="line">
            <a:avLst/>
          </a:prstGeom>
          <a:noFill/>
          <a:ln w="27940">
            <a:solidFill>
              <a:srgbClr val="35A8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44200" y="4416552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78040" y="4983480"/>
            <a:ext cx="20116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 → D1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15000" y="5532120"/>
            <a:ext cx="49377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Exemplu: crește venitul pentru un bun normal → cererea crește → curba se deplasează spre dreapta.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452360" y="656539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99"/>
                </a:solidFill>
              </a:rPr>
              <a:t>Exerciții/teste: adaptate din Tomșa, Teorie economică, vol. I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Oferta și volumul ofertei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3"/>
                </a:solidFill>
              </a:rPr>
              <a:t>Trecem de la comportamentul consumatorului la comportamentul producătorului.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99"/>
                </a:solidFill>
              </a:rPr>
              <a:t>Seminarul 2 | Microeconomie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FF2E1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89888"/>
            <a:ext cx="2103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9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Oferta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4480560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caracterizează comportamentul vânzătorilor pe piață: dorința și posibilitatea lor de a oferi bunuri într-o anumită perioadă.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14300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E8F3F8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389888"/>
            <a:ext cx="34747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6F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Volumul ofertei (Qs)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29400" y="1874520"/>
            <a:ext cx="4480560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cantitatea pe care producătorii pot și doresc să o vândă la un anumit preț și într-o anumită perioadă.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51560" y="3749040"/>
            <a:ext cx="10058400" cy="731520"/>
          </a:xfrm>
          <a:prstGeom prst="roundRect">
            <a:avLst>
              <a:gd name="adj" fmla="val 10000"/>
            </a:avLst>
          </a:prstGeom>
          <a:solidFill>
            <a:srgbClr val="EAF7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822192"/>
            <a:ext cx="9875520" cy="5852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voință de a vinde + capacitate de producție + preț concret → Qs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4983480"/>
            <a:ext cx="987552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Oferta nu este doar intenție: producătorul trebuie să aibă resurse și condiții de producție.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52360" y="656539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99"/>
                </a:solidFill>
              </a:rPr>
              <a:t>Exerciții/teste: adaptate din Tomșa, Teorie economică, vol. I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Legea ofertei: relația directă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3"/>
                </a:solidFill>
              </a:rPr>
              <a:t>Când prețul crește, producția devine mai atractivă pentru vânzători.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99"/>
                </a:solidFill>
              </a:rPr>
              <a:t>Seminarul 2 | Microeconomie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EAF7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07592"/>
            <a:ext cx="3200400" cy="5394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↑  →  Qs ↑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DED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21992"/>
            <a:ext cx="3200400" cy="5394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↓  →  Qs 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ce?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301752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Prețul mai mare poate acoperi costuri mai mari și poate face vânzarea mai profitabilă.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64922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0" y="4754880"/>
            <a:ext cx="0" cy="-306324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03520" y="4754880"/>
            <a:ext cx="5212080" cy="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074920" y="1645920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469880" y="4828032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15000" y="4343400"/>
            <a:ext cx="4434840" cy="-2240280"/>
          </a:xfrm>
          <a:prstGeom prst="line">
            <a:avLst/>
          </a:prstGeom>
          <a:noFill/>
          <a:ln w="27940">
            <a:solidFill>
              <a:srgbClr val="F29E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95560" y="1920240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9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5138928"/>
            <a:ext cx="33832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9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Curba ofertei este ascendentă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12080" y="5715000"/>
            <a:ext cx="53949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Schimbarea prețului bunului determină mișcare pe aceeași curbă S, nu deplasarea curbei.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52360" y="656539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99"/>
                </a:solidFill>
              </a:rPr>
              <a:t>Exerciții/teste: adaptate din Tomșa, Teorie economică, vol. I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Factorii non-preț ai ofertei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3"/>
                </a:solidFill>
              </a:rPr>
              <a:t>Acești factori schimbă oferta în ansamblu și deplasează curba 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99"/>
                </a:solidFill>
              </a:rPr>
              <a:t>Seminarul 2 | Microeconomie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4114800" cy="452628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17320"/>
            <a:ext cx="228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61288" y="1417320"/>
            <a:ext cx="33832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Prețul resurselor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1947672"/>
            <a:ext cx="228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61288" y="1947672"/>
            <a:ext cx="33832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Tehnologiile utilizate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2478024"/>
            <a:ext cx="228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61288" y="2478024"/>
            <a:ext cx="33832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Impozitele și subvențiile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3008376"/>
            <a:ext cx="228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61288" y="3008376"/>
            <a:ext cx="33832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Prețurile altor bunuri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3538728"/>
            <a:ext cx="228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61288" y="3538728"/>
            <a:ext cx="33832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Anticipările vânzătorilor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069080"/>
            <a:ext cx="228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" y="4069080"/>
            <a:ext cx="33832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Numărul vânzătorilor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8680" y="4599432"/>
            <a:ext cx="228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1288" y="4599432"/>
            <a:ext cx="33832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Alți factori: climă, creditare, riscuri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257800" y="1143000"/>
            <a:ext cx="63093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4800600"/>
            <a:ext cx="0" cy="-301752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715000" y="4800600"/>
            <a:ext cx="4846320" cy="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486400" y="1737360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15600" y="4873752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4389120"/>
            <a:ext cx="4069080" cy="-2194560"/>
          </a:xfrm>
          <a:prstGeom prst="line">
            <a:avLst/>
          </a:prstGeom>
          <a:noFill/>
          <a:ln w="27940">
            <a:solidFill>
              <a:srgbClr val="F29E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0" y="2011680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9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29400" y="4389120"/>
            <a:ext cx="4069080" cy="-2194560"/>
          </a:xfrm>
          <a:prstGeom prst="line">
            <a:avLst/>
          </a:prstGeom>
          <a:noFill/>
          <a:ln w="27940">
            <a:solidFill>
              <a:srgbClr val="35A8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44200" y="2011680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78040" y="4983480"/>
            <a:ext cx="20116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 → S1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15000" y="5532120"/>
            <a:ext cx="49377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Exemplu: subvenția reduce costul efectiv → oferta crește → curba se deplasează spre dreapta.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452360" y="656539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99"/>
                </a:solidFill>
              </a:rPr>
              <a:t>Exerciții/teste: adaptate din Tomșa, Teorie economică, vol. I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Piața: locul unde cererea și oferta se întâlnesc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3"/>
                </a:solidFill>
              </a:rPr>
              <a:t>Prețul coordonează planurile cumpărătorilor și vânzătorilor.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99"/>
                </a:solidFill>
              </a:rPr>
              <a:t>Seminarul 2 | Microeconomie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2971800" cy="3383280"/>
          </a:xfrm>
          <a:prstGeom prst="roundRect">
            <a:avLst>
              <a:gd name="adj" fmla="val 2462"/>
            </a:avLst>
          </a:prstGeom>
          <a:solidFill>
            <a:srgbClr val="E8F3F8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173736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810512"/>
            <a:ext cx="1097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0B6F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👥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51560" y="2971800"/>
            <a:ext cx="22402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6F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Cumpărători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vor cantități mai mari la prețuri mai mici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1280160"/>
            <a:ext cx="2971800" cy="3383280"/>
          </a:xfrm>
          <a:prstGeom prst="roundRect">
            <a:avLst>
              <a:gd name="adj" fmla="val 2462"/>
            </a:avLst>
          </a:prstGeom>
          <a:solidFill>
            <a:srgbClr val="EAF7EE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32120" y="173736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1810512"/>
            <a:ext cx="1097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🤝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074920" y="2971800"/>
            <a:ext cx="20116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Piața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74920" y="3520440"/>
            <a:ext cx="20116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compară cantitatea cerută cu cantitatea oferită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49640" y="1280160"/>
            <a:ext cx="2971800" cy="3383280"/>
          </a:xfrm>
          <a:prstGeom prst="roundRect">
            <a:avLst>
              <a:gd name="adj" fmla="val 2462"/>
            </a:avLst>
          </a:prstGeom>
          <a:solidFill>
            <a:srgbClr val="FFF2E1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64040" y="173736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64040" y="1810512"/>
            <a:ext cx="1097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29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🏭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915400" y="2971800"/>
            <a:ext cx="22402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9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Producători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1540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vor cantități mai mari la prețuri mai mari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94760" y="2971800"/>
            <a:ext cx="640080" cy="0"/>
          </a:xfrm>
          <a:prstGeom prst="line">
            <a:avLst/>
          </a:prstGeom>
          <a:noFill/>
          <a:ln w="25400">
            <a:solidFill>
              <a:srgbClr val="CAD7D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26680" y="2971800"/>
            <a:ext cx="640080" cy="0"/>
          </a:xfrm>
          <a:prstGeom prst="line">
            <a:avLst/>
          </a:prstGeom>
          <a:noFill/>
          <a:ln w="25400">
            <a:solidFill>
              <a:srgbClr val="CAD7DF"/>
            </a:solidFill>
            <a:prstDash val="solid"/>
            <a:headEnd type="triangle"/>
          </a:ln>
        </p:spPr>
      </p:sp>
      <p:sp>
        <p:nvSpPr>
          <p:cNvPr id="22" name="Text 20"/>
          <p:cNvSpPr/>
          <p:nvPr/>
        </p:nvSpPr>
        <p:spPr>
          <a:xfrm>
            <a:off x="2103120" y="5440680"/>
            <a:ext cx="80467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Întrebarea centrală: există un preț la care Qd = Qs?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52360" y="656539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99"/>
                </a:solidFill>
              </a:rPr>
              <a:t>Exerciții/teste: adaptate din Tomșa, Teorie economică, vol. I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Echilibrul pieței: P* și Q*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3"/>
                </a:solidFill>
              </a:rPr>
              <a:t>Punctul E este compatibilitatea planurilor celor două părți ale pieței.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99"/>
                </a:solidFill>
              </a:rPr>
              <a:t>Seminarul 2 | Microeconomie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640080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5120640"/>
            <a:ext cx="0" cy="-338328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097280" y="5120640"/>
            <a:ext cx="5303520" cy="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6868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55080" y="5193792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08760" y="2103120"/>
            <a:ext cx="4480560" cy="2606040"/>
          </a:xfrm>
          <a:prstGeom prst="line">
            <a:avLst/>
          </a:prstGeom>
          <a:noFill/>
          <a:ln w="27940">
            <a:solidFill>
              <a:srgbClr val="0B6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4736592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F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08760" y="4709160"/>
            <a:ext cx="4526280" cy="-2560320"/>
          </a:xfrm>
          <a:prstGeom prst="line">
            <a:avLst/>
          </a:prstGeom>
          <a:noFill/>
          <a:ln w="27940">
            <a:solidFill>
              <a:srgbClr val="F29E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965960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9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10889" y="3446374"/>
            <a:ext cx="100584" cy="100584"/>
          </a:xfrm>
          <a:prstGeom prst="ellipse">
            <a:avLst/>
          </a:prstGeom>
          <a:solidFill>
            <a:srgbClr val="35A853"/>
          </a:solidFill>
          <a:ln w="12700">
            <a:solidFill>
              <a:srgbClr val="35A85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61181" y="3496666"/>
            <a:ext cx="0" cy="1623974"/>
          </a:xfrm>
          <a:prstGeom prst="line">
            <a:avLst/>
          </a:prstGeom>
          <a:noFill/>
          <a:ln w="12700">
            <a:solidFill>
              <a:srgbClr val="9AA8B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3496666"/>
            <a:ext cx="2863901" cy="0"/>
          </a:xfrm>
          <a:prstGeom prst="line">
            <a:avLst/>
          </a:prstGeom>
          <a:noFill/>
          <a:ln w="12700">
            <a:solidFill>
              <a:srgbClr val="9AA8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34333" y="3295498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24021" y="5285232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Q*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4672" y="3405226"/>
            <a:ext cx="25603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P*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543800" y="146304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EAF7EE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Condiția de echilibru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001000" y="242316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2440" y="2496312"/>
            <a:ext cx="2468880" cy="5394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Qd = Qs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955280" y="3337560"/>
            <a:ext cx="274320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P* = prețul de echilibru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Q* = cantitatea de echilibru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= punctul de intersecție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01000" y="4754880"/>
            <a:ext cx="265176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P* nu există nici deficit, nici surplus.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452360" y="656539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99"/>
                </a:solidFill>
              </a:rPr>
              <a:t>Exerciții/teste: adaptate din Tomșa, Teorie economică, vol. I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Dezechilibrul pieței: deficit și surplus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3"/>
                </a:solidFill>
              </a:rPr>
              <a:t>Când prețul este „greșit”, Qd și Qs nu mai coincid.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99"/>
                </a:solidFill>
              </a:rPr>
              <a:t>Seminarul 2 | Microeconomie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DEDEA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4617720"/>
            <a:ext cx="0" cy="-278892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051560" y="4617720"/>
            <a:ext cx="4343400" cy="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22960" y="1783080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49240" y="4690872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63040" y="2194560"/>
            <a:ext cx="3520440" cy="2011680"/>
          </a:xfrm>
          <a:prstGeom prst="line">
            <a:avLst/>
          </a:prstGeom>
          <a:noFill/>
          <a:ln w="27940">
            <a:solidFill>
              <a:srgbClr val="0B6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4233672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F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63040" y="4206240"/>
            <a:ext cx="3566160" cy="-1965960"/>
          </a:xfrm>
          <a:prstGeom prst="line">
            <a:avLst/>
          </a:prstGeom>
          <a:noFill/>
          <a:ln w="27940">
            <a:solidFill>
              <a:srgbClr val="F29E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2057400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9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3172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24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&lt; P*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5166360"/>
            <a:ext cx="35661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24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Qd &gt; Qs → deficit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63640" y="114300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E8F3F8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4617720"/>
            <a:ext cx="0" cy="-278892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20840" y="4617720"/>
            <a:ext cx="4343400" cy="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492240" y="1783080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18520" y="4690872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32320" y="2194560"/>
            <a:ext cx="3520440" cy="2011680"/>
          </a:xfrm>
          <a:prstGeom prst="line">
            <a:avLst/>
          </a:prstGeom>
          <a:noFill/>
          <a:ln w="27940">
            <a:solidFill>
              <a:srgbClr val="0B6F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44200" y="4233672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F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32320" y="4206240"/>
            <a:ext cx="3566160" cy="-1965960"/>
          </a:xfrm>
          <a:prstGeom prst="line">
            <a:avLst/>
          </a:prstGeom>
          <a:noFill/>
          <a:ln w="27940">
            <a:solidFill>
              <a:srgbClr val="F29E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44200" y="2057400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9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0100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F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&gt; P*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0" y="5166360"/>
            <a:ext cx="35661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F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Qs &gt; Qd → surplus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6263640"/>
            <a:ext cx="99669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Walras: prețul se ajustează spre echilibru. Marshall: accent pe ajustarea ofertei/cantității în timp.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452360" y="656539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99"/>
                </a:solidFill>
              </a:rPr>
              <a:t>Exerciții/teste: adaptate din Tomșa, Teorie economică, vol. I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Problemă-model: calculul echilibrului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3"/>
                </a:solidFill>
              </a:rPr>
              <a:t>Profesorul arată algoritmul înainte ca studenții să lucreze independent.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99"/>
                </a:solidFill>
              </a:rPr>
              <a:t>Seminarul 2 | Microeconomie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4160520" cy="470916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63040"/>
            <a:ext cx="34747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Datele problemei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51560" y="2057400"/>
            <a:ext cx="3337560" cy="548640"/>
          </a:xfrm>
          <a:prstGeom prst="roundRect">
            <a:avLst>
              <a:gd name="adj" fmla="val 13333"/>
            </a:avLst>
          </a:prstGeom>
          <a:solidFill>
            <a:srgbClr val="E8F3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130552"/>
            <a:ext cx="315468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Qd = 80 − 2P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51560" y="2788920"/>
            <a:ext cx="3337560" cy="548640"/>
          </a:xfrm>
          <a:prstGeom prst="roundRect">
            <a:avLst>
              <a:gd name="adj" fmla="val 13333"/>
            </a:avLst>
          </a:prstGeom>
          <a:solidFill>
            <a:srgbClr val="FFF2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862072"/>
            <a:ext cx="315468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Qs = 20 + 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Căutăm: P* și Q*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57800" y="1143000"/>
            <a:ext cx="62636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Pașii de rezolvare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69280" y="1874520"/>
            <a:ext cx="53035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Scriem condiția: Qd = Qs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5669280" y="2377440"/>
            <a:ext cx="53035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Egalăm funcțiile: 80 − 2P = 20 + P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5669280" y="2880360"/>
            <a:ext cx="53035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Mutăm termenii: 60 = 3P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5669280" y="3383280"/>
            <a:ext cx="53035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Obținem P* = 20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5669280" y="3886200"/>
            <a:ext cx="53035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Înlocuim: Q* = 40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5669280" y="4389120"/>
            <a:ext cx="53035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Interpretăm: la P = 20, ambele părți vor Q = 40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7452360" y="656539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99"/>
                </a:solidFill>
              </a:rPr>
              <a:t>Exerciții/teste: adaptate din Tomșa, Teorie economică, vol. I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1 Tomșa: preț maxim și preț minim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3"/>
                </a:solidFill>
              </a:rPr>
              <a:t>Prima problemă completă: echilibru, deficit și surplus într-un singur exercițiu.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99"/>
                </a:solidFill>
              </a:rPr>
              <a:t>Seminarul 2 | Microeconomie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49377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17320"/>
            <a:ext cx="43891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Funcții: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E8F3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01952"/>
            <a:ext cx="402336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QD = 100 − 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468880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FFF2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542032"/>
            <a:ext cx="402336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QS = −20 + 2P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3246120"/>
            <a:ext cx="43891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Determinați situația pe piață dacă: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703320"/>
            <a:ext cx="402336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a) Pmax = 20 u.m.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b) Pmin = 60 u.m.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4983480"/>
            <a:ext cx="40233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Lucru în perechi: 8-10 min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89320" y="1143000"/>
            <a:ext cx="5577840" cy="4937760"/>
          </a:xfrm>
          <a:prstGeom prst="roundRect">
            <a:avLst>
              <a:gd name="adj" fmla="val 1481"/>
            </a:avLst>
          </a:prstGeom>
          <a:solidFill>
            <a:srgbClr val="EAF7EE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463040"/>
            <a:ext cx="49377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Rezultat de verificare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2057400"/>
            <a:ext cx="44805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Echilibru: P* = 40, Q* = 60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24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Pmax = 20: QD = 80, QS = 20 → deficit = 60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3749040"/>
            <a:ext cx="466344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B6F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Pmin = 60: QD = 40, QS = 100 → surplus = 60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52360" y="656539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99"/>
                </a:solidFill>
              </a:rPr>
              <a:t>Exerciții/teste: adaptate din Tomșa, Teorie economică, vol. I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Modificarea echilibrului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3"/>
                </a:solidFill>
              </a:rPr>
              <a:t>Orice deplasare a D sau S schimbă simultan P* și Q*.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99"/>
                </a:solidFill>
              </a:rPr>
              <a:t>Seminarul 2 | Microeconomie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94360" y="1188720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34440"/>
            <a:ext cx="24688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crește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50392" y="3017520"/>
            <a:ext cx="0" cy="-141732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50392" y="3017520"/>
            <a:ext cx="2148840" cy="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21792" y="1554480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53512" y="3090672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61872" y="1965960"/>
            <a:ext cx="1325880" cy="640080"/>
          </a:xfrm>
          <a:prstGeom prst="line">
            <a:avLst/>
          </a:prstGeom>
          <a:noFill/>
          <a:ln w="27940">
            <a:solidFill>
              <a:srgbClr val="0B6F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2633472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F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61872" y="2606040"/>
            <a:ext cx="1371600" cy="-594360"/>
          </a:xfrm>
          <a:prstGeom prst="line">
            <a:avLst/>
          </a:prstGeom>
          <a:noFill/>
          <a:ln w="27940">
            <a:solidFill>
              <a:srgbClr val="F29E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9192" y="1828800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9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60474" y="2286914"/>
            <a:ext cx="100584" cy="100584"/>
          </a:xfrm>
          <a:prstGeom prst="ellipse">
            <a:avLst/>
          </a:prstGeom>
          <a:solidFill>
            <a:srgbClr val="35A853"/>
          </a:solidFill>
          <a:ln w="12700">
            <a:solidFill>
              <a:srgbClr val="35A8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0766" y="2337206"/>
            <a:ext cx="0" cy="680314"/>
          </a:xfrm>
          <a:prstGeom prst="line">
            <a:avLst/>
          </a:prstGeom>
          <a:noFill/>
          <a:ln w="12700">
            <a:solidFill>
              <a:srgbClr val="9AA8B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" y="2337206"/>
            <a:ext cx="1160374" cy="0"/>
          </a:xfrm>
          <a:prstGeom prst="line">
            <a:avLst/>
          </a:prstGeom>
          <a:noFill/>
          <a:ln w="12700">
            <a:solidFill>
              <a:srgbClr val="9AA8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83918" y="2136038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73606" y="3182112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Q*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7784" y="2245766"/>
            <a:ext cx="25603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P*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" y="3383280"/>
            <a:ext cx="1645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P* ↑, Q* ↑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520440" y="1188720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1234440"/>
            <a:ext cx="24688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scade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76472" y="3017520"/>
            <a:ext cx="0" cy="-141732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776472" y="3017520"/>
            <a:ext cx="2148840" cy="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547872" y="1554480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79592" y="3090672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87952" y="1965960"/>
            <a:ext cx="1325880" cy="640080"/>
          </a:xfrm>
          <a:prstGeom prst="line">
            <a:avLst/>
          </a:prstGeom>
          <a:noFill/>
          <a:ln w="27940">
            <a:solidFill>
              <a:srgbClr val="0B6F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05272" y="2633472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F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87952" y="2606040"/>
            <a:ext cx="1371600" cy="-594360"/>
          </a:xfrm>
          <a:prstGeom prst="line">
            <a:avLst/>
          </a:prstGeom>
          <a:noFill/>
          <a:ln w="27940">
            <a:solidFill>
              <a:srgbClr val="F29E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05272" y="1828800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9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86554" y="2286914"/>
            <a:ext cx="100584" cy="100584"/>
          </a:xfrm>
          <a:prstGeom prst="ellipse">
            <a:avLst/>
          </a:prstGeom>
          <a:solidFill>
            <a:srgbClr val="35A853"/>
          </a:solidFill>
          <a:ln w="12700">
            <a:solidFill>
              <a:srgbClr val="35A85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6846" y="2337206"/>
            <a:ext cx="0" cy="680314"/>
          </a:xfrm>
          <a:prstGeom prst="line">
            <a:avLst/>
          </a:prstGeom>
          <a:noFill/>
          <a:ln w="12700">
            <a:solidFill>
              <a:srgbClr val="9AA8B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76472" y="2337206"/>
            <a:ext cx="1160374" cy="0"/>
          </a:xfrm>
          <a:prstGeom prst="line">
            <a:avLst/>
          </a:prstGeom>
          <a:noFill/>
          <a:ln w="12700">
            <a:solidFill>
              <a:srgbClr val="9AA8B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09998" y="2136038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99686" y="3182112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Q*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83864" y="2245766"/>
            <a:ext cx="25603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P*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069080" y="3383280"/>
            <a:ext cx="1645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24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P* ↓, Q* ↓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446520" y="1188720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1234440"/>
            <a:ext cx="24688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crește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02552" y="3017520"/>
            <a:ext cx="0" cy="-141732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702552" y="3017520"/>
            <a:ext cx="2148840" cy="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6473952" y="1554480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805672" y="3090672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114032" y="1965960"/>
            <a:ext cx="1325880" cy="640080"/>
          </a:xfrm>
          <a:prstGeom prst="line">
            <a:avLst/>
          </a:prstGeom>
          <a:noFill/>
          <a:ln w="27940">
            <a:solidFill>
              <a:srgbClr val="0B6FA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31352" y="2633472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F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114032" y="2606040"/>
            <a:ext cx="1371600" cy="-594360"/>
          </a:xfrm>
          <a:prstGeom prst="line">
            <a:avLst/>
          </a:prstGeom>
          <a:noFill/>
          <a:ln w="27940">
            <a:solidFill>
              <a:srgbClr val="F29E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31352" y="1828800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9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812634" y="2286914"/>
            <a:ext cx="100584" cy="100584"/>
          </a:xfrm>
          <a:prstGeom prst="ellipse">
            <a:avLst/>
          </a:prstGeom>
          <a:solidFill>
            <a:srgbClr val="35A853"/>
          </a:solidFill>
          <a:ln w="12700">
            <a:solidFill>
              <a:srgbClr val="35A85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62926" y="2337206"/>
            <a:ext cx="0" cy="680314"/>
          </a:xfrm>
          <a:prstGeom prst="line">
            <a:avLst/>
          </a:prstGeom>
          <a:noFill/>
          <a:ln w="12700">
            <a:solidFill>
              <a:srgbClr val="9AA8B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02552" y="2337206"/>
            <a:ext cx="1160374" cy="0"/>
          </a:xfrm>
          <a:prstGeom prst="line">
            <a:avLst/>
          </a:prstGeom>
          <a:noFill/>
          <a:ln w="12700">
            <a:solidFill>
              <a:srgbClr val="9AA8B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36078" y="2136038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725766" y="3182112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Q*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09944" y="2245766"/>
            <a:ext cx="25603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P*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995160" y="3383280"/>
            <a:ext cx="1645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P* ↓, Q* ↑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9372600" y="1188720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509760" y="1234440"/>
            <a:ext cx="24688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scade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628632" y="3017520"/>
            <a:ext cx="0" cy="-141732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9628632" y="3017520"/>
            <a:ext cx="2148840" cy="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9400032" y="1554480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731752" y="3090672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0040112" y="1965960"/>
            <a:ext cx="1325880" cy="640080"/>
          </a:xfrm>
          <a:prstGeom prst="line">
            <a:avLst/>
          </a:prstGeom>
          <a:noFill/>
          <a:ln w="27940">
            <a:solidFill>
              <a:srgbClr val="0B6FA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457432" y="2633472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F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10040112" y="2606040"/>
            <a:ext cx="1371600" cy="-594360"/>
          </a:xfrm>
          <a:prstGeom prst="line">
            <a:avLst/>
          </a:prstGeom>
          <a:noFill/>
          <a:ln w="27940">
            <a:solidFill>
              <a:srgbClr val="F29E3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457432" y="1828800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9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0738714" y="2286914"/>
            <a:ext cx="100584" cy="100584"/>
          </a:xfrm>
          <a:prstGeom prst="ellipse">
            <a:avLst/>
          </a:prstGeom>
          <a:solidFill>
            <a:srgbClr val="35A853"/>
          </a:solidFill>
          <a:ln w="12700">
            <a:solidFill>
              <a:srgbClr val="35A85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789006" y="2337206"/>
            <a:ext cx="0" cy="680314"/>
          </a:xfrm>
          <a:prstGeom prst="line">
            <a:avLst/>
          </a:prstGeom>
          <a:noFill/>
          <a:ln w="12700">
            <a:solidFill>
              <a:srgbClr val="9AA8B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628632" y="2337206"/>
            <a:ext cx="1160374" cy="0"/>
          </a:xfrm>
          <a:prstGeom prst="line">
            <a:avLst/>
          </a:prstGeom>
          <a:noFill/>
          <a:ln w="12700">
            <a:solidFill>
              <a:srgbClr val="9AA8B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862158" y="2136038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10651846" y="3182112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Q*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9336024" y="2245766"/>
            <a:ext cx="25603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P*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9921240" y="3383280"/>
            <a:ext cx="1645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24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P* ↑, Q* ↓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1234440" y="5120640"/>
            <a:ext cx="96926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Această schemă pregătește analiza taxelor și subvențiilor: ambele sunt factori non-preț ai ofertei.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7452360" y="656539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99"/>
                </a:solidFill>
              </a:rPr>
              <a:t>Exerciții/teste: adaptate din Tomșa, Teorie economică, vol. I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Impozitul pe producător și echilibrul pieței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3"/>
                </a:solidFill>
              </a:rPr>
              <a:t>Taxa pe unitate majorează costul efectiv al producătorului.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99"/>
                </a:solidFill>
              </a:rPr>
              <a:t>Seminarul 2 | Microeconomie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585216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4800600"/>
            <a:ext cx="0" cy="-297180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051560" y="4800600"/>
            <a:ext cx="4663440" cy="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22960" y="1783080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0" y="4873752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63040" y="2194560"/>
            <a:ext cx="3840480" cy="2194560"/>
          </a:xfrm>
          <a:prstGeom prst="line">
            <a:avLst/>
          </a:prstGeom>
          <a:noFill/>
          <a:ln w="27940">
            <a:solidFill>
              <a:srgbClr val="0B6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4416552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F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63040" y="4389120"/>
            <a:ext cx="3886200" cy="-2148840"/>
          </a:xfrm>
          <a:prstGeom prst="line">
            <a:avLst/>
          </a:prstGeom>
          <a:noFill/>
          <a:ln w="27940">
            <a:solidFill>
              <a:srgbClr val="F29E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2057400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9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4389120"/>
            <a:ext cx="3886200" cy="-2148840"/>
          </a:xfrm>
          <a:prstGeom prst="line">
            <a:avLst/>
          </a:prstGeom>
          <a:noFill/>
          <a:ln w="27940">
            <a:solidFill>
              <a:srgbClr val="D24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057400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24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00200" y="5257800"/>
            <a:ext cx="36576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24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se deplasează spre stânga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903720" y="1143000"/>
            <a:ext cx="4480560" cy="4892040"/>
          </a:xfrm>
          <a:prstGeom prst="roundRect">
            <a:avLst>
              <a:gd name="adj" fmla="val 1633"/>
            </a:avLst>
          </a:prstGeom>
          <a:solidFill>
            <a:srgbClr val="FDEDEA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 citim graficul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Prețul plătit de consumator tinde să crească.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15200" y="3063240"/>
            <a:ext cx="365760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Prețul net primit de producător este mai mic decât prețul de piață cu valoarea taxei.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31520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24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Cantitatea de echilibru se reduce.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52360" y="656539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99"/>
                </a:solidFill>
              </a:rPr>
              <a:t>Exerciții/teste: adaptate din Tomșa, Teorie economică, vol. I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4 Tomșa: impozit de 2 u.m./unitate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3"/>
                </a:solidFill>
              </a:rPr>
              <a:t>A doua problemă principală: cum se modifică funcția ofertei după taxă.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99"/>
                </a:solidFill>
              </a:rPr>
              <a:t>Seminarul 2 | Microeconomie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94360" y="1051560"/>
            <a:ext cx="5074920" cy="512064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46304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E8F3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36192"/>
            <a:ext cx="4206240" cy="3566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QD = 6 − 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2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76272"/>
            <a:ext cx="4206240" cy="3566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QS = 2P − 2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274320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DED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816352"/>
            <a:ext cx="4206240" cy="3566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= 2 u.m./unitate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3749040"/>
            <a:ext cx="429768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Determinați: echilibrul înainte și după impozit + încasările totale ale statului.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5440680" cy="5120640"/>
          </a:xfrm>
          <a:prstGeom prst="roundRect">
            <a:avLst>
              <a:gd name="adj" fmla="val 1429"/>
            </a:avLst>
          </a:prstGeom>
          <a:solidFill>
            <a:srgbClr val="EAF7EE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371600"/>
            <a:ext cx="48463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Verificare profesor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2057400"/>
            <a:ext cx="48463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Inițial: 6 − P = 2P − 2 → P* = 8/3, Q* = 10/3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400800" y="2971800"/>
            <a:ext cx="48463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După taxă: producătorul primește P − t, deci QS’ = 2(P − 2) − 2 = 2P − 6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6400800" y="3931920"/>
            <a:ext cx="48463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6 − P = 2P − 6 → Pcons = 4, Q =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4617720"/>
            <a:ext cx="48463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24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Încasări: T = t × Q = 2 × 2 = 4 u.m.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52360" y="656539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99"/>
                </a:solidFill>
              </a:rPr>
              <a:t>Exerciții/teste: adaptate din Tomșa, Teorie economică, vol. I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Subvenția producătorului și echilibrul pieței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3"/>
                </a:solidFill>
              </a:rPr>
              <a:t>Subvenția reduce costul efectiv și stimulează oferta.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99"/>
                </a:solidFill>
              </a:rPr>
              <a:t>Seminarul 2 | Microeconomie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585216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4800600"/>
            <a:ext cx="0" cy="-297180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051560" y="4800600"/>
            <a:ext cx="4663440" cy="0"/>
          </a:xfrm>
          <a:prstGeom prst="line">
            <a:avLst/>
          </a:prstGeom>
          <a:noFill/>
          <a:ln w="19050">
            <a:solidFill>
              <a:srgbClr val="0F2437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22960" y="1783080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0" y="4873752"/>
            <a:ext cx="2286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63040" y="2194560"/>
            <a:ext cx="3840480" cy="2194560"/>
          </a:xfrm>
          <a:prstGeom prst="line">
            <a:avLst/>
          </a:prstGeom>
          <a:noFill/>
          <a:ln w="27940">
            <a:solidFill>
              <a:srgbClr val="0B6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4416552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F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63040" y="4389120"/>
            <a:ext cx="3886200" cy="-2148840"/>
          </a:xfrm>
          <a:prstGeom prst="line">
            <a:avLst/>
          </a:prstGeom>
          <a:noFill/>
          <a:ln w="27940">
            <a:solidFill>
              <a:srgbClr val="F29E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2057400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9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965960" y="4389120"/>
            <a:ext cx="3886200" cy="-2148840"/>
          </a:xfrm>
          <a:prstGeom prst="line">
            <a:avLst/>
          </a:prstGeom>
          <a:noFill/>
          <a:ln w="27940">
            <a:solidFill>
              <a:srgbClr val="35A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2057400"/>
            <a:ext cx="3200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00200" y="5257800"/>
            <a:ext cx="36576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se deplasează spre dreapta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903720" y="1143000"/>
            <a:ext cx="4480560" cy="4892040"/>
          </a:xfrm>
          <a:prstGeom prst="roundRect">
            <a:avLst>
              <a:gd name="adj" fmla="val 1633"/>
            </a:avLst>
          </a:prstGeom>
          <a:solidFill>
            <a:srgbClr val="EAF7EE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 citim graficul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Prețul plătit de consumator tinde să scadă.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15200" y="3063240"/>
            <a:ext cx="365760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Producătorul primește prețul de piață plus subvenția.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31520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Cantitatea de echilibru crește.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52360" y="656539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99"/>
                </a:solidFill>
              </a:rPr>
              <a:t>Exerciții/teste: adaptate din Tomșa, Teorie economică, vol. I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3 Tomșa: subvenție de 2 u.m./unitate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3"/>
                </a:solidFill>
              </a:rPr>
              <a:t>A treia problemă principală: subvenția modifică prețul primit de producător.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99"/>
                </a:solidFill>
              </a:rPr>
              <a:t>Seminarul 2 | Microeconomie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94360" y="1051560"/>
            <a:ext cx="5074920" cy="512064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46304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E8F3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36192"/>
            <a:ext cx="4206240" cy="3566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QD = 11 − 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2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76272"/>
            <a:ext cx="4206240" cy="3566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QS = 2P − 5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274320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EAF7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816352"/>
            <a:ext cx="4206240" cy="3566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= 2 u.m./unitate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3749040"/>
            <a:ext cx="429768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Determinați: echilibrul înainte și după subvenție + mărimea totală a subvenției.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5440680" cy="5120640"/>
          </a:xfrm>
          <a:prstGeom prst="roundRect">
            <a:avLst>
              <a:gd name="adj" fmla="val 1429"/>
            </a:avLst>
          </a:prstGeom>
          <a:solidFill>
            <a:srgbClr val="EAF7EE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371600"/>
            <a:ext cx="48463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Verificare profesor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2057400"/>
            <a:ext cx="48463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Inițial: 11 − P = 2P − 5 → P* = 16/3, Q* = 17/3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400800" y="2971800"/>
            <a:ext cx="48463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După subvenție: producătorul primește P + s, deci QS’ = 2(P + 2) − 5 = 2P − 1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6400800" y="3931920"/>
            <a:ext cx="48463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11 − P = 2P − 1 → Pcons = 4, Q = 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4617720"/>
            <a:ext cx="48463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Subvenție totală: S = s × Q = 2 × 7 = 14 u.m.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52360" y="656539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99"/>
                </a:solidFill>
              </a:rPr>
              <a:t>Exerciții/teste: adaptate din Tomșa, Teorie economică, vol. I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Recapitulare și tema pentru acasă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3"/>
                </a:solidFill>
              </a:rPr>
              <a:t>Încheiem prin verificare scurtă și o problemă aplicativă.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99"/>
                </a:solidFill>
              </a:rPr>
              <a:t>Seminarul 2 | Microeconomie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17320"/>
            <a:ext cx="493776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Adevărat / Fals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484632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Creșterea prețului bunului deplasează curba cererii.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Acordarea subvențiilor producătorilor majorează oferta.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Dacă P &lt; P*, pe piață apare deficit.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Creșterea prețului resurselor deplasează oferta spre dreapta.</a:t>
            </a:r>
            <a:endParaRPr lang="en-US" sz="133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48463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Răspunsuri: 1-F, 2-A, 3-A, 4-F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11430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FF2E1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1417320"/>
            <a:ext cx="448056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pentru acasă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12280" y="1965960"/>
            <a:ext cx="4434840" cy="1600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5 Tomșa</a:t>
            </a:r>
            <a:endParaRPr lang="en-US" sz="1330" dirty="0"/>
          </a:p>
          <a:p>
            <a:pPr algn="ctr" indent="0" marL="0">
              <a:buNone/>
            </a:pPr>
            <a:r>
              <a:rPr lang="en-US" sz="133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QD = 18 − 4P</a:t>
            </a:r>
            <a:endParaRPr lang="en-US" sz="1330" dirty="0"/>
          </a:p>
          <a:p>
            <a:pPr algn="ctr" indent="0" marL="0">
              <a:buNone/>
            </a:pPr>
            <a:r>
              <a:rPr lang="en-US" sz="133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QS = −6 + 4P</a:t>
            </a:r>
            <a:endParaRPr lang="en-US" sz="1330" dirty="0"/>
          </a:p>
          <a:p>
            <a:pPr algn="ctr" indent="0" marL="0">
              <a:buNone/>
            </a:pPr>
            <a:r>
              <a:rPr lang="en-US" sz="1330" dirty="0">
                <a:solidFill>
                  <a:srgbClr val="0F2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Determinați impozitul aplicat producătorului pentru fiecare unitate dacă după impozitare Q = 2.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6812280" y="4160520"/>
            <a:ext cx="44348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Rezultat pentru profesor: t = 2 u.m./unitate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52360" y="656539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99"/>
                </a:solidFill>
              </a:rPr>
              <a:t>Exerciții/teste: adaptate din Tomșa, Teorie economică, vol. I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A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ASEM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Seminarul 2 - Cererea, oferta si echilibrul pietei</dc:title>
  <dc:subject>Seminarul 2 Microeconomie - Cererea, oferta si echilibrul pietei</dc:subject>
  <dc:creator>ChatGPT</dc:creator>
  <cp:lastModifiedBy>ChatGPT</cp:lastModifiedBy>
  <cp:revision>1</cp:revision>
  <dcterms:created xsi:type="dcterms:W3CDTF">2026-09-13T12:34:37Z</dcterms:created>
  <dcterms:modified xsi:type="dcterms:W3CDTF">2026-09-13T12:34:37Z</dcterms:modified>
</cp:coreProperties>
</file>