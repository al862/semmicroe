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titlu. Circuitul: nevoile generează cererea de resurse, resursele se transformă în bunuri, bunurile sunt consumate, iar consumul generează noi nevoi.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are trei blocuri: nevoile, resursele și bunurile, apoi activitatea economică propriu-zisă cu fazele ei.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Definiția de bază a nevoilor umane și principalele lor domenii de manifestare.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 cinci trăsături explică de ce nevoile nu pot fi satisfăcute integral și de ce apare necesitatea alegerii.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 trei mari categorii de nevoi; nevoile economice au rolul central pentru analiza economică.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Piramida trebuințelor în varianta extinsă cu opt trepte: nevoile de deficit la bază, nevoile de creștere în vârf.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Interesele economice sunt forma concretă prin care nevoile se realizează în practică.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Resursele economice: definiția largă și accentul pe potențialul material și spiritual.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Clasificarea pe resurse materiale și umane, fiecare cu componente primare și derivate; concluzia este raritatea relativă.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Bunul economic și cele patru diviziuni de bază.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Lanțul de prelucrare: inițiale, intermediare,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Marfa și cele șapte grupe de mărfuri.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Utilitatea mărfii, legătura cu avuția și cele trei forme ale utilității.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Valoarea de schimb și cele trei teorii clasice care o explică.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Definiția activității economice și cele trei momente pe care se concentrează analiza.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 patru faze formează un circuit închis: consumul relansează producția prin noile nevoi.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Curba posibilităților de producere ilustrează raritatea resurselor și costul alegerii.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Concluzia temei: raritatea impune alegerea, iar circuitul economic închide legătura dintre nevoi și consum.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47088" y="1234440"/>
            <a:ext cx="1371600" cy="1371600"/>
          </a:xfrm>
          <a:prstGeom prst="ellipse">
            <a:avLst/>
          </a:prstGeom>
          <a:solidFill>
            <a:srgbClr val="1C3556"/>
          </a:solidFill>
          <a:ln w="19050">
            <a:solidFill>
              <a:srgbClr val="C8A45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847088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C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364992" y="1783080"/>
            <a:ext cx="713232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4528" y="1234440"/>
            <a:ext cx="1371600" cy="1371600"/>
          </a:xfrm>
          <a:prstGeom prst="ellipse">
            <a:avLst/>
          </a:prstGeom>
          <a:solidFill>
            <a:srgbClr val="16304F"/>
          </a:solidFill>
          <a:ln w="19050">
            <a:solidFill>
              <a:srgbClr val="7C97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24528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42432" y="1783080"/>
            <a:ext cx="713232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01968" y="1234440"/>
            <a:ext cx="1371600" cy="1371600"/>
          </a:xfrm>
          <a:prstGeom prst="ellipse">
            <a:avLst/>
          </a:prstGeom>
          <a:solidFill>
            <a:srgbClr val="16304F"/>
          </a:solidFill>
          <a:ln w="19050">
            <a:solidFill>
              <a:srgbClr val="7C97B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1968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9872" y="1783080"/>
            <a:ext cx="713232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9408" y="1234440"/>
            <a:ext cx="1371600" cy="1371600"/>
          </a:xfrm>
          <a:prstGeom prst="ellipse">
            <a:avLst/>
          </a:prstGeom>
          <a:solidFill>
            <a:srgbClr val="16304F"/>
          </a:solidFill>
          <a:ln w="19050">
            <a:solidFill>
              <a:srgbClr val="7C97B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79408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D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32888" y="3108960"/>
            <a:ext cx="7818120" cy="0"/>
          </a:xfrm>
          <a:prstGeom prst="line">
            <a:avLst/>
          </a:prstGeom>
          <a:noFill/>
          <a:ln w="15875">
            <a:solidFill>
              <a:srgbClr val="7C97BC"/>
            </a:solidFill>
            <a:prstDash val="dash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532888" y="317296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reluarea neîntreruptă a circuitului economic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776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Activitatea economică și elementele ei de bază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89204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Nevoi, resurse, bunuri și fazele circuitului economic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5778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Teorie economică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Arhitectura temei: structura prezentării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2984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 și interese economice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8680" y="1764792"/>
            <a:ext cx="4846320" cy="0"/>
          </a:xfrm>
          <a:prstGeom prst="line">
            <a:avLst/>
          </a:prstGeom>
          <a:noFill/>
          <a:ln w="12700">
            <a:solidFill>
              <a:srgbClr val="2E4E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938528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435608" y="1911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umane: definiție și trăsături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86968" y="2542032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514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Clasificarea nevoilor umane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3145536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435608" y="3118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Ierarhia celor opt nevoi fundamentale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" y="3749040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435608" y="3721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și interesele economice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12984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Resurse, bunuri și marfă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92240" y="1764792"/>
            <a:ext cx="4846320" cy="0"/>
          </a:xfrm>
          <a:prstGeom prst="line">
            <a:avLst/>
          </a:prstGeom>
          <a:noFill/>
          <a:ln w="12700">
            <a:solidFill>
              <a:srgbClr val="2E4E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0528" y="1938528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0528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1911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Resursele economice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10528" y="2542032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10528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25146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Clasificarea resurselor economice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10528" y="3145536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1052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3118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Bunurile economice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10528" y="3749040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1052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3721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Marfa și utilitatea mărfii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10528" y="4352544"/>
            <a:ext cx="384048" cy="3840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10528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059168" y="4325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Valoarea de schimb și teoriile valorii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51560" y="5230368"/>
            <a:ext cx="10058400" cy="0"/>
          </a:xfrm>
          <a:prstGeom prst="line">
            <a:avLst/>
          </a:prstGeom>
          <a:noFill/>
          <a:ln w="15875">
            <a:solidFill>
              <a:srgbClr val="7C97B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0" y="5001768"/>
            <a:ext cx="457200" cy="457200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96596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" y="5559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Activitatea economică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5001768"/>
            <a:ext cx="457200" cy="457200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1772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3657600" y="5559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Fazele activității economice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69480" y="5001768"/>
            <a:ext cx="457200" cy="457200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6948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309360" y="5559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Curba posibilităților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921240" y="5001768"/>
            <a:ext cx="457200" cy="457200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92124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8961120" y="5559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Concluzii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Nevoile umane exprimă cerințele vieții și activității oamenilor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371600"/>
            <a:ext cx="10085832" cy="1234440"/>
          </a:xfrm>
          <a:prstGeom prst="roundRect">
            <a:avLst>
              <a:gd name="adj" fmla="val 5926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371600"/>
            <a:ext cx="9445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(trebuințele) umane </a:t>
            </a:r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reprezintă cerințele materiale, economice, sociale, spirituale și de mediu ecologic ale vieții și activității oamenilor.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8884" y="306324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0696" y="3291840"/>
            <a:ext cx="402336" cy="402336"/>
          </a:xfrm>
          <a:prstGeom prst="ellipse">
            <a:avLst/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50696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8612" y="379476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5188" y="4187952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hrană, locuință, îmbrăcăminte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90876" y="306324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72688" y="3291840"/>
            <a:ext cx="402336" cy="402336"/>
          </a:xfrm>
          <a:prstGeom prst="ellipse">
            <a:avLst/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7268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00604" y="379476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37180" y="4187952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bunuri materiale și servicii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12868" y="306324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4680" y="3291840"/>
            <a:ext cx="402336" cy="402336"/>
          </a:xfrm>
          <a:prstGeom prst="ellipse">
            <a:avLst/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468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22596" y="379476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59172" y="4187952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educație, cultură, profesie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34860" y="306324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6672" y="3291840"/>
            <a:ext cx="402336" cy="402336"/>
          </a:xfrm>
          <a:prstGeom prst="ellipse">
            <a:avLst/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6672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44588" y="379476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Spirituale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81164" y="4187952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cunoaștere, valori, sens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56852" y="306324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38664" y="3291840"/>
            <a:ext cx="402336" cy="402336"/>
          </a:xfrm>
          <a:prstGeom prst="ellipse">
            <a:avLst/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38664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66580" y="379476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mediu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703156" y="4187952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și apă curate, natură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51560" y="5257800"/>
            <a:ext cx="1008583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80160" y="5257800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sunt punctul de plecare al oricărei activități economice.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Cinci trăsături definesc dinamica nevoilor umane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8300" y="1627632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6900" y="1856232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690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318108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Nelimitate ca număr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4332" y="2359152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Odată cu dezvoltarea progresului tehnico-științific apar mereu nevoi umane noi.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1348" y="1627632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9948" y="1856232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9948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131156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Limitate în capacitate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37380" y="2359152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Satisfacerea unei nevoi concrete (hrană, îmbrăcăminte) are o limită naturală.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94396" y="1627632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2996" y="1856232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22996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44204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Concurente și substituibile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0428" y="2359152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se înlocuiesc reciproc în timp și în spațiu.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74824" y="3401568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03424" y="3630168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03424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24632" y="36027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730856" y="4133088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se condiționează unele pe altele.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7872" y="3401568"/>
            <a:ext cx="3429000" cy="1536192"/>
          </a:xfrm>
          <a:prstGeom prst="roundRect">
            <a:avLst>
              <a:gd name="adj" fmla="val 47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6472" y="3630168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6472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37680" y="36027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Reproductibile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43904" y="4133088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Nevoia satisfăcută reapare, generând reluarea activității economice.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5285232"/>
            <a:ext cx="1008583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80160" y="5285232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Nelimitate ca număr, dar limitate în capacitate — de aici derivă problema alegerii economice.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Clasificarea nevoilor umane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3728" y="146304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2328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 natural-biologice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92328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fiziologice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61008" y="2761488"/>
            <a:ext cx="1188720" cy="0"/>
          </a:xfrm>
          <a:prstGeom prst="line">
            <a:avLst/>
          </a:prstGeom>
          <a:noFill/>
          <a:ln w="15875">
            <a:solidFill>
              <a:srgbClr val="C8A4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6336" y="292608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Necesare oricărui individ, indiferent de mediul social.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Aer, apă, hrană, îmbrăcăminte, adăpost.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 cele mai stringente și se reproduc permanent.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04208" y="146304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2808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 sociale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32808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legate de mediul comunitar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01488" y="2761488"/>
            <a:ext cx="1188720" cy="0"/>
          </a:xfrm>
          <a:prstGeom prst="line">
            <a:avLst/>
          </a:prstGeom>
          <a:noFill/>
          <a:ln w="15875">
            <a:solidFill>
              <a:srgbClr val="C8A4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96816" y="292608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Formarea și perfecționarea profesională a oamenilor.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Educație, cultură, comunicare, apartenență.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formează în raport cu mediul social.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44688" y="146304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73288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C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 economice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73288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rolul principal în ansamblu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41968" y="2761488"/>
            <a:ext cx="1188720" cy="0"/>
          </a:xfrm>
          <a:prstGeom prst="line">
            <a:avLst/>
          </a:prstGeom>
          <a:noFill/>
          <a:ln w="15875">
            <a:solidFill>
              <a:srgbClr val="C8A45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37296" y="292608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Cerințele de bunuri materiale și servicii.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satisfac prin producție, schimb și consum.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Ocupă rolul principal în ansamblul nevoilor.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5230368"/>
            <a:ext cx="10085832" cy="777240"/>
          </a:xfrm>
          <a:prstGeom prst="roundRect">
            <a:avLst>
              <a:gd name="adj" fmla="val 11765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5230368"/>
            <a:ext cx="9628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ansamblul nevoilor, rolul principal îl ocupă nevoile economice: cerințele de bunuri materiale și servicii.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Ierarhia celor opt nevoi fundamentale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449928" y="1371600"/>
            <a:ext cx="3291840" cy="530352"/>
          </a:xfrm>
          <a:prstGeom prst="roundRect">
            <a:avLst>
              <a:gd name="adj" fmla="val 10345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87088" y="137160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Transcendență, sens suprem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73133" y="1984248"/>
            <a:ext cx="4245429" cy="530352"/>
          </a:xfrm>
          <a:prstGeom prst="roundRect">
            <a:avLst>
              <a:gd name="adj" fmla="val 10345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10293" y="1984248"/>
            <a:ext cx="39711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Dezvoltare, împlinire, fericire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6339" y="2596896"/>
            <a:ext cx="5199017" cy="530352"/>
          </a:xfrm>
          <a:prstGeom prst="roundRect">
            <a:avLst>
              <a:gd name="adj" fmla="val 10345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3499" y="2596896"/>
            <a:ext cx="492469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 estetice: frumusețe, echilibru, formă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9545" y="3209544"/>
            <a:ext cx="6152606" cy="530352"/>
          </a:xfrm>
          <a:prstGeom prst="roundRect">
            <a:avLst>
              <a:gd name="adj" fmla="val 10345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56705" y="3209544"/>
            <a:ext cx="587828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Cogniție: (auto)cunoaștere, sens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42750" y="3822192"/>
            <a:ext cx="7106194" cy="530352"/>
          </a:xfrm>
          <a:prstGeom prst="roundRect">
            <a:avLst>
              <a:gd name="adj" fmla="val 10345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9910" y="3822192"/>
            <a:ext cx="683187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Stimă, respect, statut, responsabilitate, reputație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65956" y="4434840"/>
            <a:ext cx="8059783" cy="530352"/>
          </a:xfrm>
          <a:prstGeom prst="roundRect">
            <a:avLst>
              <a:gd name="adj" fmla="val 10345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03116" y="4434840"/>
            <a:ext cx="778546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Apartenență: familie, afecțiune, relații, afiliere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89162" y="5047488"/>
            <a:ext cx="9013371" cy="530352"/>
          </a:xfrm>
          <a:prstGeom prst="roundRect">
            <a:avLst>
              <a:gd name="adj" fmla="val 10345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26322" y="5047488"/>
            <a:ext cx="873905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Securitate: protecție, ordine, lege, stabilitate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12368" y="5660136"/>
            <a:ext cx="9966960" cy="530352"/>
          </a:xfrm>
          <a:prstGeom prst="roundRect">
            <a:avLst>
              <a:gd name="adj" fmla="val 10345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49528" y="5660136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Fiziologice: aer, mâncare, apă, adăpost, căldură, somn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 de creștere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120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 de deficit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Nevoile și interesele economice se condiționează reciproc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691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Legătura reciprocă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21284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umane se află într-o legătură reciprocă cu interesele economice.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88720" y="3017520"/>
            <a:ext cx="4434840" cy="0"/>
          </a:xfrm>
          <a:prstGeom prst="line">
            <a:avLst/>
          </a:prstGeom>
          <a:noFill/>
          <a:ln w="12700">
            <a:solidFill>
              <a:srgbClr val="2E4E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320040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Interesele economice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reprezintă o formă de realizare a nevoilor umane: ele transpun nevoia resimțită în acțiune economică orientată spre un scop.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463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Categorii de interese economice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personale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88552" y="20116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de grup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46520" y="2807208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807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private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88552" y="2807208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25712" y="28072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publice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3602736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36027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curente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88552" y="3602736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25712" y="360273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de perspectivă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4398264"/>
            <a:ext cx="4828032" cy="640080"/>
          </a:xfrm>
          <a:prstGeom prst="roundRect">
            <a:avLst>
              <a:gd name="adj" fmla="val 1142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398264"/>
            <a:ext cx="4553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 permanente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" y="5285232"/>
            <a:ext cx="1045159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285232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Interesul economic este motorul care transformă nevoia într-o decizie de a produce, a schimba sau a consuma.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Resursele economice susțin producția de noi bunuri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6675120" cy="3611880"/>
          </a:xfrm>
          <a:prstGeom prst="roundRect">
            <a:avLst>
              <a:gd name="adj" fmla="val 2025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6916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Definiție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1945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Resursele economice constau din totalitatea elementelor, condițiilor și premiselor — directe și indirecte, reale și monetare — care sunt utilizabile și pot fi atrase în producția de noi bunuri, în scopul satisfacerii nevoilor umane.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3611880"/>
            <a:ext cx="6035040" cy="0"/>
          </a:xfrm>
          <a:prstGeom prst="line">
            <a:avLst/>
          </a:prstGeom>
          <a:noFill/>
          <a:ln w="15875">
            <a:solidFill>
              <a:srgbClr val="C8A4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37947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Esențial: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resursele economice reprezintă potențialul material și spiritual ce stă la baza reluării și dezvoltării producției de bunuri materiale și servicii.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882128" y="1417320"/>
            <a:ext cx="3438144" cy="1115568"/>
          </a:xfrm>
          <a:prstGeom prst="roundRect">
            <a:avLst>
              <a:gd name="adj" fmla="val 6557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10728" y="1545336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110728" y="189280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elemente materiale atrase efectiv în producție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82128" y="2660904"/>
            <a:ext cx="3438144" cy="1115568"/>
          </a:xfrm>
          <a:prstGeom prst="roundRect">
            <a:avLst>
              <a:gd name="adj" fmla="val 6557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10728" y="278892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110728" y="313639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mijloacele financiare care mobilizează resursele reale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82128" y="3904488"/>
            <a:ext cx="3438144" cy="1115568"/>
          </a:xfrm>
          <a:prstGeom prst="roundRect">
            <a:avLst>
              <a:gd name="adj" fmla="val 6557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10728" y="4032504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 și indirecte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110728" y="437997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nemijlocite sau condiții de context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882128" y="5230368"/>
            <a:ext cx="3438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Resursele determină limita superioară a producției posibile.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Clasificarea resurselor economice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5193792" cy="3246120"/>
          </a:xfrm>
          <a:prstGeom prst="roundRect">
            <a:avLst>
              <a:gd name="adj" fmla="val 2254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62763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Resurse materiale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606040" y="2148840"/>
            <a:ext cx="1719072" cy="0"/>
          </a:xfrm>
          <a:prstGeom prst="line">
            <a:avLst/>
          </a:prstGeom>
          <a:noFill/>
          <a:ln w="15875">
            <a:solidFill>
              <a:srgbClr val="C8A4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331720"/>
            <a:ext cx="4645152" cy="960120"/>
          </a:xfrm>
          <a:prstGeom prst="roundRect">
            <a:avLst>
              <a:gd name="adj" fmla="val 761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44144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 naturale primare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78892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fondul funciar, apa, fauna, flora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43000" y="3429000"/>
            <a:ext cx="4645152" cy="960120"/>
          </a:xfrm>
          <a:prstGeom prst="roundRect">
            <a:avLst>
              <a:gd name="adj" fmla="val 761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353872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 economice derivate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8620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mașini, instalații, tehnologii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193792" cy="3246120"/>
          </a:xfrm>
          <a:prstGeom prst="roundRect">
            <a:avLst>
              <a:gd name="adj" fmla="val 2254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62763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Resurse umane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63840" y="2148840"/>
            <a:ext cx="1719072" cy="0"/>
          </a:xfrm>
          <a:prstGeom prst="line">
            <a:avLst/>
          </a:prstGeom>
          <a:noFill/>
          <a:ln w="15875">
            <a:solidFill>
              <a:srgbClr val="C8A4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31720"/>
            <a:ext cx="4645152" cy="960120"/>
          </a:xfrm>
          <a:prstGeom prst="roundRect">
            <a:avLst>
              <a:gd name="adj" fmla="val 761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244144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 umane primare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78892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populația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429000"/>
            <a:ext cx="4645152" cy="960120"/>
          </a:xfrm>
          <a:prstGeom prst="roundRect">
            <a:avLst>
              <a:gd name="adj" fmla="val 7619"/>
            </a:avLst>
          </a:prstGeom>
          <a:solidFill>
            <a:srgbClr val="1C3556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9400" y="353872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Resurse umane derivate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886200"/>
            <a:ext cx="4187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cunoștințe, inovații, competențe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956048"/>
            <a:ext cx="10451592" cy="822960"/>
          </a:xfrm>
          <a:prstGeom prst="roundRect">
            <a:avLst>
              <a:gd name="adj" fmla="val 11111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956048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Creșterea și diversificarea cerințelor umane fac ca resursele să rămână relativ limitate: raritatea relativă este o caracteristică generală a economiei.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Bunul economic — rezultatul utilizării resurselor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371600"/>
            <a:ext cx="10085832" cy="1143000"/>
          </a:xfrm>
          <a:prstGeom prst="roundRect">
            <a:avLst>
              <a:gd name="adj" fmla="val 6400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371600"/>
            <a:ext cx="94457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Bunul economic </a:t>
            </a:r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un rezultat al utilizării resurselor economice, un element care satisface o anumită nevoie individuală sau socială.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0304" y="28346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56436" y="3063240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56436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37464" y="3584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libere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1472" y="4005072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Există în natură în cantități relativ nelimitate: aerul, lumina solară.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5800" y="28346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1932" y="3063240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1932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62960" y="3584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economice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26968" y="4005072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un caracter limitat și presupun un efort pentru a fi obținute.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51296" y="28346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07428" y="3063240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07428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388456" y="3584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materiale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52464" y="4005072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Bunuri directe de consum personal și bunuri indirecte de producție.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76792" y="283464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32924" y="3063240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132924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13952" y="3584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necorporale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277960" y="4005072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Serviciile, care satisfac nevoi fără a avea formă materială.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1560" y="5285232"/>
            <a:ext cx="1008583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80160" y="5285232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Numai bunurile rare, obținute prin consum de resurse, fac obiectul analizei economice.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După gradul de prelucrare: de la materia primă la bunul final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78308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67128" y="2029968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6712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70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inițiale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54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primă, aflată la începutul lanțului de prelucrare.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59936" y="2816352"/>
            <a:ext cx="594360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36592" y="178308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2029968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2670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intermediare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965192" y="3154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Bunuri aflate în diferite faze de prelucrare, între materia primă și produsul final.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27848" y="2816352"/>
            <a:ext cx="594360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04504" y="178308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02952" y="2029968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02952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741664" y="26700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Bunuri finale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8833104" y="3154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Bunuri destinate consumului final: personal, colectiv sau productiv.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43484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valoare adăugată crescândă la fiecare etapă de prelucrare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5303520"/>
            <a:ext cx="1045159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53035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Același bun poate fi final pentru un agent economic și intermediar pentru altul — decisivă este destinația lui.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Marfa — produsul muncii destinat schimbului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325880"/>
            <a:ext cx="10085832" cy="1005840"/>
          </a:xfrm>
          <a:prstGeom prst="roundRect">
            <a:avLst>
              <a:gd name="adj" fmla="val 7273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325880"/>
            <a:ext cx="9445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Marfa </a:t>
            </a:r>
            <a:pPr algn="ctr" indent="0" marL="0"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reprezintă un produs al muncii destinat pentru schimb prin intermediul mecanismului de cumpărare-vânzare.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48716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Mărfurile pot fi divizate în mai multe grupe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0304" y="2971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6608" y="2971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corporale de consum personal (servicii)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5800" y="2971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2104" y="2971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formă de capital fix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2971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97600" y="2971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formă de resurse naturale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76792" y="2971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23096" y="2971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formă de resurse de muncă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13052" y="4114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59356" y="4114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rezultate ale cercetărilor științifice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38548" y="4114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4852" y="4114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servicii manageriale și de marketing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64044" y="411480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0348" y="4114800"/>
            <a:ext cx="22219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mărfuri </a:t>
            </a:r>
            <a:pPr algn="ctr" indent="0" marL="0"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hârtii de valoare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5349240"/>
            <a:ext cx="1008583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80160" y="5349240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bun devine marfă numai atunci când este produs pentru schimb, nu pentru consumul propriu.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Utilitatea mărfii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68680" y="1417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41732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Utilitatea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reflectă capacitatea mărfii de a satisface o anumită nevoie a omului sau a societății.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35204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3675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Utilitatea și avuția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096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Utilitățile mărfurilor formează conținutul material al avuției.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146304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Formele utilității mărfii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2011680"/>
            <a:ext cx="4782312" cy="91440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48272" y="2267712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48272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103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Utilitate unitară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4140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Capacitatea unei singure unități din bun de a satisface nevoia.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044952"/>
            <a:ext cx="4782312" cy="91440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48272" y="3300984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48272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1363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Utilitate totală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447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Satisfacția obținută din întreaga cantitate consumată.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078224"/>
            <a:ext cx="4782312" cy="91440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48272" y="4334256"/>
            <a:ext cx="402336" cy="40233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48272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1696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Utilitate marginală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Utilitatea ultimei cantități dintr-un bun economic, care satisface nevoia consumatorului.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5230368"/>
            <a:ext cx="1045159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230368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Utilitatea marginală descrește pe măsură ce cresc cantitățile consumate din același bun.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Valoarea de schimb și teoriile valorii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51560" y="1353312"/>
            <a:ext cx="10085832" cy="1005840"/>
          </a:xfrm>
          <a:prstGeom prst="roundRect">
            <a:avLst>
              <a:gd name="adj" fmla="val 7273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353312"/>
            <a:ext cx="9445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Valoarea de schimb </a:t>
            </a:r>
            <a:pPr algn="ctr" indent="0" marL="0"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reflectă egalitatea mărfurilor ca produse ale realizării factorilor de producție.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3728" y="26517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5912" y="2880360"/>
            <a:ext cx="438912" cy="438912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5912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28320" y="342900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 obiectivă a valorii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19760" y="411480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baza valorii se află munca umană cheltuită pentru producerea bunului.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04208" y="26517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6392" y="2880360"/>
            <a:ext cx="438912" cy="438912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76392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68800" y="342900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 subiectivă valoare-utilitate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660240" y="411480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baza valorii stă utilitatea marginală a bunului economic pentru consumator.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44688" y="265176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16872" y="2880360"/>
            <a:ext cx="438912" cy="438912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16872" y="2880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09280" y="342900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Teoria valorii entropice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500720" y="411480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baza valorii stau mai mulți factori: munca, natura, capitalul, informatica.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1560" y="5285232"/>
            <a:ext cx="10085832" cy="731520"/>
          </a:xfrm>
          <a:prstGeom prst="roundRect">
            <a:avLst>
              <a:gd name="adj" fmla="val 12500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80160" y="5285232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trei teorii explică diferit aceeași realitate: de ce mărfurile se schimbă într-un anumit raport.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Activitatea economică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234440" y="1417320"/>
            <a:ext cx="9720072" cy="1965960"/>
          </a:xfrm>
          <a:prstGeom prst="roundRect">
            <a:avLst>
              <a:gd name="adj" fmla="val 3721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45920" y="1417320"/>
            <a:ext cx="889711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Activitatea economică </a:t>
            </a:r>
            <a:pPr algn="ctr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reprezintă un proces complex de atragere și utilizare a resurselor economice limitate, în scopul satisfacerii cerințelor umane și a intereselor economice.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361188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 momente-cheie ale analizei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29488" y="41148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4080" y="42611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Fazele activității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58088" y="4663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celor patru faze ale activității economice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41368" y="41148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5960" y="42611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Alegerea rațională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69968" y="4663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oportunității și a costului alternativ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3248" y="411480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17840" y="4261104"/>
            <a:ext cx="2779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Curba posibilităților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81848" y="4663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combinărilor posibile de producere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 patru faze ale activității economice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26568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50696" y="1719072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50696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54584" y="23591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Producția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6024" y="30175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Combinarea și utilizarea factorilor de producție în scopul obținerii de noi bunuri economice.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32608" y="2834640"/>
            <a:ext cx="274320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2648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6776" y="1719072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76776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480664" y="23591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Circulația (schimbul)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72104" y="30175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Deplasarea în spațiu a bunurilor materiale și trecerea lor de la o persoană la alta pe calea vânzării-cumpărării.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8688" y="2834640"/>
            <a:ext cx="274320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02856" y="1719072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02856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3591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Repartiția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8184" y="30175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Activitățile prin care bunurile sunt orientate spre destinațiile lor și prin care veniturile se distribuie și se redistribuie.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84768" y="2834640"/>
            <a:ext cx="274320" cy="274320"/>
          </a:xfrm>
          <a:prstGeom prst="rightArrow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4808" y="1463040"/>
            <a:ext cx="2560320" cy="3063240"/>
          </a:xfrm>
          <a:prstGeom prst="roundRect">
            <a:avLst>
              <a:gd name="adj" fmla="val 285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28936" y="1719072"/>
            <a:ext cx="512064" cy="51206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28936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332824" y="235915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Consumul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424264" y="3017520"/>
            <a:ext cx="21214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care reflectă gradul de folosire efectivă a bunurilor și verifică utilitatea lor și concordanța cu nevoile umane.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706728" y="4892040"/>
            <a:ext cx="8778240" cy="0"/>
          </a:xfrm>
          <a:prstGeom prst="line">
            <a:avLst/>
          </a:prstGeom>
          <a:noFill/>
          <a:ln w="15875">
            <a:solidFill>
              <a:srgbClr val="7C97BC"/>
            </a:solidFill>
            <a:prstDash val="dash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868680" y="5120640"/>
            <a:ext cx="10451592" cy="777240"/>
          </a:xfrm>
          <a:prstGeom prst="roundRect">
            <a:avLst>
              <a:gd name="adj" fmla="val 11765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97280" y="512064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Consumul verifică utilitatea bunurilor produse și generează noi nevoi, reluând întregul circuit economic.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10896"/>
            <a:ext cx="11000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Curba posibilităților de producere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49808" y="1298448"/>
            <a:ext cx="5266944" cy="3776472"/>
          </a:xfrm>
          <a:prstGeom prst="roundRect">
            <a:avLst>
              <a:gd name="adj" fmla="val 193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pic>
        <p:nvPicPr>
          <p:cNvPr id="4" name="Image 0" descr="img/pp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5120640" cy="3630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5120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Combinările posibile de producere a două bunuri, la resurse date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63640" y="13716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1C3556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481328"/>
            <a:ext cx="4617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cercetarea posibilităților alternative de a produce se folosește instrumentul „curba posibilităților”, care reflectă toate combinările posibile de producere a mai multor bunuri, la nivel de firmă sau al economiei naționale, într-o perioadă dată, prin folosirea integrală și eficientă a resurselor.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3154680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31546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A, B, C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31546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Puncte de pe curbă: resursele sunt folosite integral și eficient.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3931920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39319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39319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 interior: resursele sunt folosite incomplet sau ineficient.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4709160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16304F"/>
          </a:solidFill>
          <a:ln w="12700">
            <a:solidFill>
              <a:srgbClr val="2E4E7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47091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4709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 exterior: inaccesibil la nivelul actual al resurselor.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5532120"/>
            <a:ext cx="10515600" cy="685800"/>
          </a:xfrm>
          <a:prstGeom prst="roundRect">
            <a:avLst>
              <a:gd name="adj" fmla="val 13333"/>
            </a:avLst>
          </a:prstGeom>
          <a:solidFill>
            <a:srgbClr val="1C3556"/>
          </a:solidFill>
          <a:ln w="15875">
            <a:solidFill>
              <a:srgbClr val="C8A45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55321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Trecerea de la un punct la altul pe curbă înseamnă renunțarea la o cantitate dintr-un bun: acesta este costul de oportunitate.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685800"/>
            <a:ext cx="10177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Activitatea economică este răspunsul la tensiunea dintre nevoi nelimitate și resurse limitate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870448" y="3127248"/>
            <a:ext cx="457200" cy="457200"/>
          </a:xfrm>
          <a:prstGeom prst="diamond">
            <a:avLst/>
          </a:prstGeom>
          <a:solidFill>
            <a:srgbClr val="C8A45D"/>
          </a:solidFill>
          <a:ln w="12700">
            <a:solidFill>
              <a:srgbClr val="E3CB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3355848"/>
            <a:ext cx="4343400" cy="0"/>
          </a:xfrm>
          <a:prstGeom prst="line">
            <a:avLst/>
          </a:prstGeom>
          <a:noFill/>
          <a:ln w="12700">
            <a:solidFill>
              <a:srgbClr val="6D5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73952" y="3355848"/>
            <a:ext cx="4343400" cy="0"/>
          </a:xfrm>
          <a:prstGeom prst="line">
            <a:avLst/>
          </a:prstGeom>
          <a:noFill/>
          <a:ln w="12700">
            <a:solidFill>
              <a:srgbClr val="6D5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3282696"/>
            <a:ext cx="146304" cy="146304"/>
          </a:xfrm>
          <a:prstGeom prst="ellipse">
            <a:avLst/>
          </a:prstGeom>
          <a:solidFill>
            <a:srgbClr val="8A7444"/>
          </a:solidFill>
          <a:ln w="12700">
            <a:solidFill>
              <a:srgbClr val="8A7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3282696"/>
            <a:ext cx="146304" cy="146304"/>
          </a:xfrm>
          <a:prstGeom prst="ellipse">
            <a:avLst/>
          </a:prstGeom>
          <a:solidFill>
            <a:srgbClr val="8A7444"/>
          </a:solidFill>
          <a:ln w="12700">
            <a:solidFill>
              <a:srgbClr val="8A74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920240"/>
            <a:ext cx="7982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Nevoile umane sunt nelimitate ca număr și reproductibile, în timp ce resursele economice rămân relativ limitate. Din această contradicție se naște necesitatea alegerii raționale.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840480"/>
            <a:ext cx="7982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Transformarea resurselor în bunuri și mărfuri, evaluate prin utilitate și valoare de schimb, se realizează în cele patru faze — producție, circulație, repartiție și consum — care formează circuitul neîntrerupt al vieții economice.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5715000"/>
            <a:ext cx="7982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nevoie la consum, prin alegere rațională.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2026-09-07T12:11:55Z</dcterms:created>
  <dcterms:modified xsi:type="dcterms:W3CDTF">2026-09-07T12:11:55Z</dcterms:modified>
</cp:coreProperties>
</file>